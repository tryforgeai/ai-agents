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94d5015ba04395" /><Relationship Type="http://schemas.openxmlformats.org/officeDocument/2006/relationships/extended-properties" Target="/docProps/app.xml" Id="R412ca859cf074b36" /><Relationship Type="http://schemas.openxmlformats.org/officeDocument/2006/relationships/officeDocument" Target="/ppt/presentation.xml" Id="R3518cd3de00c44f3" /></Relationships>
</file>

<file path=ppt/presentation.xml><?xml version="1.0" encoding="utf-8"?>
<p:presentation xmlns:p="http://schemas.openxmlformats.org/presentationml/2006/main">
  <p:sldMasterIdLst>
    <p:sldMasterId xmlns:r="http://schemas.openxmlformats.org/officeDocument/2006/relationships" id="2147483648" r:id="R031b9b59e5314874"/>
  </p:sldMasterIdLst>
  <p:notesMasterIdLst>
    <p:notesMasterId xmlns:r="http://schemas.openxmlformats.org/officeDocument/2006/relationships" r:id="R73bc6b6417b0449b"/>
  </p:notesMasterIdLst>
  <p:sldIdLst>
    <p:sldId xmlns:r="http://schemas.openxmlformats.org/officeDocument/2006/relationships" id="256" r:id="R52db549c731740b8"/>
    <p:sldId xmlns:r="http://schemas.openxmlformats.org/officeDocument/2006/relationships" id="257" r:id="R3110e6c0b83e4014"/>
    <p:sldId xmlns:r="http://schemas.openxmlformats.org/officeDocument/2006/relationships" id="258" r:id="Rc97d773236f24553"/>
    <p:sldId xmlns:r="http://schemas.openxmlformats.org/officeDocument/2006/relationships" id="259" r:id="R25b3cda5f4d84e0a"/>
    <p:sldId xmlns:r="http://schemas.openxmlformats.org/officeDocument/2006/relationships" id="260" r:id="R7323a6a7376642d5"/>
    <p:sldId xmlns:r="http://schemas.openxmlformats.org/officeDocument/2006/relationships" id="261" r:id="Rda1e4eacb09c4410"/>
    <p:sldId xmlns:r="http://schemas.openxmlformats.org/officeDocument/2006/relationships" id="262" r:id="R5d549f71641a4626"/>
    <p:sldId xmlns:r="http://schemas.openxmlformats.org/officeDocument/2006/relationships" id="263" r:id="Rfd781e581f1c49e9"/>
    <p:sldId xmlns:r="http://schemas.openxmlformats.org/officeDocument/2006/relationships" id="264" r:id="R84c83c83412540a9"/>
    <p:sldId xmlns:r="http://schemas.openxmlformats.org/officeDocument/2006/relationships" id="265" r:id="R7537b5b87163443d"/>
    <p:sldId xmlns:r="http://schemas.openxmlformats.org/officeDocument/2006/relationships" id="266" r:id="Rfb04ac9e44c8440b"/>
    <p:sldId xmlns:r="http://schemas.openxmlformats.org/officeDocument/2006/relationships" id="267" r:id="R6682aea47f9e4563"/>
    <p:sldId xmlns:r="http://schemas.openxmlformats.org/officeDocument/2006/relationships" id="268" r:id="R0f000f1ac1a143b7"/>
    <p:sldId xmlns:r="http://schemas.openxmlformats.org/officeDocument/2006/relationships" id="269" r:id="Reb7957f60c96440b"/>
    <p:sldId xmlns:r="http://schemas.openxmlformats.org/officeDocument/2006/relationships" id="270" r:id="R480705b8d2fa4b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7b8253bd694fbe" /><Relationship Type="http://schemas.openxmlformats.org/officeDocument/2006/relationships/slideMaster" Target="/ppt/slideMasters/slideMaster1.xml" Id="R031b9b59e5314874" /><Relationship Type="http://schemas.openxmlformats.org/officeDocument/2006/relationships/notesMaster" Target="/ppt/notesMasters/notesMaster1.xml" Id="R73bc6b6417b0449b" /><Relationship Type="http://schemas.openxmlformats.org/officeDocument/2006/relationships/presProps" Target="/ppt/presProps.xml" Id="R4fdebe91c7a7499d" /><Relationship Type="http://schemas.openxmlformats.org/officeDocument/2006/relationships/tableStyles" Target="/ppt/tableStyles.xml" Id="R868136e1d101499b" /><Relationship Type="http://schemas.openxmlformats.org/officeDocument/2006/relationships/slide" Target="/ppt/slides/slide1.xml" Id="R52db549c731740b8" /><Relationship Type="http://schemas.openxmlformats.org/officeDocument/2006/relationships/slide" Target="/ppt/slides/slide2.xml" Id="R3110e6c0b83e4014" /><Relationship Type="http://schemas.openxmlformats.org/officeDocument/2006/relationships/slide" Target="/ppt/slides/slide3.xml" Id="Rc97d773236f24553" /><Relationship Type="http://schemas.openxmlformats.org/officeDocument/2006/relationships/slide" Target="/ppt/slides/slide4.xml" Id="R25b3cda5f4d84e0a" /><Relationship Type="http://schemas.openxmlformats.org/officeDocument/2006/relationships/slide" Target="/ppt/slides/slide5.xml" Id="R7323a6a7376642d5" /><Relationship Type="http://schemas.openxmlformats.org/officeDocument/2006/relationships/slide" Target="/ppt/slides/slide6.xml" Id="Rda1e4eacb09c4410" /><Relationship Type="http://schemas.openxmlformats.org/officeDocument/2006/relationships/slide" Target="/ppt/slides/slide7.xml" Id="R5d549f71641a4626" /><Relationship Type="http://schemas.openxmlformats.org/officeDocument/2006/relationships/slide" Target="/ppt/slides/slide8.xml" Id="Rfd781e581f1c49e9" /><Relationship Type="http://schemas.openxmlformats.org/officeDocument/2006/relationships/slide" Target="/ppt/slides/slide9.xml" Id="R84c83c83412540a9" /><Relationship Type="http://schemas.openxmlformats.org/officeDocument/2006/relationships/slide" Target="/ppt/slides/slide10.xml" Id="R7537b5b87163443d" /><Relationship Type="http://schemas.openxmlformats.org/officeDocument/2006/relationships/slide" Target="/ppt/slides/slide11.xml" Id="Rfb04ac9e44c8440b" /><Relationship Type="http://schemas.openxmlformats.org/officeDocument/2006/relationships/slide" Target="/ppt/slides/slide12.xml" Id="R6682aea47f9e4563" /><Relationship Type="http://schemas.openxmlformats.org/officeDocument/2006/relationships/slide" Target="/ppt/slides/slide13.xml" Id="R0f000f1ac1a143b7" /><Relationship Type="http://schemas.openxmlformats.org/officeDocument/2006/relationships/slide" Target="/ppt/slides/slide14.xml" Id="Reb7957f60c96440b" /><Relationship Type="http://schemas.openxmlformats.org/officeDocument/2006/relationships/slide" Target="/ppt/slides/slide15.xml" Id="R480705b8d2fa4b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c285a40cd043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9c19f2e9a0403e" /><Relationship Type="http://schemas.openxmlformats.org/officeDocument/2006/relationships/notesMaster" Target="/ppt/notesMasters/notesMaster1.xml" Id="Ra2fc5c95ae2441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f22a784c2844bb" /><Relationship Type="http://schemas.openxmlformats.org/officeDocument/2006/relationships/notesMaster" Target="/ppt/notesMasters/notesMaster1.xml" Id="Rd12cbdb3b53643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3efc99ec404ec8" /><Relationship Type="http://schemas.openxmlformats.org/officeDocument/2006/relationships/notesMaster" Target="/ppt/notesMasters/notesMaster1.xml" Id="R7033d3424cdb4d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4a253c90934b80" /><Relationship Type="http://schemas.openxmlformats.org/officeDocument/2006/relationships/notesMaster" Target="/ppt/notesMasters/notesMaster1.xml" Id="Ra28d911a24ca43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8310b3c1b84ebb" /><Relationship Type="http://schemas.openxmlformats.org/officeDocument/2006/relationships/notesMaster" Target="/ppt/notesMasters/notesMaster1.xml" Id="R76edfd6f5a524d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c4d364b8404f56" /><Relationship Type="http://schemas.openxmlformats.org/officeDocument/2006/relationships/notesMaster" Target="/ppt/notesMasters/notesMaster1.xml" Id="R08ddf2a704dc4a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4d8963d7124f2b" /><Relationship Type="http://schemas.openxmlformats.org/officeDocument/2006/relationships/notesMaster" Target="/ppt/notesMasters/notesMaster1.xml" Id="R78f64fe1ffd54f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685cc369144ed5" /><Relationship Type="http://schemas.openxmlformats.org/officeDocument/2006/relationships/notesMaster" Target="/ppt/notesMasters/notesMaster1.xml" Id="R795139c3795346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02cc75a05440a2" /><Relationship Type="http://schemas.openxmlformats.org/officeDocument/2006/relationships/notesMaster" Target="/ppt/notesMasters/notesMaster1.xml" Id="R6d8fc63a38fb43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882535a3024791" /><Relationship Type="http://schemas.openxmlformats.org/officeDocument/2006/relationships/notesMaster" Target="/ppt/notesMasters/notesMaster1.xml" Id="R5af648e00b1343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a33bcb0b944abc" /><Relationship Type="http://schemas.openxmlformats.org/officeDocument/2006/relationships/notesMaster" Target="/ppt/notesMasters/notesMaster1.xml" Id="R778adceb011148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daacf302ff431d" /><Relationship Type="http://schemas.openxmlformats.org/officeDocument/2006/relationships/notesMaster" Target="/ppt/notesMasters/notesMaster1.xml" Id="R64cfb91d25f446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fb76ede9c34466" /><Relationship Type="http://schemas.openxmlformats.org/officeDocument/2006/relationships/notesMaster" Target="/ppt/notesMasters/notesMaster1.xml" Id="Rf1bd5348290d416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518b4b7d2f46d0" /><Relationship Type="http://schemas.openxmlformats.org/officeDocument/2006/relationships/notesMaster" Target="/ppt/notesMasters/notesMaster1.xml" Id="R5a68f222d2514e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6bf2721dc74e23" /><Relationship Type="http://schemas.openxmlformats.org/officeDocument/2006/relationships/notesMaster" Target="/ppt/notesMasters/notesMaster1.xml" Id="R367180b5c58548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introduction to the tau2-bench repository and a concrete retail task. Technical details use commit 122e2432b82d740e8f313f46f0a071729c404f39. The walkthrough reconstructs source-code behavior, not a recorded model run. The repository has evolved beyond the original tau2 release. This deck focuses on the text-based interaction loop.</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tau2-bench evaluates conversational customer-service agents in simulated domains with policies, tools, databases and user scenarios. The repository supports text half-duplex and voice full-duplex modes, as well as additional domains such as banking_knowledge and intake. This presentation uses the retail text loop to make the design concrete. A task reward measures the configured criteria rather than every possible property of real-world service quality.</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https://github.com/sierra-research/tau2-bench/blob/122e2432b82d740e8f313f46f0a071729c404f39/README.md</a:t>
            </a:r>
          </a:p>
          <a:p xmlns:a="http://schemas.openxmlformats.org/drawingml/2006/main">
            <a:r>
              <a:t>https://github.com/sierra-research/tau2-bench/blob/122e2432b82d740e8f313f46f0a071729c404f39/src/tau2/domains/retail/environment.py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receives policy, tool definitions and conversation/tool messages. The user simulator receives the user scenario. The orchestrator routes messages and tool requests. Standard adapters should not execute a write internally and then submit the same write to the orchestrator. In-process callable tools are not a security sandbox.</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https://github.com/sierra-research/tau2-bench/blob/122e2432b82d740e8f313f46f0a071729c404f39/src/tau2/agent/base_agent.py</a:t>
            </a:r>
          </a:p>
          <a:p xmlns:a="http://schemas.openxmlformats.org/drawingml/2006/main">
            <a:r>
              <a:t>https://github.com/sierra-research/tau2-bench/blob/122e2432b82d740e8f313f46f0a071729c404f39/src/tau2/orchestrator/orchestrator.py</a:t>
            </a:r>
          </a:p>
          <a:p xmlns:a="http://schemas.openxmlformats.org/drawingml/2006/main">
            <a:r>
              <a:t>https://github.com/sierra-research/tau2-bench/blob/122e2432b82d740e8f313f46f0a071729c404f39/src/tau2/environment/tool.py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Yusuf Rossi, ZIP 19122, wants a keyboard and thermostat exchange. The task asks the simulated customer to address everything in one go. The order is delivered. The customer requests Google Home compatibility, while the product data labels the target variant Google Assistant. This distinction is preserved in later slides.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https://github.com/sierra-research/tau2-bench/blob/122e2432b82d740e8f313f46f0a071729c404f39/data/tau2/domains/retail/db.json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actions are not a mandatory script. They identify the user, read the order, read two products and request one combined exchange. Normal LLMAgent behavior does not use the reference solution as its prompt. Ground-truth/debug agents are a separate condition and must not be presented as an ordinary baseline. Task 0 has null natural-language assertions.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https://github.com/sierra-research/tau2-bench/blob/122e2432b82d740e8f313f46f0a071729c404f39/src/tau2/data_model/tasks.py</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https://github.com/sierra-research/tau2-bench/blob/122e2432b82d740e8f313f46f0a071729c404f39/src/tau2/agent/llm_agent.py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LLMAgent.generate_next_message appends the incoming message and calls generate with model, tools and message history. Orchestrator.step routes ordinary replies to the user and tool calls to the environment. _execute_tool_calls calls environment.get_response. The trajectory retains requests and results. This cycle repeats until the conversation stops or a limit/error ends the run.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https://github.com/sierra-research/tau2-bench/blob/122e2432b82d740e8f313f46f0a071729c404f39/src/tau2/agent/llm_agent.py#L115</a:t>
            </a:r>
          </a:p>
          <a:p xmlns:a="http://schemas.openxmlformats.org/drawingml/2006/main">
            <a:r>
              <a:t>https://github.com/sierra-research/tau2-bench/blob/122e2432b82d740e8f313f46f0a071729c404f39/src/tau2/orchestrator/orchestrator.py#L327</a:t>
            </a:r>
          </a:p>
          <a:p xmlns:a="http://schemas.openxmlformats.org/drawingml/2006/main">
            <a:r>
              <a:t>https://github.com/sierra-research/tau2-bench/blob/122e2432b82d740e8f313f46f0a071729c404f39/src/tau2/environment/environment.py#L473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Keyboard old item 1151293680 maps to new item 7706410293. Thermostat old item 4983901480 maps to new item 7747408585. The clicky RGB full-size keyboard has available=false. The accepted fallback is clicky, no backlight, full-size. Arithmetic: 269.16 - 272.33 + 249.01 - 262.47 = -16.63. The negative difference records the exchange price difference, not completed bank settlement.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https://github.com/sierra-research/tau2-bench/blob/122e2432b82d740e8f313f46f0a071729c404f39/data/tau2/domains/retail/db.json</a:t>
            </a:r>
          </a:p>
          <a:p xmlns:a="http://schemas.openxmlformats.org/drawingml/2006/main">
            <a:r>
              <a:t>https://github.com/sierra-research/tau2-bench/blob/122e2432b82d740e8f313f46f0a071729c404f39/data/tau2/domains/retail/policy.md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an abbreviated tool-call payload. Actual identifiers are strings, including item IDs. The function requires delivered status, checks item multiplicities and matching list lengths, resolves each new variant within the old product, checks availability and validates payment. A gift-card payment must cover a positive price difference. The function does not receive a user-confirmation token.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https://github.com/sierra-research/tau2-bench/blob/122e2432b82d740e8f313f46f0a071729c404f39/src/tau2/domains/retail/tools.py#L240</a:t>
            </a:r>
          </a:p>
          <a:p xmlns:a="http://schemas.openxmlformats.org/drawingml/2006/main">
            <a:r>
              <a:t>https://github.com/sierra-research/tau2-bench/blob/122e2432b82d740e8f313f46f0a071729c404f39/data/tau2/domains/retail/tasks.json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tool mutates the in-memory Order model in the retail environment. It records sorted item lists, payment method and the price difference. It does not replace order.items, ship products or settle a bank refund in this function. Since status becomes exchange requested, splitting the two exchanges into separate calls would cause the later call to fail the delivered-status requirement.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https://github.com/sierra-research/tau2-bench/blob/122e2432b82d740e8f313f46f0a071729c404f39/src/tau2/domains/retail/tools.py#L270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EnvironmentEvaluator applies initialization data and actions, reconstructs predicted state from the full trajectory, and constructs gold state from initial history plus reference actions. It compares both agent and user DB hashes. set_state skips non-mutating calls and rejected calls and checks replay output in strict mode. Task 0 basis is DB + NL_ASSERTION, but nl_assertions is null, yielding neutral 1. Premature termination produces 0 before component evaluation. This is task-specific, not a claim that all tau2 tasks use DB-only grading.</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https://github.com/sierra-research/tau2-bench/blob/122e2432b82d740e8f313f46f0a071729c404f39/src/tau2/evaluator/evaluator_env.py</a:t>
            </a:r>
          </a:p>
          <a:p xmlns:a="http://schemas.openxmlformats.org/drawingml/2006/main">
            <a:r>
              <a:t>https://github.com/sierra-research/tau2-bench/blob/122e2432b82d740e8f313f46f0a071729c404f39/src/tau2/environment/environment.py#L293</a:t>
            </a:r>
          </a:p>
          <a:p xmlns:a="http://schemas.openxmlformats.org/drawingml/2006/main">
            <a:r>
              <a:t>https://github.com/sierra-research/tau2-bench/blob/122e2432b82d740e8f313f46f0a071729c404f39/src/tau2/evaluator/evaluator_nl_assertions.py</a:t>
            </a:r>
          </a:p>
          <a:p xmlns:a="http://schemas.openxmlformats.org/drawingml/2006/main">
            <a:r>
              <a:t>https://github.com/sierra-research/tau2-bench/blob/122e2432b82d740e8f313f46f0a071729c404f39/src/tau2/evaluator/evaluator.py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hypothetical source-based counterexample, not a measured result. Assume identical valid exchange calls and normal termination. The exchange tool lacks a confirmation credential argument, DB comparison cannot prove dialogue order, and base task 0 has no nonempty NL assertion. Other tasks can enable dialogue checks. The example shows why a benchmark result must be interpreted together with its active criteria.</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https://github.com/sierra-research/tau2-bench/blob/122e2432b82d740e8f313f46f0a071729c404f39/src/tau2/domains/retail/tools.py#L240</a:t>
            </a:r>
          </a:p>
          <a:p xmlns:a="http://schemas.openxmlformats.org/drawingml/2006/main">
            <a:r>
              <a:t>https://github.com/sierra-research/tau2-bench/blob/122e2432b82d740e8f313f46f0a071729c404f39/src/tau2/evaluator/evaluator_nl_assertions.py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normal text agent subclasses HalfDuplexAgent and implements get_init_state and generate_next_message. Inputs can include UserMessage, ToolMessage or MultiToolMessage. A registered factory supplies tools and domain policy. Registry changes must load in the runner process. Gym offers reset/step control, while the experimental agentify_tau_bench bridge exchanges A2A messages with a JSON action convention. These are integration options, not zero-adaptation support for every external agent. In-process tools do not provide a security sandbox.</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https://github.com/sierra-research/tau2-bench/blob/122e2432b82d740e8f313f46f0a071729c404f39/src/tau2/agent/base_agent.py</a:t>
            </a:r>
          </a:p>
          <a:p xmlns:a="http://schemas.openxmlformats.org/drawingml/2006/main">
            <a:r>
              <a:t>https://github.com/sierra-research/tau2-bench/blob/122e2432b82d740e8f313f46f0a071729c404f39/examples/agents/minimal_text_agent.py</a:t>
            </a:r>
          </a:p>
          <a:p xmlns:a="http://schemas.openxmlformats.org/drawingml/2006/main">
            <a:r>
              <a:t>https://github.com/sierra-research/tau2-bench/blob/122e2432b82d740e8f313f46f0a071729c404f39/src/tau2/registry.py</a:t>
            </a:r>
          </a:p>
          <a:p xmlns:a="http://schemas.openxmlformats.org/drawingml/2006/main">
            <a:r>
              <a:t>https://github.com/sierra-research/tau2-bench/blob/122e2432b82d740e8f313f46f0a071729c404f39/src/tau2/gym/gym_agent.py</a:t>
            </a:r>
          </a:p>
          <a:p xmlns:a="http://schemas.openxmlformats.org/drawingml/2006/main">
            <a:r>
              <a:t>https://github.com/sierra-research/tau2-bench/blob/122e2432b82d740e8f313f46f0a071729c404f39/src/experiments/agentify_tau_bench/src/agentify_tau_bench/green_agent/agent.py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calculated illustration, not a benchmark result. n is the number of trials, c the number of successes, and k the number sampled without replacement. The implementation raises when n &lt; k. pass^k measures repeated success while pass@k measures at least one success. A high score applies to the chosen task and simulator distribution and does not alone establish production readiness.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https://github.com/sierra-research/tau2-bench/blob/122e2432b82d740e8f313f46f0a071729c404f39/src/tau2/metrics/agent_metrics.py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framework provides extension points rather than a universal correctness definition. Retail models query, cancellation, modification and return/exchange requests. Its current order schema lacks delivery-date fields and its toolkit lacks a coupon or full checkout flow. Custom domains can add them. Standard Gym returns zero before completion and does not automatically supply dense per-step rewards. External side effects must be observable and replayable, or evaluated through another trustworthy state path.</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https://github.com/sierra-research/tau2-bench/blob/122e2432b82d740e8f313f46f0a071729c404f39/src/tau2/domains/retail/data_model.py</a:t>
            </a:r>
          </a:p>
          <a:p xmlns:a="http://schemas.openxmlformats.org/drawingml/2006/main">
            <a:r>
              <a:t>https://github.com/sierra-research/tau2-bench/blob/122e2432b82d740e8f313f46f0a071729c404f39/src/tau2/domains/retail/tools.py</a:t>
            </a:r>
          </a:p>
          <a:p xmlns:a="http://schemas.openxmlformats.org/drawingml/2006/main">
            <a:r>
              <a:t>https://github.com/sierra-research/tau2-bench/blob/122e2432b82d740e8f313f46f0a071729c404f39/src/tau2/gym/gym_agent.py</a:t>
            </a:r>
          </a:p>
          <a:p xmlns:a="http://schemas.openxmlformats.org/drawingml/2006/main">
            <a:r>
              <a:t>https://github.com/sierra-research/tau2-bench/blob/122e2432b82d740e8f313f46f0a071729c404f39/docs/evaluation.md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presentation is about tau2-bench only. Source-code paths cover the task schema, standard agent, orchestrator, retail tools, state replay and evaluators. The base retail collection has 114 tasks at the reviewed revision. Released text-v1 uses a frozen 50-task retail set with language-specific data binding, so this walkthrough must not be generalized to every released task. Pin code, data, agent configuration, user simulator and scoring configuration for comparable results.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https://github.com/sierra-research/tau2-bench/blob/122e2432b82d740e8f313f46f0a071729c404f39/README.md</a:t>
            </a:r>
          </a:p>
          <a:p xmlns:a="http://schemas.openxmlformats.org/drawingml/2006/main">
            <a:r>
              <a:t>https://github.com/sierra-research/tau2-bench/blob/122e2432b82d740e8f313f46f0a071729c404f39/docs/evaluation.md</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https://github.com/sierra-research/tau2-bench/blob/122e2432b82d740e8f313f46f0a071729c404f39/data/tau2/benchmarks/text.json</a:t>
            </a:r>
          </a:p>
          <a:p xmlns:a="http://schemas.openxmlformats.org/drawingml/2006/main">
            <a:r>
              <a:t>https://github.com/sierra-research/tau2-bench/blob/122e2432b82d740e8f313f46f0a071729c404f39/src/tau2/data_model/tasks.py</a:t>
            </a:r>
          </a:p>
          <a:p xmlns:a="http://schemas.openxmlformats.org/drawingml/2006/main">
            <a:r>
              <a:t>https://github.com/sierra-research/tau2-bench/blob/122e2432b82d740e8f313f46f0a071729c404f39/src/tau2/orchestrator/orchestrator.py</a:t>
            </a:r>
          </a:p>
          <a:p xmlns:a="http://schemas.openxmlformats.org/drawingml/2006/main">
            <a:r>
              <a:t>https://github.com/sierra-research/tau2-bench/blob/122e2432b82d740e8f313f46f0a071729c404f39/src/tau2/evaluator/evaluator_env.py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84979f98b341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80caa0ce9b41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6a89f894754e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f261ab0ec84a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c2921e0c8d74f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1d05063b2a47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83685C-AB2A-4238-A6D3-3569B5874C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18C955-3C81-4E22-9253-4B8EA3DE1F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2F1897-AD3C-4CF4-901F-7EBF629E41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757E89-48F8-42D2-86D6-88240CF74F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6BCCB9-8467-436E-A216-79677C6B037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C1A8CD-F5E7-4549-ABF4-64EE11406B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3884EC-0153-4AF0-A2D8-3CD1471D1F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10F616-7171-40C5-A6E0-CD47B465DA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E368E5-C81C-4B2E-9CB1-BF66C922B9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64F2CB-03A5-4A37-88A1-653EDCA0CB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a72d5d3ffe45d1" /><Relationship Type="http://schemas.openxmlformats.org/officeDocument/2006/relationships/slideLayout" Target="/ppt/slideLayouts/slideLayout1.xml" Id="R381ab84f823747d7" /><Relationship Type="http://schemas.openxmlformats.org/officeDocument/2006/relationships/slideLayout" Target="/ppt/slideLayouts/slideLayout2.xml" Id="Re725a675dd1f4102" /><Relationship Type="http://schemas.openxmlformats.org/officeDocument/2006/relationships/slideLayout" Target="/ppt/slideLayouts/slideLayout3.xml" Id="Rcdd263d20a5c40b3" /><Relationship Type="http://schemas.openxmlformats.org/officeDocument/2006/relationships/slideLayout" Target="/ppt/slideLayouts/slideLayout4.xml" Id="Ra757698a77284dfe" /><Relationship Type="http://schemas.openxmlformats.org/officeDocument/2006/relationships/slideLayout" Target="/ppt/slideLayouts/slideLayout5.xml" Id="R9d022bac171c4530" /><Relationship Type="http://schemas.openxmlformats.org/officeDocument/2006/relationships/slideLayout" Target="/ppt/slideLayouts/slideLayout6.xml" Id="R1dd28c00399042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1ab84f823747d7"/>
    <p:sldLayoutId xmlns:r="http://schemas.openxmlformats.org/officeDocument/2006/relationships" id="2147483650" r:id="Re725a675dd1f4102"/>
    <p:sldLayoutId xmlns:r="http://schemas.openxmlformats.org/officeDocument/2006/relationships" id="2147483651" r:id="Rcdd263d20a5c40b3"/>
    <p:sldLayoutId xmlns:r="http://schemas.openxmlformats.org/officeDocument/2006/relationships" id="2147483652" r:id="Ra757698a77284dfe"/>
    <p:sldLayoutId xmlns:r="http://schemas.openxmlformats.org/officeDocument/2006/relationships" id="2147483653" r:id="R9d022bac171c4530"/>
    <p:sldLayoutId xmlns:r="http://schemas.openxmlformats.org/officeDocument/2006/relationships" id="2147483654" r:id="R1dd28c00399042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e93a43825794827" /><Relationship Type="http://schemas.openxmlformats.org/officeDocument/2006/relationships/notesSlide" Target="/ppt/notesSlides/notesSlide1.xml" Id="Rcc901fcec1a84c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c4874bf8ff24ad9" /><Relationship Type="http://schemas.openxmlformats.org/officeDocument/2006/relationships/notesSlide" Target="/ppt/notesSlides/notesSlide2.xml" Id="R92d7d57ff2dd44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581bd00699748d4" /><Relationship Type="http://schemas.openxmlformats.org/officeDocument/2006/relationships/notesSlide" Target="/ppt/notesSlides/notesSlide3.xml" Id="R37824612168145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1285890fba4767" /><Relationship Type="http://schemas.openxmlformats.org/officeDocument/2006/relationships/notesSlide" Target="/ppt/notesSlides/notesSlide4.xml" Id="Rb3cc164411c04a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7fadec0d844523" /><Relationship Type="http://schemas.openxmlformats.org/officeDocument/2006/relationships/notesSlide" Target="/ppt/notesSlides/notesSlide5.xml" Id="R14fa77642e6a47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8c929f546a84451" /><Relationship Type="http://schemas.openxmlformats.org/officeDocument/2006/relationships/notesSlide" Target="/ppt/notesSlides/notesSlide6.xml" Id="R073e7ad296a745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fbb7567c9e54628" /><Relationship Type="http://schemas.openxmlformats.org/officeDocument/2006/relationships/notesSlide" Target="/ppt/notesSlides/notesSlide7.xml" Id="Rde33a243f6664b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18129d330cf45e3" /><Relationship Type="http://schemas.openxmlformats.org/officeDocument/2006/relationships/notesSlide" Target="/ppt/notesSlides/notesSlide8.xml" Id="R2b9bd44159af4a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3372ac55b284c86" /><Relationship Type="http://schemas.openxmlformats.org/officeDocument/2006/relationships/notesSlide" Target="/ppt/notesSlides/notesSlide9.xml" Id="R20443d9308e640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cab7dde44a448b3" /><Relationship Type="http://schemas.openxmlformats.org/officeDocument/2006/relationships/notesSlide" Target="/ppt/notesSlides/notesSlide10.xml" Id="R69db6c4682aa4e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adb03cb8aa4465a" /><Relationship Type="http://schemas.openxmlformats.org/officeDocument/2006/relationships/notesSlide" Target="/ppt/notesSlides/notesSlide11.xml" Id="Rd77582370f3c47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b9016d32b9426e" /><Relationship Type="http://schemas.openxmlformats.org/officeDocument/2006/relationships/notesSlide" Target="/ppt/notesSlides/notesSlide12.xml" Id="Rff2b8c3cde124e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0755ee37fe3458c" /><Relationship Type="http://schemas.openxmlformats.org/officeDocument/2006/relationships/notesSlide" Target="/ppt/notesSlides/notesSlide13.xml" Id="Re039fe99d02346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ae476ac3f4243a1" /><Relationship Type="http://schemas.openxmlformats.org/officeDocument/2006/relationships/notesSlide" Target="/ppt/notesSlides/notesSlide14.xml" Id="R262a2dea012d4d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ac49b8812c64d27" /><Relationship Type="http://schemas.openxmlformats.org/officeDocument/2006/relationships/hyperlink" Target="https://github.com/sierra-research/tau2-bench" TargetMode="External" Id="Rc923c85bc8cb4182" /><Relationship Type="http://schemas.openxmlformats.org/officeDocument/2006/relationships/notesSlide" Target="/ppt/notesSlides/notesSlide15.xml" Id="R26ed28a8fefd4d5e" /></Relationships>
</file>

<file path=ppt/slides/slide1.xml><?xml version="1.0" encoding="utf-8"?>
<p:sld xmlns:p="http://schemas.openxmlformats.org/presentationml/2006/main">
  <p:cSld>
    <p:bg>
      <p:bgPr>
        <a:solidFill xmlns:a="http://schemas.openxmlformats.org/drawingml/2006/main">
          <a:srgbClr val="102B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73A82B-F05F-4F31-A95A-AD8E60566A7D}"/>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9C9C5"/>
                </a:solidFill>
                <a:latin typeface="Helvetica Neue"/>
                <a:ea typeface="Helvetica Neue"/>
                <a:cs typeface="Helvetica Neue"/>
              </a:defRPr>
            </a:defPPr>
            <a:lvl1pPr>
              <a:buNone/>
              <a:defRPr sz="1200" b="0">
                <a:solidFill>
                  <a:srgbClr val="A9C9C5"/>
                </a:solidFill>
                <a:latin typeface="Helvetica Neue"/>
                <a:ea typeface="Helvetica Neue"/>
                <a:cs typeface="Helvetica Neue"/>
              </a:defRPr>
            </a:lvl1pPr>
            <a:lvl2pPr>
              <a:buNone/>
              <a:defRPr sz="1200" b="0">
                <a:solidFill>
                  <a:srgbClr val="A9C9C5"/>
                </a:solidFill>
                <a:latin typeface="Helvetica Neue"/>
                <a:ea typeface="Helvetica Neue"/>
                <a:cs typeface="Helvetica Neue"/>
              </a:defRPr>
            </a:lvl2pPr>
            <a:lvl3pPr>
              <a:buNone/>
              <a:defRPr sz="1200" b="0">
                <a:solidFill>
                  <a:srgbClr val="A9C9C5"/>
                </a:solidFill>
                <a:latin typeface="Helvetica Neue"/>
                <a:ea typeface="Helvetica Neue"/>
                <a:cs typeface="Helvetica Neue"/>
              </a:defRPr>
            </a:lvl3pPr>
            <a:lvl4pPr>
              <a:buNone/>
              <a:defRPr sz="1200" b="0">
                <a:solidFill>
                  <a:srgbClr val="A9C9C5"/>
                </a:solidFill>
                <a:latin typeface="Helvetica Neue"/>
                <a:ea typeface="Helvetica Neue"/>
                <a:cs typeface="Helvetica Neue"/>
              </a:defRPr>
            </a:lvl4pPr>
            <a:lvl5pPr>
              <a:buNone/>
              <a:defRPr sz="1200" b="0">
                <a:solidFill>
                  <a:srgbClr val="A9C9C5"/>
                </a:solidFill>
                <a:latin typeface="Helvetica Neue"/>
                <a:ea typeface="Helvetica Neue"/>
                <a:cs typeface="Helvetica Neue"/>
              </a:defRPr>
            </a:lvl5pPr>
            <a:lvl6pPr>
              <a:buNone/>
              <a:defRPr sz="1200" b="0">
                <a:solidFill>
                  <a:srgbClr val="A9C9C5"/>
                </a:solidFill>
                <a:latin typeface="Helvetica Neue"/>
                <a:ea typeface="Helvetica Neue"/>
                <a:cs typeface="Helvetica Neue"/>
              </a:defRPr>
            </a:lvl6pPr>
            <a:lvl7pPr>
              <a:buNone/>
              <a:defRPr sz="1200" b="0">
                <a:solidFill>
                  <a:srgbClr val="A9C9C5"/>
                </a:solidFill>
                <a:latin typeface="Helvetica Neue"/>
                <a:ea typeface="Helvetica Neue"/>
                <a:cs typeface="Helvetica Neue"/>
              </a:defRPr>
            </a:lvl7pPr>
            <a:lvl8pPr>
              <a:buNone/>
              <a:defRPr sz="1200" b="0">
                <a:solidFill>
                  <a:srgbClr val="A9C9C5"/>
                </a:solidFill>
                <a:latin typeface="Helvetica Neue"/>
                <a:ea typeface="Helvetica Neue"/>
                <a:cs typeface="Helvetica Neue"/>
              </a:defRPr>
            </a:lvl8pPr>
            <a:lvl9pPr>
              <a:buNone/>
              <a:defRPr sz="1200" b="0">
                <a:solidFill>
                  <a:srgbClr val="A9C9C5"/>
                </a:solidFill>
                <a:latin typeface="Helvetica Neue"/>
                <a:ea typeface="Helvetica Neue"/>
                <a:cs typeface="Helvetica Neue"/>
              </a:defRPr>
            </a:lvl9pPr>
          </a:lstStyle>
          <a:p xmlns:a="http://schemas.openxmlformats.org/drawingml/2006/main">
            <a:pPr>
              <a:buNone/>
              <a:defRPr sz="1200" b="0">
                <a:solidFill>
                  <a:srgbClr val="A9C9C5"/>
                </a:solidFill>
                <a:latin typeface="Helvetica Neue"/>
                <a:ea typeface="Helvetica Neue"/>
                <a:cs typeface="Helvetica Neue"/>
              </a:defRPr>
            </a:pPr>
            <a:r>
              <a:rPr sz="1200" b="0">
                <a:solidFill>
                  <a:srgbClr val="A9C9C5"/>
                </a:solidFill>
                <a:latin typeface="Helvetica Neue"/>
                <a:ea typeface="Helvetica Neue"/>
                <a:cs typeface="Helvetica Neue"/>
              </a:rPr>
              <a:t>01</a:t>
            </a:r>
          </a:p>
        </p:txBody>
      </p:sp>
      <p:sp>
        <p:nvSpPr>
          <p:cNvPr id="2" name="">
            <a:extLst xmlns:a="http://schemas.openxmlformats.org/drawingml/2006/main">
              <a:ext uri="{FF2B5EF4-FFF2-40B4-BE49-F238E27FC236}">
                <a16:creationId xmlns:a16="http://schemas.microsoft.com/office/drawing/2014/main" id="{CEC20139-3162-45B8-BB5A-C722FABF2F56}"/>
              </a:ext>
            </a:extLst>
          </p:cNvPr>
          <p:cNvSpPr>
            <a:spLocks xmlns:a="http://schemas.openxmlformats.org/drawingml/2006/main" noGrp="1"/>
          </p:cNvSpPr>
          <p:nvPr/>
        </p:nvSpPr>
        <p:spPr>
          <a:xfrm xmlns:a="http://schemas.openxmlformats.org/drawingml/2006/main">
            <a:off x="609600" y="14287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400" b="1">
                <a:solidFill>
                  <a:srgbClr val="FFFFFF"/>
                </a:solidFill>
                <a:latin typeface="Helvetica Neue"/>
                <a:ea typeface="Helvetica Neue"/>
                <a:cs typeface="Helvetica Neue"/>
              </a:defRPr>
            </a:defPPr>
            <a:lvl1pPr>
              <a:buNone/>
              <a:defRPr sz="5400" b="1">
                <a:solidFill>
                  <a:srgbClr val="FFFFFF"/>
                </a:solidFill>
                <a:latin typeface="Helvetica Neue"/>
                <a:ea typeface="Helvetica Neue"/>
                <a:cs typeface="Helvetica Neue"/>
              </a:defRPr>
            </a:lvl1pPr>
            <a:lvl2pPr>
              <a:buNone/>
              <a:defRPr sz="5400" b="1">
                <a:solidFill>
                  <a:srgbClr val="FFFFFF"/>
                </a:solidFill>
                <a:latin typeface="Helvetica Neue"/>
                <a:ea typeface="Helvetica Neue"/>
                <a:cs typeface="Helvetica Neue"/>
              </a:defRPr>
            </a:lvl2pPr>
            <a:lvl3pPr>
              <a:buNone/>
              <a:defRPr sz="5400" b="1">
                <a:solidFill>
                  <a:srgbClr val="FFFFFF"/>
                </a:solidFill>
                <a:latin typeface="Helvetica Neue"/>
                <a:ea typeface="Helvetica Neue"/>
                <a:cs typeface="Helvetica Neue"/>
              </a:defRPr>
            </a:lvl3pPr>
            <a:lvl4pPr>
              <a:buNone/>
              <a:defRPr sz="5400" b="1">
                <a:solidFill>
                  <a:srgbClr val="FFFFFF"/>
                </a:solidFill>
                <a:latin typeface="Helvetica Neue"/>
                <a:ea typeface="Helvetica Neue"/>
                <a:cs typeface="Helvetica Neue"/>
              </a:defRPr>
            </a:lvl4pPr>
            <a:lvl5pPr>
              <a:buNone/>
              <a:defRPr sz="5400" b="1">
                <a:solidFill>
                  <a:srgbClr val="FFFFFF"/>
                </a:solidFill>
                <a:latin typeface="Helvetica Neue"/>
                <a:ea typeface="Helvetica Neue"/>
                <a:cs typeface="Helvetica Neue"/>
              </a:defRPr>
            </a:lvl5pPr>
            <a:lvl6pPr>
              <a:buNone/>
              <a:defRPr sz="5400" b="1">
                <a:solidFill>
                  <a:srgbClr val="FFFFFF"/>
                </a:solidFill>
                <a:latin typeface="Helvetica Neue"/>
                <a:ea typeface="Helvetica Neue"/>
                <a:cs typeface="Helvetica Neue"/>
              </a:defRPr>
            </a:lvl6pPr>
            <a:lvl7pPr>
              <a:buNone/>
              <a:defRPr sz="5400" b="1">
                <a:solidFill>
                  <a:srgbClr val="FFFFFF"/>
                </a:solidFill>
                <a:latin typeface="Helvetica Neue"/>
                <a:ea typeface="Helvetica Neue"/>
                <a:cs typeface="Helvetica Neue"/>
              </a:defRPr>
            </a:lvl7pPr>
            <a:lvl8pPr>
              <a:buNone/>
              <a:defRPr sz="5400" b="1">
                <a:solidFill>
                  <a:srgbClr val="FFFFFF"/>
                </a:solidFill>
                <a:latin typeface="Helvetica Neue"/>
                <a:ea typeface="Helvetica Neue"/>
                <a:cs typeface="Helvetica Neue"/>
              </a:defRPr>
            </a:lvl8pPr>
            <a:lvl9pPr>
              <a:buNone/>
              <a:defRPr sz="5400" b="1">
                <a:solidFill>
                  <a:srgbClr val="FFFFFF"/>
                </a:solidFill>
                <a:latin typeface="Helvetica Neue"/>
                <a:ea typeface="Helvetica Neue"/>
                <a:cs typeface="Helvetica Neue"/>
              </a:defRPr>
            </a:lvl9pPr>
          </a:lstStyle>
          <a:p xmlns:a="http://schemas.openxmlformats.org/drawingml/2006/main">
            <a:pPr>
              <a:buNone/>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tau2-bench</a:t>
            </a:r>
          </a:p>
        </p:txBody>
      </p:sp>
      <p:sp>
        <p:nvSpPr>
          <p:cNvPr id="3" name="">
            <a:extLst xmlns:a="http://schemas.openxmlformats.org/drawingml/2006/main">
              <a:ext uri="{FF2B5EF4-FFF2-40B4-BE49-F238E27FC236}">
                <a16:creationId xmlns:a16="http://schemas.microsoft.com/office/drawing/2014/main" id="{229E81F7-19EA-4257-8217-3CE0914126F0}"/>
              </a:ext>
            </a:extLst>
          </p:cNvPr>
          <p:cNvSpPr>
            <a:spLocks xmlns:a="http://schemas.openxmlformats.org/drawingml/2006/main" noGrp="1"/>
          </p:cNvSpPr>
          <p:nvPr/>
        </p:nvSpPr>
        <p:spPr>
          <a:xfrm xmlns:a="http://schemas.openxmlformats.org/drawingml/2006/main">
            <a:off x="647700" y="3476625"/>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B9D7D2"/>
                </a:solidFill>
                <a:latin typeface="Helvetica Neue"/>
                <a:ea typeface="Helvetica Neue"/>
                <a:cs typeface="Helvetica Neue"/>
              </a:defRPr>
            </a:defPPr>
            <a:lvl1pPr>
              <a:buNone/>
              <a:defRPr sz="2400" b="0">
                <a:solidFill>
                  <a:srgbClr val="B9D7D2"/>
                </a:solidFill>
                <a:latin typeface="Helvetica Neue"/>
                <a:ea typeface="Helvetica Neue"/>
                <a:cs typeface="Helvetica Neue"/>
              </a:defRPr>
            </a:lvl1pPr>
            <a:lvl2pPr>
              <a:buNone/>
              <a:defRPr sz="2400" b="0">
                <a:solidFill>
                  <a:srgbClr val="B9D7D2"/>
                </a:solidFill>
                <a:latin typeface="Helvetica Neue"/>
                <a:ea typeface="Helvetica Neue"/>
                <a:cs typeface="Helvetica Neue"/>
              </a:defRPr>
            </a:lvl2pPr>
            <a:lvl3pPr>
              <a:buNone/>
              <a:defRPr sz="2400" b="0">
                <a:solidFill>
                  <a:srgbClr val="B9D7D2"/>
                </a:solidFill>
                <a:latin typeface="Helvetica Neue"/>
                <a:ea typeface="Helvetica Neue"/>
                <a:cs typeface="Helvetica Neue"/>
              </a:defRPr>
            </a:lvl3pPr>
            <a:lvl4pPr>
              <a:buNone/>
              <a:defRPr sz="2400" b="0">
                <a:solidFill>
                  <a:srgbClr val="B9D7D2"/>
                </a:solidFill>
                <a:latin typeface="Helvetica Neue"/>
                <a:ea typeface="Helvetica Neue"/>
                <a:cs typeface="Helvetica Neue"/>
              </a:defRPr>
            </a:lvl4pPr>
            <a:lvl5pPr>
              <a:buNone/>
              <a:defRPr sz="2400" b="0">
                <a:solidFill>
                  <a:srgbClr val="B9D7D2"/>
                </a:solidFill>
                <a:latin typeface="Helvetica Neue"/>
                <a:ea typeface="Helvetica Neue"/>
                <a:cs typeface="Helvetica Neue"/>
              </a:defRPr>
            </a:lvl5pPr>
            <a:lvl6pPr>
              <a:buNone/>
              <a:defRPr sz="2400" b="0">
                <a:solidFill>
                  <a:srgbClr val="B9D7D2"/>
                </a:solidFill>
                <a:latin typeface="Helvetica Neue"/>
                <a:ea typeface="Helvetica Neue"/>
                <a:cs typeface="Helvetica Neue"/>
              </a:defRPr>
            </a:lvl6pPr>
            <a:lvl7pPr>
              <a:buNone/>
              <a:defRPr sz="2400" b="0">
                <a:solidFill>
                  <a:srgbClr val="B9D7D2"/>
                </a:solidFill>
                <a:latin typeface="Helvetica Neue"/>
                <a:ea typeface="Helvetica Neue"/>
                <a:cs typeface="Helvetica Neue"/>
              </a:defRPr>
            </a:lvl7pPr>
            <a:lvl8pPr>
              <a:buNone/>
              <a:defRPr sz="2400" b="0">
                <a:solidFill>
                  <a:srgbClr val="B9D7D2"/>
                </a:solidFill>
                <a:latin typeface="Helvetica Neue"/>
                <a:ea typeface="Helvetica Neue"/>
                <a:cs typeface="Helvetica Neue"/>
              </a:defRPr>
            </a:lvl8pPr>
            <a:lvl9pPr>
              <a:buNone/>
              <a:defRPr sz="2400" b="0">
                <a:solidFill>
                  <a:srgbClr val="B9D7D2"/>
                </a:solidFill>
                <a:latin typeface="Helvetica Neue"/>
                <a:ea typeface="Helvetica Neue"/>
                <a:cs typeface="Helvetica Neue"/>
              </a:defRPr>
            </a:lvl9pPr>
          </a:lstStyle>
          <a:p xmlns:a="http://schemas.openxmlformats.org/drawingml/2006/main">
            <a:pPr>
              <a:buNone/>
              <a:defRPr sz="2400" b="0">
                <a:solidFill>
                  <a:srgbClr val="B9D7D2"/>
                </a:solidFill>
                <a:latin typeface="Helvetica Neue"/>
                <a:ea typeface="Helvetica Neue"/>
                <a:cs typeface="Helvetica Neue"/>
              </a:defRPr>
            </a:pPr>
            <a:r>
              <a:rPr sz="2400" b="0">
                <a:solidFill>
                  <a:srgbClr val="B9D7D2"/>
                </a:solidFill>
                <a:latin typeface="Helvetica Neue"/>
                <a:ea typeface="Helvetica Neue"/>
                <a:cs typeface="Helvetica Neue"/>
              </a:rPr>
              <a:t>Architecture, agent interfaces and evaluation</a:t>
            </a:r>
          </a:p>
          <a:p xmlns:a="http://schemas.openxmlformats.org/drawingml/2006/main">
            <a:pPr>
              <a:buNone/>
              <a:defRPr sz="2400" b="0">
                <a:solidFill>
                  <a:srgbClr val="B9D7D2"/>
                </a:solidFill>
                <a:latin typeface="Helvetica Neue"/>
                <a:ea typeface="Helvetica Neue"/>
                <a:cs typeface="Helvetica Neue"/>
              </a:defRPr>
            </a:pPr>
            <a:r>
              <a:rPr sz="2400" b="0">
                <a:solidFill>
                  <a:srgbClr val="B9D7D2"/>
                </a:solidFill>
                <a:latin typeface="Helvetica Neue"/>
                <a:ea typeface="Helvetica Neue"/>
                <a:cs typeface="Helvetica Neue"/>
              </a:rPr>
              <a:t>A retail task walkthrough</a:t>
            </a:r>
          </a:p>
        </p:txBody>
      </p:sp>
      <p:sp>
        <p:nvSpPr>
          <p:cNvPr id="4" name="">
            <a:extLst xmlns:a="http://schemas.openxmlformats.org/drawingml/2006/main">
              <a:ext uri="{FF2B5EF4-FFF2-40B4-BE49-F238E27FC236}">
                <a16:creationId xmlns:a16="http://schemas.microsoft.com/office/drawing/2014/main" id="{5726848B-60A2-48F1-8C67-2AE7A82802B7}"/>
              </a:ext>
            </a:extLst>
          </p:cNvPr>
          <p:cNvSpPr>
            <a:spLocks xmlns:a="http://schemas.openxmlformats.org/drawingml/2006/main" noGrp="1"/>
          </p:cNvSpPr>
          <p:nvPr/>
        </p:nvSpPr>
        <p:spPr>
          <a:xfrm xmlns:a="http://schemas.openxmlformats.org/drawingml/2006/main">
            <a:off x="647700" y="56197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B9D7D2"/>
                </a:solidFill>
                <a:latin typeface="Helvetica Neue"/>
                <a:ea typeface="Helvetica Neue"/>
                <a:cs typeface="Helvetica Neue"/>
              </a:defRPr>
            </a:defPPr>
            <a:lvl1pPr>
              <a:buNone/>
              <a:defRPr sz="1725" b="0">
                <a:solidFill>
                  <a:srgbClr val="B9D7D2"/>
                </a:solidFill>
                <a:latin typeface="Helvetica Neue"/>
                <a:ea typeface="Helvetica Neue"/>
                <a:cs typeface="Helvetica Neue"/>
              </a:defRPr>
            </a:lvl1pPr>
            <a:lvl2pPr>
              <a:buNone/>
              <a:defRPr sz="1725" b="0">
                <a:solidFill>
                  <a:srgbClr val="B9D7D2"/>
                </a:solidFill>
                <a:latin typeface="Helvetica Neue"/>
                <a:ea typeface="Helvetica Neue"/>
                <a:cs typeface="Helvetica Neue"/>
              </a:defRPr>
            </a:lvl2pPr>
            <a:lvl3pPr>
              <a:buNone/>
              <a:defRPr sz="1725" b="0">
                <a:solidFill>
                  <a:srgbClr val="B9D7D2"/>
                </a:solidFill>
                <a:latin typeface="Helvetica Neue"/>
                <a:ea typeface="Helvetica Neue"/>
                <a:cs typeface="Helvetica Neue"/>
              </a:defRPr>
            </a:lvl3pPr>
            <a:lvl4pPr>
              <a:buNone/>
              <a:defRPr sz="1725" b="0">
                <a:solidFill>
                  <a:srgbClr val="B9D7D2"/>
                </a:solidFill>
                <a:latin typeface="Helvetica Neue"/>
                <a:ea typeface="Helvetica Neue"/>
                <a:cs typeface="Helvetica Neue"/>
              </a:defRPr>
            </a:lvl4pPr>
            <a:lvl5pPr>
              <a:buNone/>
              <a:defRPr sz="1725" b="0">
                <a:solidFill>
                  <a:srgbClr val="B9D7D2"/>
                </a:solidFill>
                <a:latin typeface="Helvetica Neue"/>
                <a:ea typeface="Helvetica Neue"/>
                <a:cs typeface="Helvetica Neue"/>
              </a:defRPr>
            </a:lvl5pPr>
            <a:lvl6pPr>
              <a:buNone/>
              <a:defRPr sz="1725" b="0">
                <a:solidFill>
                  <a:srgbClr val="B9D7D2"/>
                </a:solidFill>
                <a:latin typeface="Helvetica Neue"/>
                <a:ea typeface="Helvetica Neue"/>
                <a:cs typeface="Helvetica Neue"/>
              </a:defRPr>
            </a:lvl6pPr>
            <a:lvl7pPr>
              <a:buNone/>
              <a:defRPr sz="1725" b="0">
                <a:solidFill>
                  <a:srgbClr val="B9D7D2"/>
                </a:solidFill>
                <a:latin typeface="Helvetica Neue"/>
                <a:ea typeface="Helvetica Neue"/>
                <a:cs typeface="Helvetica Neue"/>
              </a:defRPr>
            </a:lvl7pPr>
            <a:lvl8pPr>
              <a:buNone/>
              <a:defRPr sz="1725" b="0">
                <a:solidFill>
                  <a:srgbClr val="B9D7D2"/>
                </a:solidFill>
                <a:latin typeface="Helvetica Neue"/>
                <a:ea typeface="Helvetica Neue"/>
                <a:cs typeface="Helvetica Neue"/>
              </a:defRPr>
            </a:lvl8pPr>
            <a:lvl9pPr>
              <a:buNone/>
              <a:defRPr sz="1725" b="0">
                <a:solidFill>
                  <a:srgbClr val="B9D7D2"/>
                </a:solidFill>
                <a:latin typeface="Helvetica Neue"/>
                <a:ea typeface="Helvetica Neue"/>
                <a:cs typeface="Helvetica Neue"/>
              </a:defRPr>
            </a:lvl9pPr>
          </a:lstStyle>
          <a:p xmlns:a="http://schemas.openxmlformats.org/drawingml/2006/main">
            <a:pPr>
              <a:buNone/>
              <a:defRPr sz="1725" b="0">
                <a:solidFill>
                  <a:srgbClr val="B9D7D2"/>
                </a:solidFill>
                <a:latin typeface="Helvetica Neue"/>
                <a:ea typeface="Helvetica Neue"/>
                <a:cs typeface="Helvetica Neue"/>
              </a:defRPr>
            </a:pPr>
            <a:r>
              <a:rPr sz="1725" b="0">
                <a:solidFill>
                  <a:srgbClr val="B9D7D2"/>
                </a:solidFill>
                <a:latin typeface="Helvetica Neue"/>
                <a:ea typeface="Helvetica Neue"/>
                <a:cs typeface="Helvetica Neue"/>
              </a:rPr>
              <a:t>Rosso Han</a:t>
            </a:r>
          </a:p>
          <a:p xmlns:a="http://schemas.openxmlformats.org/drawingml/2006/main">
            <a:pPr>
              <a:buNone/>
              <a:defRPr sz="1725" b="0">
                <a:solidFill>
                  <a:srgbClr val="B9D7D2"/>
                </a:solidFill>
                <a:latin typeface="Helvetica Neue"/>
                <a:ea typeface="Helvetica Neue"/>
                <a:cs typeface="Helvetica Neue"/>
              </a:defRPr>
            </a:pPr>
            <a:r>
              <a:rPr sz="1725" b="0">
                <a:solidFill>
                  <a:srgbClr val="B9D7D2"/>
                </a:solidFill>
                <a:latin typeface="Helvetica Neue"/>
                <a:ea typeface="Helvetica Neue"/>
                <a:cs typeface="Helvetica Neue"/>
              </a:rPr>
              <a:t>October 2026</a:t>
            </a:r>
          </a:p>
        </p:txBody>
      </p:sp>
    </p:spTree>
    <p:extLst>
      <p:ext uri="{BB962C8B-B14F-4D97-AF65-F5344CB8AC3E}">
        <p14:creationId xmlns:p14="http://schemas.microsoft.com/office/powerpoint/2010/main" val="198772219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B061D5-9E00-4148-988E-CE8C855C35C1}"/>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FAC8AC5C-A079-491A-AA59-0BEA331A8238}"/>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What tau2-bench evaluates</a:t>
            </a:r>
          </a:p>
        </p:txBody>
      </p:sp>
      <p:sp>
        <p:nvSpPr>
          <p:cNvPr id="3" name="">
            <a:extLst xmlns:a="http://schemas.openxmlformats.org/drawingml/2006/main">
              <a:ext uri="{FF2B5EF4-FFF2-40B4-BE49-F238E27FC236}">
                <a16:creationId xmlns:a16="http://schemas.microsoft.com/office/drawing/2014/main" id="{3E1E16C1-2442-49E5-A12D-795E4A581E2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Conversational agents that use tools to complete customer-service tasks</a:t>
            </a:r>
          </a:p>
        </p:txBody>
      </p:sp>
      <p:sp>
        <p:nvSpPr>
          <p:cNvPr id="4" name="">
            <a:extLst xmlns:a="http://schemas.openxmlformats.org/drawingml/2006/main">
              <a:ext uri="{FF2B5EF4-FFF2-40B4-BE49-F238E27FC236}">
                <a16:creationId xmlns:a16="http://schemas.microsoft.com/office/drawing/2014/main" id="{A4327AF0-7FDA-49B9-B4FB-22A7A21EC968}"/>
              </a:ext>
            </a:extLst>
          </p:cNvPr>
          <p:cNvSpPr>
            <a:spLocks xmlns:a="http://schemas.openxmlformats.org/drawingml/2006/main" noGrp="1"/>
          </p:cNvSpPr>
          <p:nvPr/>
        </p:nvSpPr>
        <p:spPr>
          <a:xfrm xmlns:a="http://schemas.openxmlformats.org/drawingml/2006/main">
            <a:off x="628650" y="22383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02B36"/>
                </a:solidFill>
                <a:latin typeface="Helvetica Neue"/>
                <a:ea typeface="Helvetica Neue"/>
                <a:cs typeface="Helvetica Neue"/>
              </a:defRPr>
            </a:defPPr>
            <a:lvl1pPr>
              <a:buNone/>
              <a:defRPr sz="3000" b="1">
                <a:solidFill>
                  <a:srgbClr val="102B36"/>
                </a:solidFill>
                <a:latin typeface="Helvetica Neue"/>
                <a:ea typeface="Helvetica Neue"/>
                <a:cs typeface="Helvetica Neue"/>
              </a:defRPr>
            </a:lvl1pPr>
            <a:lvl2pPr>
              <a:buNone/>
              <a:defRPr sz="3000" b="1">
                <a:solidFill>
                  <a:srgbClr val="102B36"/>
                </a:solidFill>
                <a:latin typeface="Helvetica Neue"/>
                <a:ea typeface="Helvetica Neue"/>
                <a:cs typeface="Helvetica Neue"/>
              </a:defRPr>
            </a:lvl2pPr>
            <a:lvl3pPr>
              <a:buNone/>
              <a:defRPr sz="3000" b="1">
                <a:solidFill>
                  <a:srgbClr val="102B36"/>
                </a:solidFill>
                <a:latin typeface="Helvetica Neue"/>
                <a:ea typeface="Helvetica Neue"/>
                <a:cs typeface="Helvetica Neue"/>
              </a:defRPr>
            </a:lvl3pPr>
            <a:lvl4pPr>
              <a:buNone/>
              <a:defRPr sz="3000" b="1">
                <a:solidFill>
                  <a:srgbClr val="102B36"/>
                </a:solidFill>
                <a:latin typeface="Helvetica Neue"/>
                <a:ea typeface="Helvetica Neue"/>
                <a:cs typeface="Helvetica Neue"/>
              </a:defRPr>
            </a:lvl4pPr>
            <a:lvl5pPr>
              <a:buNone/>
              <a:defRPr sz="3000" b="1">
                <a:solidFill>
                  <a:srgbClr val="102B36"/>
                </a:solidFill>
                <a:latin typeface="Helvetica Neue"/>
                <a:ea typeface="Helvetica Neue"/>
                <a:cs typeface="Helvetica Neue"/>
              </a:defRPr>
            </a:lvl5pPr>
            <a:lvl6pPr>
              <a:buNone/>
              <a:defRPr sz="3000" b="1">
                <a:solidFill>
                  <a:srgbClr val="102B36"/>
                </a:solidFill>
                <a:latin typeface="Helvetica Neue"/>
                <a:ea typeface="Helvetica Neue"/>
                <a:cs typeface="Helvetica Neue"/>
              </a:defRPr>
            </a:lvl6pPr>
            <a:lvl7pPr>
              <a:buNone/>
              <a:defRPr sz="3000" b="1">
                <a:solidFill>
                  <a:srgbClr val="102B36"/>
                </a:solidFill>
                <a:latin typeface="Helvetica Neue"/>
                <a:ea typeface="Helvetica Neue"/>
                <a:cs typeface="Helvetica Neue"/>
              </a:defRPr>
            </a:lvl7pPr>
            <a:lvl8pPr>
              <a:buNone/>
              <a:defRPr sz="3000" b="1">
                <a:solidFill>
                  <a:srgbClr val="102B36"/>
                </a:solidFill>
                <a:latin typeface="Helvetica Neue"/>
                <a:ea typeface="Helvetica Neue"/>
                <a:cs typeface="Helvetica Neue"/>
              </a:defRPr>
            </a:lvl8pPr>
            <a:lvl9pPr>
              <a:buNone/>
              <a:defRPr sz="3000" b="1">
                <a:solidFill>
                  <a:srgbClr val="102B36"/>
                </a:solidFill>
                <a:latin typeface="Helvetica Neue"/>
                <a:ea typeface="Helvetica Neue"/>
                <a:cs typeface="Helvetica Neue"/>
              </a:defRPr>
            </a:lvl9pPr>
          </a:lstStyle>
          <a:p xmlns:a="http://schemas.openxmlformats.org/drawingml/2006/main">
            <a:pPr>
              <a:buNone/>
              <a:defRPr sz="3000" b="1">
                <a:solidFill>
                  <a:srgbClr val="102B36"/>
                </a:solidFill>
                <a:latin typeface="Helvetica Neue"/>
                <a:ea typeface="Helvetica Neue"/>
                <a:cs typeface="Helvetica Neue"/>
              </a:defRPr>
            </a:pPr>
            <a:r>
              <a:rPr sz="3000" b="1">
                <a:solidFill>
                  <a:srgbClr val="102B36"/>
                </a:solidFill>
                <a:latin typeface="Helvetica Neue"/>
                <a:ea typeface="Helvetica Neue"/>
                <a:cs typeface="Helvetica Neue"/>
              </a:rPr>
              <a:t>Multi-turn customer interactions</a:t>
            </a:r>
          </a:p>
        </p:txBody>
      </p:sp>
      <p:sp>
        <p:nvSpPr>
          <p:cNvPr id="5" name="">
            <a:extLst xmlns:a="http://schemas.openxmlformats.org/drawingml/2006/main">
              <a:ext uri="{FF2B5EF4-FFF2-40B4-BE49-F238E27FC236}">
                <a16:creationId xmlns:a16="http://schemas.microsoft.com/office/drawing/2014/main" id="{2AA13E1D-EE39-498F-A7B4-830E1739286A}"/>
              </a:ext>
            </a:extLst>
          </p:cNvPr>
          <p:cNvSpPr>
            <a:spLocks xmlns:a="http://schemas.openxmlformats.org/drawingml/2006/main" noGrp="1"/>
          </p:cNvSpPr>
          <p:nvPr/>
        </p:nvSpPr>
        <p:spPr>
          <a:xfrm xmlns:a="http://schemas.openxmlformats.org/drawingml/2006/main">
            <a:off x="628650" y="28860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0636A"/>
                </a:solidFill>
                <a:latin typeface="Helvetica Neue"/>
                <a:ea typeface="Helvetica Neue"/>
                <a:cs typeface="Helvetica Neue"/>
              </a:defRPr>
            </a:defPPr>
            <a:lvl1pPr>
              <a:buNone/>
              <a:defRPr sz="2100" b="0">
                <a:solidFill>
                  <a:srgbClr val="50636A"/>
                </a:solidFill>
                <a:latin typeface="Helvetica Neue"/>
                <a:ea typeface="Helvetica Neue"/>
                <a:cs typeface="Helvetica Neue"/>
              </a:defRPr>
            </a:lvl1pPr>
            <a:lvl2pPr>
              <a:buNone/>
              <a:defRPr sz="2100" b="0">
                <a:solidFill>
                  <a:srgbClr val="50636A"/>
                </a:solidFill>
                <a:latin typeface="Helvetica Neue"/>
                <a:ea typeface="Helvetica Neue"/>
                <a:cs typeface="Helvetica Neue"/>
              </a:defRPr>
            </a:lvl2pPr>
            <a:lvl3pPr>
              <a:buNone/>
              <a:defRPr sz="2100" b="0">
                <a:solidFill>
                  <a:srgbClr val="50636A"/>
                </a:solidFill>
                <a:latin typeface="Helvetica Neue"/>
                <a:ea typeface="Helvetica Neue"/>
                <a:cs typeface="Helvetica Neue"/>
              </a:defRPr>
            </a:lvl3pPr>
            <a:lvl4pPr>
              <a:buNone/>
              <a:defRPr sz="2100" b="0">
                <a:solidFill>
                  <a:srgbClr val="50636A"/>
                </a:solidFill>
                <a:latin typeface="Helvetica Neue"/>
                <a:ea typeface="Helvetica Neue"/>
                <a:cs typeface="Helvetica Neue"/>
              </a:defRPr>
            </a:lvl4pPr>
            <a:lvl5pPr>
              <a:buNone/>
              <a:defRPr sz="2100" b="0">
                <a:solidFill>
                  <a:srgbClr val="50636A"/>
                </a:solidFill>
                <a:latin typeface="Helvetica Neue"/>
                <a:ea typeface="Helvetica Neue"/>
                <a:cs typeface="Helvetica Neue"/>
              </a:defRPr>
            </a:lvl5pPr>
            <a:lvl6pPr>
              <a:buNone/>
              <a:defRPr sz="2100" b="0">
                <a:solidFill>
                  <a:srgbClr val="50636A"/>
                </a:solidFill>
                <a:latin typeface="Helvetica Neue"/>
                <a:ea typeface="Helvetica Neue"/>
                <a:cs typeface="Helvetica Neue"/>
              </a:defRPr>
            </a:lvl6pPr>
            <a:lvl7pPr>
              <a:buNone/>
              <a:defRPr sz="2100" b="0">
                <a:solidFill>
                  <a:srgbClr val="50636A"/>
                </a:solidFill>
                <a:latin typeface="Helvetica Neue"/>
                <a:ea typeface="Helvetica Neue"/>
                <a:cs typeface="Helvetica Neue"/>
              </a:defRPr>
            </a:lvl7pPr>
            <a:lvl8pPr>
              <a:buNone/>
              <a:defRPr sz="2100" b="0">
                <a:solidFill>
                  <a:srgbClr val="50636A"/>
                </a:solidFill>
                <a:latin typeface="Helvetica Neue"/>
                <a:ea typeface="Helvetica Neue"/>
                <a:cs typeface="Helvetica Neue"/>
              </a:defRPr>
            </a:lvl8pPr>
            <a:lvl9pPr>
              <a:buNone/>
              <a:defRPr sz="2100" b="0">
                <a:solidFill>
                  <a:srgbClr val="50636A"/>
                </a:solidFill>
                <a:latin typeface="Helvetica Neue"/>
                <a:ea typeface="Helvetica Neue"/>
                <a:cs typeface="Helvetica Neue"/>
              </a:defRPr>
            </a:lvl9pPr>
          </a:lstStyle>
          <a:p xmlns:a="http://schemas.openxmlformats.org/drawingml/2006/main">
            <a:pPr>
              <a:buNone/>
              <a:defRPr sz="2100" b="0">
                <a:solidFill>
                  <a:srgbClr val="50636A"/>
                </a:solidFill>
                <a:latin typeface="Helvetica Neue"/>
                <a:ea typeface="Helvetica Neue"/>
                <a:cs typeface="Helvetica Neue"/>
              </a:defRPr>
            </a:pPr>
            <a:r>
              <a:rPr sz="2100" b="0">
                <a:solidFill>
                  <a:srgbClr val="50636A"/>
                </a:solidFill>
                <a:latin typeface="Helvetica Neue"/>
                <a:ea typeface="Helvetica Neue"/>
                <a:cs typeface="Helvetica Neue"/>
              </a:rPr>
              <a:t>A simulated customer reveals goals and responds to the agent.</a:t>
            </a:r>
          </a:p>
        </p:txBody>
      </p:sp>
      <p:sp>
        <p:nvSpPr>
          <p:cNvPr id="6" name="">
            <a:extLst xmlns:a="http://schemas.openxmlformats.org/drawingml/2006/main">
              <a:ext uri="{FF2B5EF4-FFF2-40B4-BE49-F238E27FC236}">
                <a16:creationId xmlns:a16="http://schemas.microsoft.com/office/drawing/2014/main" id="{80AD138A-4E0B-49F5-B202-04152589B4E4}"/>
              </a:ext>
            </a:extLst>
          </p:cNvPr>
          <p:cNvSpPr>
            <a:spLocks xmlns:a="http://schemas.openxmlformats.org/drawingml/2006/main" noGrp="1"/>
          </p:cNvSpPr>
          <p:nvPr/>
        </p:nvSpPr>
        <p:spPr>
          <a:xfrm xmlns:a="http://schemas.openxmlformats.org/drawingml/2006/main">
            <a:off x="628650" y="38100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007B78"/>
                </a:solidFill>
                <a:latin typeface="Helvetica Neue"/>
                <a:ea typeface="Helvetica Neue"/>
                <a:cs typeface="Helvetica Neue"/>
              </a:defRPr>
            </a:defPPr>
            <a:lvl1pPr>
              <a:buNone/>
              <a:defRPr sz="3000" b="1">
                <a:solidFill>
                  <a:srgbClr val="007B78"/>
                </a:solidFill>
                <a:latin typeface="Helvetica Neue"/>
                <a:ea typeface="Helvetica Neue"/>
                <a:cs typeface="Helvetica Neue"/>
              </a:defRPr>
            </a:lvl1pPr>
            <a:lvl2pPr>
              <a:buNone/>
              <a:defRPr sz="3000" b="1">
                <a:solidFill>
                  <a:srgbClr val="007B78"/>
                </a:solidFill>
                <a:latin typeface="Helvetica Neue"/>
                <a:ea typeface="Helvetica Neue"/>
                <a:cs typeface="Helvetica Neue"/>
              </a:defRPr>
            </a:lvl2pPr>
            <a:lvl3pPr>
              <a:buNone/>
              <a:defRPr sz="3000" b="1">
                <a:solidFill>
                  <a:srgbClr val="007B78"/>
                </a:solidFill>
                <a:latin typeface="Helvetica Neue"/>
                <a:ea typeface="Helvetica Neue"/>
                <a:cs typeface="Helvetica Neue"/>
              </a:defRPr>
            </a:lvl3pPr>
            <a:lvl4pPr>
              <a:buNone/>
              <a:defRPr sz="3000" b="1">
                <a:solidFill>
                  <a:srgbClr val="007B78"/>
                </a:solidFill>
                <a:latin typeface="Helvetica Neue"/>
                <a:ea typeface="Helvetica Neue"/>
                <a:cs typeface="Helvetica Neue"/>
              </a:defRPr>
            </a:lvl4pPr>
            <a:lvl5pPr>
              <a:buNone/>
              <a:defRPr sz="3000" b="1">
                <a:solidFill>
                  <a:srgbClr val="007B78"/>
                </a:solidFill>
                <a:latin typeface="Helvetica Neue"/>
                <a:ea typeface="Helvetica Neue"/>
                <a:cs typeface="Helvetica Neue"/>
              </a:defRPr>
            </a:lvl5pPr>
            <a:lvl6pPr>
              <a:buNone/>
              <a:defRPr sz="3000" b="1">
                <a:solidFill>
                  <a:srgbClr val="007B78"/>
                </a:solidFill>
                <a:latin typeface="Helvetica Neue"/>
                <a:ea typeface="Helvetica Neue"/>
                <a:cs typeface="Helvetica Neue"/>
              </a:defRPr>
            </a:lvl6pPr>
            <a:lvl7pPr>
              <a:buNone/>
              <a:defRPr sz="3000" b="1">
                <a:solidFill>
                  <a:srgbClr val="007B78"/>
                </a:solidFill>
                <a:latin typeface="Helvetica Neue"/>
                <a:ea typeface="Helvetica Neue"/>
                <a:cs typeface="Helvetica Neue"/>
              </a:defRPr>
            </a:lvl7pPr>
            <a:lvl8pPr>
              <a:buNone/>
              <a:defRPr sz="3000" b="1">
                <a:solidFill>
                  <a:srgbClr val="007B78"/>
                </a:solidFill>
                <a:latin typeface="Helvetica Neue"/>
                <a:ea typeface="Helvetica Neue"/>
                <a:cs typeface="Helvetica Neue"/>
              </a:defRPr>
            </a:lvl8pPr>
            <a:lvl9pPr>
              <a:buNone/>
              <a:defRPr sz="3000" b="1">
                <a:solidFill>
                  <a:srgbClr val="007B78"/>
                </a:solidFill>
                <a:latin typeface="Helvetica Neue"/>
                <a:ea typeface="Helvetica Neue"/>
                <a:cs typeface="Helvetica Neue"/>
              </a:defRPr>
            </a:lvl9pPr>
          </a:lstStyle>
          <a:p xmlns:a="http://schemas.openxmlformats.org/drawingml/2006/main">
            <a:pPr>
              <a:buNone/>
              <a:defRPr sz="3000" b="1">
                <a:solidFill>
                  <a:srgbClr val="007B78"/>
                </a:solidFill>
                <a:latin typeface="Helvetica Neue"/>
                <a:ea typeface="Helvetica Neue"/>
                <a:cs typeface="Helvetica Neue"/>
              </a:defRPr>
            </a:pPr>
            <a:r>
              <a:rPr sz="3000" b="1">
                <a:solidFill>
                  <a:srgbClr val="007B78"/>
                </a:solidFill>
                <a:latin typeface="Helvetica Neue"/>
                <a:ea typeface="Helvetica Neue"/>
                <a:cs typeface="Helvetica Neue"/>
              </a:rPr>
              <a:t>Tool use in a stateful environment</a:t>
            </a:r>
          </a:p>
        </p:txBody>
      </p:sp>
      <p:sp>
        <p:nvSpPr>
          <p:cNvPr id="7" name="">
            <a:extLst xmlns:a="http://schemas.openxmlformats.org/drawingml/2006/main">
              <a:ext uri="{FF2B5EF4-FFF2-40B4-BE49-F238E27FC236}">
                <a16:creationId xmlns:a16="http://schemas.microsoft.com/office/drawing/2014/main" id="{C7542A3E-2D02-461E-9180-09D2C988ACC1}"/>
              </a:ext>
            </a:extLst>
          </p:cNvPr>
          <p:cNvSpPr>
            <a:spLocks xmlns:a="http://schemas.openxmlformats.org/drawingml/2006/main" noGrp="1"/>
          </p:cNvSpPr>
          <p:nvPr/>
        </p:nvSpPr>
        <p:spPr>
          <a:xfrm xmlns:a="http://schemas.openxmlformats.org/drawingml/2006/main">
            <a:off x="628650" y="44577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0636A"/>
                </a:solidFill>
                <a:latin typeface="Helvetica Neue"/>
                <a:ea typeface="Helvetica Neue"/>
                <a:cs typeface="Helvetica Neue"/>
              </a:defRPr>
            </a:defPPr>
            <a:lvl1pPr>
              <a:buNone/>
              <a:defRPr sz="2100" b="0">
                <a:solidFill>
                  <a:srgbClr val="50636A"/>
                </a:solidFill>
                <a:latin typeface="Helvetica Neue"/>
                <a:ea typeface="Helvetica Neue"/>
                <a:cs typeface="Helvetica Neue"/>
              </a:defRPr>
            </a:lvl1pPr>
            <a:lvl2pPr>
              <a:buNone/>
              <a:defRPr sz="2100" b="0">
                <a:solidFill>
                  <a:srgbClr val="50636A"/>
                </a:solidFill>
                <a:latin typeface="Helvetica Neue"/>
                <a:ea typeface="Helvetica Neue"/>
                <a:cs typeface="Helvetica Neue"/>
              </a:defRPr>
            </a:lvl2pPr>
            <a:lvl3pPr>
              <a:buNone/>
              <a:defRPr sz="2100" b="0">
                <a:solidFill>
                  <a:srgbClr val="50636A"/>
                </a:solidFill>
                <a:latin typeface="Helvetica Neue"/>
                <a:ea typeface="Helvetica Neue"/>
                <a:cs typeface="Helvetica Neue"/>
              </a:defRPr>
            </a:lvl3pPr>
            <a:lvl4pPr>
              <a:buNone/>
              <a:defRPr sz="2100" b="0">
                <a:solidFill>
                  <a:srgbClr val="50636A"/>
                </a:solidFill>
                <a:latin typeface="Helvetica Neue"/>
                <a:ea typeface="Helvetica Neue"/>
                <a:cs typeface="Helvetica Neue"/>
              </a:defRPr>
            </a:lvl4pPr>
            <a:lvl5pPr>
              <a:buNone/>
              <a:defRPr sz="2100" b="0">
                <a:solidFill>
                  <a:srgbClr val="50636A"/>
                </a:solidFill>
                <a:latin typeface="Helvetica Neue"/>
                <a:ea typeface="Helvetica Neue"/>
                <a:cs typeface="Helvetica Neue"/>
              </a:defRPr>
            </a:lvl5pPr>
            <a:lvl6pPr>
              <a:buNone/>
              <a:defRPr sz="2100" b="0">
                <a:solidFill>
                  <a:srgbClr val="50636A"/>
                </a:solidFill>
                <a:latin typeface="Helvetica Neue"/>
                <a:ea typeface="Helvetica Neue"/>
                <a:cs typeface="Helvetica Neue"/>
              </a:defRPr>
            </a:lvl6pPr>
            <a:lvl7pPr>
              <a:buNone/>
              <a:defRPr sz="2100" b="0">
                <a:solidFill>
                  <a:srgbClr val="50636A"/>
                </a:solidFill>
                <a:latin typeface="Helvetica Neue"/>
                <a:ea typeface="Helvetica Neue"/>
                <a:cs typeface="Helvetica Neue"/>
              </a:defRPr>
            </a:lvl7pPr>
            <a:lvl8pPr>
              <a:buNone/>
              <a:defRPr sz="2100" b="0">
                <a:solidFill>
                  <a:srgbClr val="50636A"/>
                </a:solidFill>
                <a:latin typeface="Helvetica Neue"/>
                <a:ea typeface="Helvetica Neue"/>
                <a:cs typeface="Helvetica Neue"/>
              </a:defRPr>
            </a:lvl8pPr>
            <a:lvl9pPr>
              <a:buNone/>
              <a:defRPr sz="2100" b="0">
                <a:solidFill>
                  <a:srgbClr val="50636A"/>
                </a:solidFill>
                <a:latin typeface="Helvetica Neue"/>
                <a:ea typeface="Helvetica Neue"/>
                <a:cs typeface="Helvetica Neue"/>
              </a:defRPr>
            </a:lvl9pPr>
          </a:lstStyle>
          <a:p xmlns:a="http://schemas.openxmlformats.org/drawingml/2006/main">
            <a:pPr>
              <a:buNone/>
              <a:defRPr sz="2100" b="0">
                <a:solidFill>
                  <a:srgbClr val="50636A"/>
                </a:solidFill>
                <a:latin typeface="Helvetica Neue"/>
                <a:ea typeface="Helvetica Neue"/>
                <a:cs typeface="Helvetica Neue"/>
              </a:defRPr>
            </a:pPr>
            <a:r>
              <a:rPr sz="2100" b="0">
                <a:solidFill>
                  <a:srgbClr val="50636A"/>
                </a:solidFill>
                <a:latin typeface="Helvetica Neue"/>
                <a:ea typeface="Helvetica Neue"/>
                <a:cs typeface="Helvetica Neue"/>
              </a:rPr>
              <a:t>Domain tools change orders and other records that evaluators inspect.</a:t>
            </a:r>
          </a:p>
        </p:txBody>
      </p:sp>
      <p:sp>
        <p:nvSpPr>
          <p:cNvPr id="8" name="">
            <a:extLst xmlns:a="http://schemas.openxmlformats.org/drawingml/2006/main">
              <a:ext uri="{FF2B5EF4-FFF2-40B4-BE49-F238E27FC236}">
                <a16:creationId xmlns:a16="http://schemas.microsoft.com/office/drawing/2014/main" id="{27004662-AA76-4F6C-BB8A-ED13D62DA102}"/>
              </a:ext>
            </a:extLst>
          </p:cNvPr>
          <p:cNvSpPr>
            <a:spLocks xmlns:a="http://schemas.openxmlformats.org/drawingml/2006/main" noGrp="1"/>
          </p:cNvSpPr>
          <p:nvPr/>
        </p:nvSpPr>
        <p:spPr>
          <a:xfrm xmlns:a="http://schemas.openxmlformats.org/drawingml/2006/main">
            <a:off x="628650" y="56959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0636A"/>
                </a:solidFill>
                <a:latin typeface="Helvetica Neue"/>
                <a:ea typeface="Helvetica Neue"/>
                <a:cs typeface="Helvetica Neue"/>
              </a:defRPr>
            </a:defPPr>
            <a:lvl1pPr>
              <a:buNone/>
              <a:defRPr sz="1800" b="0">
                <a:solidFill>
                  <a:srgbClr val="50636A"/>
                </a:solidFill>
                <a:latin typeface="Helvetica Neue"/>
                <a:ea typeface="Helvetica Neue"/>
                <a:cs typeface="Helvetica Neue"/>
              </a:defRPr>
            </a:lvl1pPr>
            <a:lvl2pPr>
              <a:buNone/>
              <a:defRPr sz="1800" b="0">
                <a:solidFill>
                  <a:srgbClr val="50636A"/>
                </a:solidFill>
                <a:latin typeface="Helvetica Neue"/>
                <a:ea typeface="Helvetica Neue"/>
                <a:cs typeface="Helvetica Neue"/>
              </a:defRPr>
            </a:lvl2pPr>
            <a:lvl3pPr>
              <a:buNone/>
              <a:defRPr sz="1800" b="0">
                <a:solidFill>
                  <a:srgbClr val="50636A"/>
                </a:solidFill>
                <a:latin typeface="Helvetica Neue"/>
                <a:ea typeface="Helvetica Neue"/>
                <a:cs typeface="Helvetica Neue"/>
              </a:defRPr>
            </a:lvl3pPr>
            <a:lvl4pPr>
              <a:buNone/>
              <a:defRPr sz="1800" b="0">
                <a:solidFill>
                  <a:srgbClr val="50636A"/>
                </a:solidFill>
                <a:latin typeface="Helvetica Neue"/>
                <a:ea typeface="Helvetica Neue"/>
                <a:cs typeface="Helvetica Neue"/>
              </a:defRPr>
            </a:lvl4pPr>
            <a:lvl5pPr>
              <a:buNone/>
              <a:defRPr sz="1800" b="0">
                <a:solidFill>
                  <a:srgbClr val="50636A"/>
                </a:solidFill>
                <a:latin typeface="Helvetica Neue"/>
                <a:ea typeface="Helvetica Neue"/>
                <a:cs typeface="Helvetica Neue"/>
              </a:defRPr>
            </a:lvl5pPr>
            <a:lvl6pPr>
              <a:buNone/>
              <a:defRPr sz="1800" b="0">
                <a:solidFill>
                  <a:srgbClr val="50636A"/>
                </a:solidFill>
                <a:latin typeface="Helvetica Neue"/>
                <a:ea typeface="Helvetica Neue"/>
                <a:cs typeface="Helvetica Neue"/>
              </a:defRPr>
            </a:lvl6pPr>
            <a:lvl7pPr>
              <a:buNone/>
              <a:defRPr sz="1800" b="0">
                <a:solidFill>
                  <a:srgbClr val="50636A"/>
                </a:solidFill>
                <a:latin typeface="Helvetica Neue"/>
                <a:ea typeface="Helvetica Neue"/>
                <a:cs typeface="Helvetica Neue"/>
              </a:defRPr>
            </a:lvl7pPr>
            <a:lvl8pPr>
              <a:buNone/>
              <a:defRPr sz="1800" b="0">
                <a:solidFill>
                  <a:srgbClr val="50636A"/>
                </a:solidFill>
                <a:latin typeface="Helvetica Neue"/>
                <a:ea typeface="Helvetica Neue"/>
                <a:cs typeface="Helvetica Neue"/>
              </a:defRPr>
            </a:lvl8pPr>
            <a:lvl9pPr>
              <a:buNone/>
              <a:defRPr sz="1800" b="0">
                <a:solidFill>
                  <a:srgbClr val="50636A"/>
                </a:solidFill>
                <a:latin typeface="Helvetica Neue"/>
                <a:ea typeface="Helvetica Neue"/>
                <a:cs typeface="Helvetica Neue"/>
              </a:defRPr>
            </a:lvl9pPr>
          </a:lstStyle>
          <a:p xmlns:a="http://schemas.openxmlformats.org/drawingml/2006/main">
            <a:pPr>
              <a:buNone/>
              <a:defRPr sz="1800" b="0">
                <a:solidFill>
                  <a:srgbClr val="50636A"/>
                </a:solidFill>
                <a:latin typeface="Helvetica Neue"/>
                <a:ea typeface="Helvetica Neue"/>
                <a:cs typeface="Helvetica Neue"/>
              </a:defRPr>
            </a:pPr>
            <a:r>
              <a:rPr sz="1800" b="0">
                <a:solidFill>
                  <a:srgbClr val="50636A"/>
                </a:solidFill>
                <a:latin typeface="Helvetica Neue"/>
                <a:ea typeface="Helvetica Neue"/>
                <a:cs typeface="Helvetica Neue"/>
              </a:rPr>
              <a:t>Domains include retail, airline and telecom. The repository also supports voice.</a:t>
            </a:r>
          </a:p>
        </p:txBody>
      </p:sp>
    </p:spTree>
    <p:extLst>
      <p:ext uri="{BB962C8B-B14F-4D97-AF65-F5344CB8AC3E}">
        <p14:creationId xmlns:p14="http://schemas.microsoft.com/office/powerpoint/2010/main" val="1623175349"/>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DCB19E-848E-4C1C-9D43-D15506A785C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EDCCC306-D1B2-4AA2-8BA1-2395B5D7D1C2}"/>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tau2 evaluation architecture</a:t>
            </a:r>
          </a:p>
        </p:txBody>
      </p:sp>
      <p:sp>
        <p:nvSpPr>
          <p:cNvPr id="3" name="">
            <a:extLst xmlns:a="http://schemas.openxmlformats.org/drawingml/2006/main">
              <a:ext uri="{FF2B5EF4-FFF2-40B4-BE49-F238E27FC236}">
                <a16:creationId xmlns:a16="http://schemas.microsoft.com/office/drawing/2014/main" id="{CDDB60B0-1266-4E75-8B99-7FDE07AB14AE}"/>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A shared environment lets different agent implementations face the same task</a:t>
            </a:r>
          </a:p>
        </p:txBody>
      </p:sp>
      <p:graphicFrame>
        <p:nvGraphicFramePr>
          <p:cNvPr id="4" name="">
            <a:extLst xmlns:a="http://schemas.openxmlformats.org/drawingml/2006/main">
              <a:ext uri="{FF2B5EF4-FFF2-40B4-BE49-F238E27FC236}">
                <a16:creationId xmlns:a16="http://schemas.microsoft.com/office/drawing/2014/main" id="{F2EFB970-71C7-4A9A-A780-54C579E1D188}"/>
              </a:ext>
            </a:extLst>
          </p:cNvPr>
          <p:cNvGraphicFramePr/>
          <p:nvPr/>
        </p:nvGraphicFramePr>
        <p:xfrm>
          <a:off xmlns:a="http://schemas.openxmlformats.org/drawingml/2006/main" x="609600" y="2152650"/>
          <a:ext xmlns:a="http://schemas.openxmlformats.org/drawingml/2006/main" cx="10972800" cy="3381375"/>
        </p:xfrm>
        <a:graphic xmlns:a="http://schemas.openxmlformats.org/drawingml/2006/main">
          <a:graphicData uri="http://schemas.openxmlformats.org/drawingml/2006/table">
            <a:tbl>
              <a:tblPr/>
              <a:tblGrid>
                <a:gridCol w="3619500"/>
                <a:gridCol w="7353300"/>
              </a:tblGrid>
              <a:tr h="676275">
                <a:tc>
                  <a:txBody>
                    <a:bodyPr lIns="133350" tIns="133350" rIns="133350" bIns="133350"/>
                    <a:lstStyle/>
                    <a:p>
                      <a:r>
                        <a:rPr sz="2025" b="1">
                          <a:solidFill>
                            <a:srgbClr val="FFFFFF"/>
                          </a:solidFill>
                          <a:latin typeface="Helvetica Neue"/>
                          <a:ea typeface="Helvetica Neue"/>
                          <a:cs typeface="Helvetica Neue"/>
                        </a:rPr>
                        <a:t>Component</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Responsibility</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76275">
                <a:tc>
                  <a:txBody>
                    <a:bodyPr lIns="133350" tIns="133350" rIns="133350" bIns="133350"/>
                    <a:lstStyle/>
                    <a:p>
                      <a:r>
                        <a:rPr sz="2025" b="0">
                          <a:solidFill>
                            <a:srgbClr val="102B36"/>
                          </a:solidFill>
                          <a:latin typeface="Helvetica Neue"/>
                          <a:ea typeface="Helvetica Neue"/>
                          <a:cs typeface="Helvetica Neue"/>
                        </a:rPr>
                        <a:t>Task + user simulator</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Define the goal and simulate the customer</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76275">
                <a:tc>
                  <a:txBody>
                    <a:bodyPr lIns="133350" tIns="133350" rIns="133350" bIns="133350"/>
                    <a:lstStyle/>
                    <a:p>
                      <a:r>
                        <a:rPr sz="2025" b="0">
                          <a:solidFill>
                            <a:srgbClr val="102B36"/>
                          </a:solidFill>
                          <a:latin typeface="Helvetica Neue"/>
                          <a:ea typeface="Helvetica Neue"/>
                          <a:cs typeface="Helvetica Neue"/>
                        </a:rPr>
                        <a:t>Agent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Choose a reply or request a tool call</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76275">
                <a:tc>
                  <a:txBody>
                    <a:bodyPr lIns="133350" tIns="133350" rIns="133350" bIns="133350"/>
                    <a:lstStyle/>
                    <a:p>
                      <a:r>
                        <a:rPr sz="2025" b="0">
                          <a:solidFill>
                            <a:srgbClr val="102B36"/>
                          </a:solidFill>
                          <a:latin typeface="Helvetica Neue"/>
                          <a:ea typeface="Helvetica Neue"/>
                          <a:cs typeface="Helvetica Neue"/>
                        </a:rPr>
                        <a:t>Orchestrator / environment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Execute tools and record state changes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76275">
                <a:tc>
                  <a:txBody>
                    <a:bodyPr lIns="133350" tIns="133350" rIns="133350" bIns="133350"/>
                    <a:lstStyle/>
                    <a:p>
                      <a:r>
                        <a:rPr sz="2025" b="0">
                          <a:solidFill>
                            <a:srgbClr val="102B36"/>
                          </a:solidFill>
                          <a:latin typeface="Helvetica Neue"/>
                          <a:ea typeface="Helvetica Neue"/>
                          <a:cs typeface="Helvetica Neue"/>
                        </a:rPr>
                        <a:t>Evaluator</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Check task criteria and calculate reward</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670028AA-ECA9-431C-B294-C0CA0CACDCF3}"/>
              </a:ext>
            </a:extLst>
          </p:cNvPr>
          <p:cNvSpPr>
            <a:spLocks xmlns:a="http://schemas.openxmlformats.org/drawingml/2006/main" noGrp="1"/>
          </p:cNvSpPr>
          <p:nvPr/>
        </p:nvSpPr>
        <p:spPr>
          <a:xfrm xmlns:a="http://schemas.openxmlformats.org/drawingml/2006/main">
            <a:off x="628650" y="57816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007B78"/>
                </a:solidFill>
                <a:latin typeface="Helvetica Neue"/>
                <a:ea typeface="Helvetica Neue"/>
                <a:cs typeface="Helvetica Neue"/>
              </a:defRPr>
            </a:defPPr>
            <a:lvl1pPr>
              <a:buNone/>
              <a:defRPr sz="1875" b="1">
                <a:solidFill>
                  <a:srgbClr val="007B78"/>
                </a:solidFill>
                <a:latin typeface="Helvetica Neue"/>
                <a:ea typeface="Helvetica Neue"/>
                <a:cs typeface="Helvetica Neue"/>
              </a:defRPr>
            </a:lvl1pPr>
            <a:lvl2pPr>
              <a:buNone/>
              <a:defRPr sz="1875" b="1">
                <a:solidFill>
                  <a:srgbClr val="007B78"/>
                </a:solidFill>
                <a:latin typeface="Helvetica Neue"/>
                <a:ea typeface="Helvetica Neue"/>
                <a:cs typeface="Helvetica Neue"/>
              </a:defRPr>
            </a:lvl2pPr>
            <a:lvl3pPr>
              <a:buNone/>
              <a:defRPr sz="1875" b="1">
                <a:solidFill>
                  <a:srgbClr val="007B78"/>
                </a:solidFill>
                <a:latin typeface="Helvetica Neue"/>
                <a:ea typeface="Helvetica Neue"/>
                <a:cs typeface="Helvetica Neue"/>
              </a:defRPr>
            </a:lvl3pPr>
            <a:lvl4pPr>
              <a:buNone/>
              <a:defRPr sz="1875" b="1">
                <a:solidFill>
                  <a:srgbClr val="007B78"/>
                </a:solidFill>
                <a:latin typeface="Helvetica Neue"/>
                <a:ea typeface="Helvetica Neue"/>
                <a:cs typeface="Helvetica Neue"/>
              </a:defRPr>
            </a:lvl4pPr>
            <a:lvl5pPr>
              <a:buNone/>
              <a:defRPr sz="1875" b="1">
                <a:solidFill>
                  <a:srgbClr val="007B78"/>
                </a:solidFill>
                <a:latin typeface="Helvetica Neue"/>
                <a:ea typeface="Helvetica Neue"/>
                <a:cs typeface="Helvetica Neue"/>
              </a:defRPr>
            </a:lvl5pPr>
            <a:lvl6pPr>
              <a:buNone/>
              <a:defRPr sz="1875" b="1">
                <a:solidFill>
                  <a:srgbClr val="007B78"/>
                </a:solidFill>
                <a:latin typeface="Helvetica Neue"/>
                <a:ea typeface="Helvetica Neue"/>
                <a:cs typeface="Helvetica Neue"/>
              </a:defRPr>
            </a:lvl6pPr>
            <a:lvl7pPr>
              <a:buNone/>
              <a:defRPr sz="1875" b="1">
                <a:solidFill>
                  <a:srgbClr val="007B78"/>
                </a:solidFill>
                <a:latin typeface="Helvetica Neue"/>
                <a:ea typeface="Helvetica Neue"/>
                <a:cs typeface="Helvetica Neue"/>
              </a:defRPr>
            </a:lvl7pPr>
            <a:lvl8pPr>
              <a:buNone/>
              <a:defRPr sz="1875" b="1">
                <a:solidFill>
                  <a:srgbClr val="007B78"/>
                </a:solidFill>
                <a:latin typeface="Helvetica Neue"/>
                <a:ea typeface="Helvetica Neue"/>
                <a:cs typeface="Helvetica Neue"/>
              </a:defRPr>
            </a:lvl8pPr>
            <a:lvl9pPr>
              <a:buNone/>
              <a:defRPr sz="1875" b="1">
                <a:solidFill>
                  <a:srgbClr val="007B78"/>
                </a:solidFill>
                <a:latin typeface="Helvetica Neue"/>
                <a:ea typeface="Helvetica Neue"/>
                <a:cs typeface="Helvetica Neue"/>
              </a:defRPr>
            </a:lvl9pPr>
          </a:lstStyle>
          <a:p xmlns:a="http://schemas.openxmlformats.org/drawingml/2006/main">
            <a:pPr>
              <a:buNone/>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The standard agent interface separates decision-making from tool execution.</a:t>
            </a:r>
          </a:p>
        </p:txBody>
      </p:sp>
    </p:spTree>
    <p:extLst>
      <p:ext uri="{BB962C8B-B14F-4D97-AF65-F5344CB8AC3E}">
        <p14:creationId xmlns:p14="http://schemas.microsoft.com/office/powerpoint/2010/main" val="1014563925"/>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867751-3CBD-4B32-8DE4-6DF5CDA8B5E2}"/>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4A3788F3-57C1-419E-8286-BA00589DEDE2}"/>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concrete retail task</a:t>
            </a:r>
          </a:p>
        </p:txBody>
      </p:sp>
      <p:sp>
        <p:nvSpPr>
          <p:cNvPr id="3" name="">
            <a:extLst xmlns:a="http://schemas.openxmlformats.org/drawingml/2006/main">
              <a:ext uri="{FF2B5EF4-FFF2-40B4-BE49-F238E27FC236}">
                <a16:creationId xmlns:a16="http://schemas.microsoft.com/office/drawing/2014/main" id="{2B98B0E8-6ACA-4AB8-9A98-F91505C7D51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Base retail task 0: exchange two items in one delivered order</a:t>
            </a:r>
          </a:p>
        </p:txBody>
      </p:sp>
      <p:sp>
        <p:nvSpPr>
          <p:cNvPr id="4" name="">
            <a:extLst xmlns:a="http://schemas.openxmlformats.org/drawingml/2006/main">
              <a:ext uri="{FF2B5EF4-FFF2-40B4-BE49-F238E27FC236}">
                <a16:creationId xmlns:a16="http://schemas.microsoft.com/office/drawing/2014/main" id="{8504E522-4B75-431C-9422-FF577F8AF5A2}"/>
              </a:ext>
            </a:extLst>
          </p:cNvPr>
          <p:cNvSpPr>
            <a:spLocks xmlns:a="http://schemas.openxmlformats.org/drawingml/2006/main" noGrp="1"/>
          </p:cNvSpPr>
          <p:nvPr/>
        </p:nvSpPr>
        <p:spPr>
          <a:xfrm xmlns:a="http://schemas.openxmlformats.org/drawingml/2006/main">
            <a:off x="628650" y="21907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07B78"/>
                </a:solidFill>
                <a:latin typeface="Helvetica Neue"/>
                <a:ea typeface="Helvetica Neue"/>
                <a:cs typeface="Helvetica Neue"/>
              </a:defRPr>
            </a:defPPr>
            <a:lvl1pPr>
              <a:buNone/>
              <a:defRPr sz="2250" b="1">
                <a:solidFill>
                  <a:srgbClr val="007B78"/>
                </a:solidFill>
                <a:latin typeface="Helvetica Neue"/>
                <a:ea typeface="Helvetica Neue"/>
                <a:cs typeface="Helvetica Neue"/>
              </a:defRPr>
            </a:lvl1pPr>
            <a:lvl2pPr>
              <a:buNone/>
              <a:defRPr sz="2250" b="1">
                <a:solidFill>
                  <a:srgbClr val="007B78"/>
                </a:solidFill>
                <a:latin typeface="Helvetica Neue"/>
                <a:ea typeface="Helvetica Neue"/>
                <a:cs typeface="Helvetica Neue"/>
              </a:defRPr>
            </a:lvl2pPr>
            <a:lvl3pPr>
              <a:buNone/>
              <a:defRPr sz="2250" b="1">
                <a:solidFill>
                  <a:srgbClr val="007B78"/>
                </a:solidFill>
                <a:latin typeface="Helvetica Neue"/>
                <a:ea typeface="Helvetica Neue"/>
                <a:cs typeface="Helvetica Neue"/>
              </a:defRPr>
            </a:lvl3pPr>
            <a:lvl4pPr>
              <a:buNone/>
              <a:defRPr sz="2250" b="1">
                <a:solidFill>
                  <a:srgbClr val="007B78"/>
                </a:solidFill>
                <a:latin typeface="Helvetica Neue"/>
                <a:ea typeface="Helvetica Neue"/>
                <a:cs typeface="Helvetica Neue"/>
              </a:defRPr>
            </a:lvl4pPr>
            <a:lvl5pPr>
              <a:buNone/>
              <a:defRPr sz="2250" b="1">
                <a:solidFill>
                  <a:srgbClr val="007B78"/>
                </a:solidFill>
                <a:latin typeface="Helvetica Neue"/>
                <a:ea typeface="Helvetica Neue"/>
                <a:cs typeface="Helvetica Neue"/>
              </a:defRPr>
            </a:lvl5pPr>
            <a:lvl6pPr>
              <a:buNone/>
              <a:defRPr sz="2250" b="1">
                <a:solidFill>
                  <a:srgbClr val="007B78"/>
                </a:solidFill>
                <a:latin typeface="Helvetica Neue"/>
                <a:ea typeface="Helvetica Neue"/>
                <a:cs typeface="Helvetica Neue"/>
              </a:defRPr>
            </a:lvl6pPr>
            <a:lvl7pPr>
              <a:buNone/>
              <a:defRPr sz="2250" b="1">
                <a:solidFill>
                  <a:srgbClr val="007B78"/>
                </a:solidFill>
                <a:latin typeface="Helvetica Neue"/>
                <a:ea typeface="Helvetica Neue"/>
                <a:cs typeface="Helvetica Neue"/>
              </a:defRPr>
            </a:lvl7pPr>
            <a:lvl8pPr>
              <a:buNone/>
              <a:defRPr sz="2250" b="1">
                <a:solidFill>
                  <a:srgbClr val="007B78"/>
                </a:solidFill>
                <a:latin typeface="Helvetica Neue"/>
                <a:ea typeface="Helvetica Neue"/>
                <a:cs typeface="Helvetica Neue"/>
              </a:defRPr>
            </a:lvl8pPr>
            <a:lvl9pPr>
              <a:buNone/>
              <a:defRPr sz="2250" b="1">
                <a:solidFill>
                  <a:srgbClr val="007B78"/>
                </a:solidFill>
                <a:latin typeface="Helvetica Neue"/>
                <a:ea typeface="Helvetica Neue"/>
                <a:cs typeface="Helvetica Neue"/>
              </a:defRPr>
            </a:lvl9pPr>
          </a:lstStyle>
          <a:p xmlns:a="http://schemas.openxmlformats.org/drawingml/2006/main">
            <a:pPr>
              <a:buNone/>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Customer request</a:t>
            </a:r>
          </a:p>
        </p:txBody>
      </p:sp>
      <p:sp>
        <p:nvSpPr>
          <p:cNvPr id="5" name="">
            <a:extLst xmlns:a="http://schemas.openxmlformats.org/drawingml/2006/main">
              <a:ext uri="{FF2B5EF4-FFF2-40B4-BE49-F238E27FC236}">
                <a16:creationId xmlns:a16="http://schemas.microsoft.com/office/drawing/2014/main" id="{02013DA1-ED5E-4A95-BB9C-F0BA0899A81D}"/>
              </a:ext>
            </a:extLst>
          </p:cNvPr>
          <p:cNvSpPr>
            <a:spLocks xmlns:a="http://schemas.openxmlformats.org/drawingml/2006/main" noGrp="1"/>
          </p:cNvSpPr>
          <p:nvPr/>
        </p:nvSpPr>
        <p:spPr>
          <a:xfrm xmlns:a="http://schemas.openxmlformats.org/drawingml/2006/main">
            <a:off x="628650" y="2781300"/>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02B36"/>
                </a:solidFill>
                <a:latin typeface="Helvetica Neue"/>
                <a:ea typeface="Helvetica Neue"/>
                <a:cs typeface="Helvetica Neue"/>
              </a:defRPr>
            </a:defPPr>
            <a:lvl1pPr>
              <a:buNone/>
              <a:defRPr sz="2325" b="0">
                <a:solidFill>
                  <a:srgbClr val="102B36"/>
                </a:solidFill>
                <a:latin typeface="Helvetica Neue"/>
                <a:ea typeface="Helvetica Neue"/>
                <a:cs typeface="Helvetica Neue"/>
              </a:defRPr>
            </a:lvl1pPr>
            <a:lvl2pPr>
              <a:buNone/>
              <a:defRPr sz="2325" b="0">
                <a:solidFill>
                  <a:srgbClr val="102B36"/>
                </a:solidFill>
                <a:latin typeface="Helvetica Neue"/>
                <a:ea typeface="Helvetica Neue"/>
                <a:cs typeface="Helvetica Neue"/>
              </a:defRPr>
            </a:lvl2pPr>
            <a:lvl3pPr>
              <a:buNone/>
              <a:defRPr sz="2325" b="0">
                <a:solidFill>
                  <a:srgbClr val="102B36"/>
                </a:solidFill>
                <a:latin typeface="Helvetica Neue"/>
                <a:ea typeface="Helvetica Neue"/>
                <a:cs typeface="Helvetica Neue"/>
              </a:defRPr>
            </a:lvl3pPr>
            <a:lvl4pPr>
              <a:buNone/>
              <a:defRPr sz="2325" b="0">
                <a:solidFill>
                  <a:srgbClr val="102B36"/>
                </a:solidFill>
                <a:latin typeface="Helvetica Neue"/>
                <a:ea typeface="Helvetica Neue"/>
                <a:cs typeface="Helvetica Neue"/>
              </a:defRPr>
            </a:lvl4pPr>
            <a:lvl5pPr>
              <a:buNone/>
              <a:defRPr sz="2325" b="0">
                <a:solidFill>
                  <a:srgbClr val="102B36"/>
                </a:solidFill>
                <a:latin typeface="Helvetica Neue"/>
                <a:ea typeface="Helvetica Neue"/>
                <a:cs typeface="Helvetica Neue"/>
              </a:defRPr>
            </a:lvl5pPr>
            <a:lvl6pPr>
              <a:buNone/>
              <a:defRPr sz="2325" b="0">
                <a:solidFill>
                  <a:srgbClr val="102B36"/>
                </a:solidFill>
                <a:latin typeface="Helvetica Neue"/>
                <a:ea typeface="Helvetica Neue"/>
                <a:cs typeface="Helvetica Neue"/>
              </a:defRPr>
            </a:lvl6pPr>
            <a:lvl7pPr>
              <a:buNone/>
              <a:defRPr sz="2325" b="0">
                <a:solidFill>
                  <a:srgbClr val="102B36"/>
                </a:solidFill>
                <a:latin typeface="Helvetica Neue"/>
                <a:ea typeface="Helvetica Neue"/>
                <a:cs typeface="Helvetica Neue"/>
              </a:defRPr>
            </a:lvl7pPr>
            <a:lvl8pPr>
              <a:buNone/>
              <a:defRPr sz="2325" b="0">
                <a:solidFill>
                  <a:srgbClr val="102B36"/>
                </a:solidFill>
                <a:latin typeface="Helvetica Neue"/>
                <a:ea typeface="Helvetica Neue"/>
                <a:cs typeface="Helvetica Neue"/>
              </a:defRPr>
            </a:lvl8pPr>
            <a:lvl9pPr>
              <a:buNone/>
              <a:defRPr sz="2325" b="0">
                <a:solidFill>
                  <a:srgbClr val="102B36"/>
                </a:solidFill>
                <a:latin typeface="Helvetica Neue"/>
                <a:ea typeface="Helvetica Neue"/>
                <a:cs typeface="Helvetica Neue"/>
              </a:defRPr>
            </a:lvl9pPr>
          </a:lstStyle>
          <a:p xmlns:a="http://schemas.openxmlformats.org/drawingml/2006/main">
            <a:pPr>
              <a:buNone/>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A clicky, full-size keyboard with RGB lighting.</a:t>
            </a:r>
          </a:p>
          <a:p xmlns:a="http://schemas.openxmlformats.org/drawingml/2006/main">
            <a:r>
              <a:t/>
            </a:r>
          </a:p>
          <a:p xmlns:a="http://schemas.openxmlformats.org/drawingml/2006/main">
            <a:pPr>
              <a:buNone/>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If unavailable, accept no backlight.</a:t>
            </a:r>
          </a:p>
        </p:txBody>
      </p:sp>
      <p:sp>
        <p:nvSpPr>
          <p:cNvPr id="6" name="">
            <a:extLst xmlns:a="http://schemas.openxmlformats.org/drawingml/2006/main">
              <a:ext uri="{FF2B5EF4-FFF2-40B4-BE49-F238E27FC236}">
                <a16:creationId xmlns:a16="http://schemas.microsoft.com/office/drawing/2014/main" id="{63B00C52-E7EF-49AA-8D5B-B2CBFA0459A7}"/>
              </a:ext>
            </a:extLst>
          </p:cNvPr>
          <p:cNvSpPr>
            <a:spLocks xmlns:a="http://schemas.openxmlformats.org/drawingml/2006/main" noGrp="1"/>
          </p:cNvSpPr>
          <p:nvPr/>
        </p:nvSpPr>
        <p:spPr>
          <a:xfrm xmlns:a="http://schemas.openxmlformats.org/drawingml/2006/main">
            <a:off x="6343650" y="2781300"/>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02B36"/>
                </a:solidFill>
                <a:latin typeface="Helvetica Neue"/>
                <a:ea typeface="Helvetica Neue"/>
                <a:cs typeface="Helvetica Neue"/>
              </a:defRPr>
            </a:defPPr>
            <a:lvl1pPr>
              <a:buNone/>
              <a:defRPr sz="2325" b="0">
                <a:solidFill>
                  <a:srgbClr val="102B36"/>
                </a:solidFill>
                <a:latin typeface="Helvetica Neue"/>
                <a:ea typeface="Helvetica Neue"/>
                <a:cs typeface="Helvetica Neue"/>
              </a:defRPr>
            </a:lvl1pPr>
            <a:lvl2pPr>
              <a:buNone/>
              <a:defRPr sz="2325" b="0">
                <a:solidFill>
                  <a:srgbClr val="102B36"/>
                </a:solidFill>
                <a:latin typeface="Helvetica Neue"/>
                <a:ea typeface="Helvetica Neue"/>
                <a:cs typeface="Helvetica Neue"/>
              </a:defRPr>
            </a:lvl2pPr>
            <a:lvl3pPr>
              <a:buNone/>
              <a:defRPr sz="2325" b="0">
                <a:solidFill>
                  <a:srgbClr val="102B36"/>
                </a:solidFill>
                <a:latin typeface="Helvetica Neue"/>
                <a:ea typeface="Helvetica Neue"/>
                <a:cs typeface="Helvetica Neue"/>
              </a:defRPr>
            </a:lvl3pPr>
            <a:lvl4pPr>
              <a:buNone/>
              <a:defRPr sz="2325" b="0">
                <a:solidFill>
                  <a:srgbClr val="102B36"/>
                </a:solidFill>
                <a:latin typeface="Helvetica Neue"/>
                <a:ea typeface="Helvetica Neue"/>
                <a:cs typeface="Helvetica Neue"/>
              </a:defRPr>
            </a:lvl4pPr>
            <a:lvl5pPr>
              <a:buNone/>
              <a:defRPr sz="2325" b="0">
                <a:solidFill>
                  <a:srgbClr val="102B36"/>
                </a:solidFill>
                <a:latin typeface="Helvetica Neue"/>
                <a:ea typeface="Helvetica Neue"/>
                <a:cs typeface="Helvetica Neue"/>
              </a:defRPr>
            </a:lvl5pPr>
            <a:lvl6pPr>
              <a:buNone/>
              <a:defRPr sz="2325" b="0">
                <a:solidFill>
                  <a:srgbClr val="102B36"/>
                </a:solidFill>
                <a:latin typeface="Helvetica Neue"/>
                <a:ea typeface="Helvetica Neue"/>
                <a:cs typeface="Helvetica Neue"/>
              </a:defRPr>
            </a:lvl6pPr>
            <a:lvl7pPr>
              <a:buNone/>
              <a:defRPr sz="2325" b="0">
                <a:solidFill>
                  <a:srgbClr val="102B36"/>
                </a:solidFill>
                <a:latin typeface="Helvetica Neue"/>
                <a:ea typeface="Helvetica Neue"/>
                <a:cs typeface="Helvetica Neue"/>
              </a:defRPr>
            </a:lvl7pPr>
            <a:lvl8pPr>
              <a:buNone/>
              <a:defRPr sz="2325" b="0">
                <a:solidFill>
                  <a:srgbClr val="102B36"/>
                </a:solidFill>
                <a:latin typeface="Helvetica Neue"/>
                <a:ea typeface="Helvetica Neue"/>
                <a:cs typeface="Helvetica Neue"/>
              </a:defRPr>
            </a:lvl8pPr>
            <a:lvl9pPr>
              <a:buNone/>
              <a:defRPr sz="2325" b="0">
                <a:solidFill>
                  <a:srgbClr val="102B36"/>
                </a:solidFill>
                <a:latin typeface="Helvetica Neue"/>
                <a:ea typeface="Helvetica Neue"/>
                <a:cs typeface="Helvetica Neue"/>
              </a:defRPr>
            </a:lvl9pPr>
          </a:lstStyle>
          <a:p xmlns:a="http://schemas.openxmlformats.org/drawingml/2006/main">
            <a:pPr>
              <a:buNone/>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A thermostat compatible with Google Home instead of Apple HomeKit.</a:t>
            </a:r>
          </a:p>
        </p:txBody>
      </p:sp>
      <p:sp>
        <p:nvSpPr>
          <p:cNvPr id="7" name="">
            <a:extLst xmlns:a="http://schemas.openxmlformats.org/drawingml/2006/main">
              <a:ext uri="{FF2B5EF4-FFF2-40B4-BE49-F238E27FC236}">
                <a16:creationId xmlns:a16="http://schemas.microsoft.com/office/drawing/2014/main" id="{A7E75006-BC63-4B89-A2B1-06B051DF791E}"/>
              </a:ext>
            </a:extLst>
          </p:cNvPr>
          <p:cNvSpPr>
            <a:spLocks xmlns:a="http://schemas.openxmlformats.org/drawingml/2006/main" noGrp="1"/>
          </p:cNvSpPr>
          <p:nvPr/>
        </p:nvSpPr>
        <p:spPr>
          <a:xfrm xmlns:a="http://schemas.openxmlformats.org/drawingml/2006/main">
            <a:off x="628650" y="5267325"/>
            <a:ext cx="10525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0636A"/>
                </a:solidFill>
                <a:latin typeface="Helvetica Neue"/>
                <a:ea typeface="Helvetica Neue"/>
                <a:cs typeface="Helvetica Neue"/>
              </a:defRPr>
            </a:defPPr>
            <a:lvl1pPr>
              <a:buNone/>
              <a:defRPr sz="2025" b="0">
                <a:solidFill>
                  <a:srgbClr val="50636A"/>
                </a:solidFill>
                <a:latin typeface="Helvetica Neue"/>
                <a:ea typeface="Helvetica Neue"/>
                <a:cs typeface="Helvetica Neue"/>
              </a:defRPr>
            </a:lvl1pPr>
            <a:lvl2pPr>
              <a:buNone/>
              <a:defRPr sz="2025" b="0">
                <a:solidFill>
                  <a:srgbClr val="50636A"/>
                </a:solidFill>
                <a:latin typeface="Helvetica Neue"/>
                <a:ea typeface="Helvetica Neue"/>
                <a:cs typeface="Helvetica Neue"/>
              </a:defRPr>
            </a:lvl2pPr>
            <a:lvl3pPr>
              <a:buNone/>
              <a:defRPr sz="2025" b="0">
                <a:solidFill>
                  <a:srgbClr val="50636A"/>
                </a:solidFill>
                <a:latin typeface="Helvetica Neue"/>
                <a:ea typeface="Helvetica Neue"/>
                <a:cs typeface="Helvetica Neue"/>
              </a:defRPr>
            </a:lvl3pPr>
            <a:lvl4pPr>
              <a:buNone/>
              <a:defRPr sz="2025" b="0">
                <a:solidFill>
                  <a:srgbClr val="50636A"/>
                </a:solidFill>
                <a:latin typeface="Helvetica Neue"/>
                <a:ea typeface="Helvetica Neue"/>
                <a:cs typeface="Helvetica Neue"/>
              </a:defRPr>
            </a:lvl4pPr>
            <a:lvl5pPr>
              <a:buNone/>
              <a:defRPr sz="2025" b="0">
                <a:solidFill>
                  <a:srgbClr val="50636A"/>
                </a:solidFill>
                <a:latin typeface="Helvetica Neue"/>
                <a:ea typeface="Helvetica Neue"/>
                <a:cs typeface="Helvetica Neue"/>
              </a:defRPr>
            </a:lvl5pPr>
            <a:lvl6pPr>
              <a:buNone/>
              <a:defRPr sz="2025" b="0">
                <a:solidFill>
                  <a:srgbClr val="50636A"/>
                </a:solidFill>
                <a:latin typeface="Helvetica Neue"/>
                <a:ea typeface="Helvetica Neue"/>
                <a:cs typeface="Helvetica Neue"/>
              </a:defRPr>
            </a:lvl6pPr>
            <a:lvl7pPr>
              <a:buNone/>
              <a:defRPr sz="2025" b="0">
                <a:solidFill>
                  <a:srgbClr val="50636A"/>
                </a:solidFill>
                <a:latin typeface="Helvetica Neue"/>
                <a:ea typeface="Helvetica Neue"/>
                <a:cs typeface="Helvetica Neue"/>
              </a:defRPr>
            </a:lvl7pPr>
            <a:lvl8pPr>
              <a:buNone/>
              <a:defRPr sz="2025" b="0">
                <a:solidFill>
                  <a:srgbClr val="50636A"/>
                </a:solidFill>
                <a:latin typeface="Helvetica Neue"/>
                <a:ea typeface="Helvetica Neue"/>
                <a:cs typeface="Helvetica Neue"/>
              </a:defRPr>
            </a:lvl8pPr>
            <a:lvl9pPr>
              <a:buNone/>
              <a:defRPr sz="2025" b="0">
                <a:solidFill>
                  <a:srgbClr val="50636A"/>
                </a:solidFill>
                <a:latin typeface="Helvetica Neue"/>
                <a:ea typeface="Helvetica Neue"/>
                <a:cs typeface="Helvetica Neue"/>
              </a:defRPr>
            </a:lvl9pPr>
          </a:lstStyle>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Order #W2378156</a:t>
            </a:r>
          </a:p>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Customer knows name and ZIP code, but has forgotten the email address.</a:t>
            </a:r>
          </a:p>
        </p:txBody>
      </p:sp>
    </p:spTree>
    <p:extLst>
      <p:ext uri="{BB962C8B-B14F-4D97-AF65-F5344CB8AC3E}">
        <p14:creationId xmlns:p14="http://schemas.microsoft.com/office/powerpoint/2010/main" val="1959631439"/>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29DAF2-7151-4D35-A686-C4B08CC3ECE9}"/>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BDB8071D-82D1-4F60-844F-A02B8F0E282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Task definition and information boundaries</a:t>
            </a:r>
          </a:p>
        </p:txBody>
      </p:sp>
      <p:sp>
        <p:nvSpPr>
          <p:cNvPr id="3" name="">
            <a:extLst xmlns:a="http://schemas.openxmlformats.org/drawingml/2006/main">
              <a:ext uri="{FF2B5EF4-FFF2-40B4-BE49-F238E27FC236}">
                <a16:creationId xmlns:a16="http://schemas.microsoft.com/office/drawing/2014/main" id="{7C39C59D-BBCD-4326-9382-9C794D920C8B}"/>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customer scenario and the grading reference serve different roles</a:t>
            </a:r>
          </a:p>
        </p:txBody>
      </p:sp>
      <p:graphicFrame>
        <p:nvGraphicFramePr>
          <p:cNvPr id="4" name="">
            <a:extLst xmlns:a="http://schemas.openxmlformats.org/drawingml/2006/main">
              <a:ext uri="{FF2B5EF4-FFF2-40B4-BE49-F238E27FC236}">
                <a16:creationId xmlns:a16="http://schemas.microsoft.com/office/drawing/2014/main" id="{D128660D-55A8-4FAF-9038-DCC7C97792E6}"/>
              </a:ext>
            </a:extLst>
          </p:cNvPr>
          <p:cNvGraphicFramePr/>
          <p:nvPr/>
        </p:nvGraphicFramePr>
        <p:xfrm>
          <a:off xmlns:a="http://schemas.openxmlformats.org/drawingml/2006/main" x="609600" y="2181225"/>
          <a:ext xmlns:a="http://schemas.openxmlformats.org/drawingml/2006/main" cx="10972800" cy="3333750"/>
        </p:xfrm>
        <a:graphic xmlns:a="http://schemas.openxmlformats.org/drawingml/2006/main">
          <a:graphicData uri="http://schemas.openxmlformats.org/drawingml/2006/table">
            <a:tbl>
              <a:tblPr/>
              <a:tblGrid>
                <a:gridCol w="4095750"/>
                <a:gridCol w="6877050"/>
              </a:tblGrid>
              <a:tr h="666750">
                <a:tc>
                  <a:txBody>
                    <a:bodyPr lIns="133350" tIns="133350" rIns="133350" bIns="133350"/>
                    <a:lstStyle/>
                    <a:p>
                      <a:r>
                        <a:rPr sz="1950" b="1">
                          <a:solidFill>
                            <a:srgbClr val="FFFFFF"/>
                          </a:solidFill>
                          <a:latin typeface="Helvetica Neue"/>
                          <a:ea typeface="Helvetica Neue"/>
                          <a:cs typeface="Helvetica Neue"/>
                        </a:rPr>
                        <a:t>Task field</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Purpose in this example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950" b="0">
                          <a:solidFill>
                            <a:srgbClr val="102B36"/>
                          </a:solidFill>
                          <a:latin typeface="Helvetica Neue"/>
                          <a:ea typeface="Helvetica Neue"/>
                          <a:cs typeface="Helvetica Neue"/>
                        </a:rPr>
                        <a:t>user_scenario</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Customer goal, identity details and fallback preference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initial_state = null</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Use the initial domain database</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950" b="0">
                          <a:solidFill>
                            <a:srgbClr val="102B36"/>
                          </a:solidFill>
                          <a:latin typeface="Helvetica Neue"/>
                          <a:ea typeface="Helvetica Neue"/>
                          <a:cs typeface="Helvetica Neue"/>
                        </a:rPr>
                        <a:t>evaluation_criteria.actions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Reference actions that produce the expected final state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reward_basis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DB and NL_ASSERTION for this base task</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5C9FF774-AEE6-44D1-8558-909FF3A6B432}"/>
              </a:ext>
            </a:extLst>
          </p:cNvPr>
          <p:cNvSpPr>
            <a:spLocks xmlns:a="http://schemas.openxmlformats.org/drawingml/2006/main" noGrp="1"/>
          </p:cNvSpPr>
          <p:nvPr/>
        </p:nvSpPr>
        <p:spPr>
          <a:xfrm xmlns:a="http://schemas.openxmlformats.org/drawingml/2006/main">
            <a:off x="628650" y="57912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007B78"/>
                </a:solidFill>
                <a:latin typeface="Helvetica Neue"/>
                <a:ea typeface="Helvetica Neue"/>
                <a:cs typeface="Helvetica Neue"/>
              </a:defRPr>
            </a:defPPr>
            <a:lvl1pPr>
              <a:buNone/>
              <a:defRPr sz="1875" b="1">
                <a:solidFill>
                  <a:srgbClr val="007B78"/>
                </a:solidFill>
                <a:latin typeface="Helvetica Neue"/>
                <a:ea typeface="Helvetica Neue"/>
                <a:cs typeface="Helvetica Neue"/>
              </a:defRPr>
            </a:lvl1pPr>
            <a:lvl2pPr>
              <a:buNone/>
              <a:defRPr sz="1875" b="1">
                <a:solidFill>
                  <a:srgbClr val="007B78"/>
                </a:solidFill>
                <a:latin typeface="Helvetica Neue"/>
                <a:ea typeface="Helvetica Neue"/>
                <a:cs typeface="Helvetica Neue"/>
              </a:defRPr>
            </a:lvl2pPr>
            <a:lvl3pPr>
              <a:buNone/>
              <a:defRPr sz="1875" b="1">
                <a:solidFill>
                  <a:srgbClr val="007B78"/>
                </a:solidFill>
                <a:latin typeface="Helvetica Neue"/>
                <a:ea typeface="Helvetica Neue"/>
                <a:cs typeface="Helvetica Neue"/>
              </a:defRPr>
            </a:lvl3pPr>
            <a:lvl4pPr>
              <a:buNone/>
              <a:defRPr sz="1875" b="1">
                <a:solidFill>
                  <a:srgbClr val="007B78"/>
                </a:solidFill>
                <a:latin typeface="Helvetica Neue"/>
                <a:ea typeface="Helvetica Neue"/>
                <a:cs typeface="Helvetica Neue"/>
              </a:defRPr>
            </a:lvl4pPr>
            <a:lvl5pPr>
              <a:buNone/>
              <a:defRPr sz="1875" b="1">
                <a:solidFill>
                  <a:srgbClr val="007B78"/>
                </a:solidFill>
                <a:latin typeface="Helvetica Neue"/>
                <a:ea typeface="Helvetica Neue"/>
                <a:cs typeface="Helvetica Neue"/>
              </a:defRPr>
            </a:lvl5pPr>
            <a:lvl6pPr>
              <a:buNone/>
              <a:defRPr sz="1875" b="1">
                <a:solidFill>
                  <a:srgbClr val="007B78"/>
                </a:solidFill>
                <a:latin typeface="Helvetica Neue"/>
                <a:ea typeface="Helvetica Neue"/>
                <a:cs typeface="Helvetica Neue"/>
              </a:defRPr>
            </a:lvl6pPr>
            <a:lvl7pPr>
              <a:buNone/>
              <a:defRPr sz="1875" b="1">
                <a:solidFill>
                  <a:srgbClr val="007B78"/>
                </a:solidFill>
                <a:latin typeface="Helvetica Neue"/>
                <a:ea typeface="Helvetica Neue"/>
                <a:cs typeface="Helvetica Neue"/>
              </a:defRPr>
            </a:lvl7pPr>
            <a:lvl8pPr>
              <a:buNone/>
              <a:defRPr sz="1875" b="1">
                <a:solidFill>
                  <a:srgbClr val="007B78"/>
                </a:solidFill>
                <a:latin typeface="Helvetica Neue"/>
                <a:ea typeface="Helvetica Neue"/>
                <a:cs typeface="Helvetica Neue"/>
              </a:defRPr>
            </a:lvl8pPr>
            <a:lvl9pPr>
              <a:buNone/>
              <a:defRPr sz="1875" b="1">
                <a:solidFill>
                  <a:srgbClr val="007B78"/>
                </a:solidFill>
                <a:latin typeface="Helvetica Neue"/>
                <a:ea typeface="Helvetica Neue"/>
                <a:cs typeface="Helvetica Neue"/>
              </a:defRPr>
            </a:lvl9pPr>
          </a:lstStyle>
          <a:p xmlns:a="http://schemas.openxmlformats.org/drawingml/2006/main">
            <a:pPr>
              <a:buNone/>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A normal tested agent discovers the solution through dialogue and tools.</a:t>
            </a:r>
          </a:p>
        </p:txBody>
      </p:sp>
    </p:spTree>
    <p:extLst>
      <p:ext uri="{BB962C8B-B14F-4D97-AF65-F5344CB8AC3E}">
        <p14:creationId xmlns:p14="http://schemas.microsoft.com/office/powerpoint/2010/main" val="121266918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D5E3829-D2A5-440D-AF65-824C93B8969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5B8F4B15-37ED-4CD0-BFA3-01407DDD9966}"/>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interaction loop</a:t>
            </a:r>
          </a:p>
        </p:txBody>
      </p:sp>
      <p:sp>
        <p:nvSpPr>
          <p:cNvPr id="3" name="">
            <a:extLst xmlns:a="http://schemas.openxmlformats.org/drawingml/2006/main">
              <a:ext uri="{FF2B5EF4-FFF2-40B4-BE49-F238E27FC236}">
                <a16:creationId xmlns:a16="http://schemas.microsoft.com/office/drawing/2014/main" id="{98DD1A2D-C30E-4E10-B289-44C678429561}"/>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Each tool result becomes evidence for the next agent decision</a:t>
            </a:r>
          </a:p>
        </p:txBody>
      </p:sp>
      <p:sp>
        <p:nvSpPr>
          <p:cNvPr id="4" name="">
            <a:extLst xmlns:a="http://schemas.openxmlformats.org/drawingml/2006/main">
              <a:ext uri="{FF2B5EF4-FFF2-40B4-BE49-F238E27FC236}">
                <a16:creationId xmlns:a16="http://schemas.microsoft.com/office/drawing/2014/main" id="{4DCA9BC9-F119-4487-8E6E-022096C55812}"/>
              </a:ext>
            </a:extLst>
          </p:cNvPr>
          <p:cNvSpPr>
            <a:spLocks xmlns:a="http://schemas.openxmlformats.org/drawingml/2006/main" noGrp="1"/>
          </p:cNvSpPr>
          <p:nvPr/>
        </p:nvSpPr>
        <p:spPr>
          <a:xfrm xmlns:a="http://schemas.openxmlformats.org/drawingml/2006/main">
            <a:off x="609600" y="2133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2014CF51-CFEE-4B88-81C5-4ED5EA1838FB}"/>
              </a:ext>
            </a:extLst>
          </p:cNvPr>
          <p:cNvSpPr>
            <a:spLocks xmlns:a="http://schemas.openxmlformats.org/drawingml/2006/main" noGrp="1"/>
          </p:cNvSpPr>
          <p:nvPr/>
        </p:nvSpPr>
        <p:spPr>
          <a:xfrm xmlns:a="http://schemas.openxmlformats.org/drawingml/2006/main">
            <a:off x="1352550" y="21336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Receive a customer message</a:t>
            </a:r>
          </a:p>
        </p:txBody>
      </p:sp>
      <p:sp>
        <p:nvSpPr>
          <p:cNvPr id="6" name="">
            <a:extLst xmlns:a="http://schemas.openxmlformats.org/drawingml/2006/main">
              <a:ext uri="{FF2B5EF4-FFF2-40B4-BE49-F238E27FC236}">
                <a16:creationId xmlns:a16="http://schemas.microsoft.com/office/drawing/2014/main" id="{2433D464-5B19-43E3-8C7D-B3D032E2E25B}"/>
              </a:ext>
            </a:extLst>
          </p:cNvPr>
          <p:cNvSpPr>
            <a:spLocks xmlns:a="http://schemas.openxmlformats.org/drawingml/2006/main" noGrp="1"/>
          </p:cNvSpPr>
          <p:nvPr/>
        </p:nvSpPr>
        <p:spPr>
          <a:xfrm xmlns:a="http://schemas.openxmlformats.org/drawingml/2006/main">
            <a:off x="1352550" y="26003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agent combines the message with policy, tools and conversation history.</a:t>
            </a:r>
          </a:p>
        </p:txBody>
      </p:sp>
      <p:sp>
        <p:nvSpPr>
          <p:cNvPr id="7" name="">
            <a:extLst xmlns:a="http://schemas.openxmlformats.org/drawingml/2006/main">
              <a:ext uri="{FF2B5EF4-FFF2-40B4-BE49-F238E27FC236}">
                <a16:creationId xmlns:a16="http://schemas.microsoft.com/office/drawing/2014/main" id="{AFA6A505-A879-48AB-B7A9-1F824CE890C7}"/>
              </a:ext>
            </a:extLst>
          </p:cNvPr>
          <p:cNvSpPr>
            <a:spLocks xmlns:a="http://schemas.openxmlformats.org/drawingml/2006/main" noGrp="1"/>
          </p:cNvSpPr>
          <p:nvPr/>
        </p:nvSpPr>
        <p:spPr>
          <a:xfrm xmlns:a="http://schemas.openxmlformats.org/drawingml/2006/main">
            <a:off x="609600" y="3371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93D1A355-BC79-4901-B222-6076724C484B}"/>
              </a:ext>
            </a:extLst>
          </p:cNvPr>
          <p:cNvSpPr>
            <a:spLocks xmlns:a="http://schemas.openxmlformats.org/drawingml/2006/main" noGrp="1"/>
          </p:cNvSpPr>
          <p:nvPr/>
        </p:nvSpPr>
        <p:spPr>
          <a:xfrm xmlns:a="http://schemas.openxmlformats.org/drawingml/2006/main">
            <a:off x="1352550" y="337185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Return a reply or a tool request</a:t>
            </a:r>
          </a:p>
        </p:txBody>
      </p:sp>
      <p:sp>
        <p:nvSpPr>
          <p:cNvPr id="9" name="">
            <a:extLst xmlns:a="http://schemas.openxmlformats.org/drawingml/2006/main">
              <a:ext uri="{FF2B5EF4-FFF2-40B4-BE49-F238E27FC236}">
                <a16:creationId xmlns:a16="http://schemas.microsoft.com/office/drawing/2014/main" id="{2A47B780-2B05-499B-920A-CC2AE9953210}"/>
              </a:ext>
            </a:extLst>
          </p:cNvPr>
          <p:cNvSpPr>
            <a:spLocks xmlns:a="http://schemas.openxmlformats.org/drawingml/2006/main" noGrp="1"/>
          </p:cNvSpPr>
          <p:nvPr/>
        </p:nvSpPr>
        <p:spPr>
          <a:xfrm xmlns:a="http://schemas.openxmlformats.org/drawingml/2006/main">
            <a:off x="1352550" y="38385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model proposes an action. It has not changed the database yet.</a:t>
            </a:r>
          </a:p>
        </p:txBody>
      </p:sp>
      <p:sp>
        <p:nvSpPr>
          <p:cNvPr id="10" name="">
            <a:extLst xmlns:a="http://schemas.openxmlformats.org/drawingml/2006/main">
              <a:ext uri="{FF2B5EF4-FFF2-40B4-BE49-F238E27FC236}">
                <a16:creationId xmlns:a16="http://schemas.microsoft.com/office/drawing/2014/main" id="{FAF870B0-CB55-43CF-93F2-975965BF5FA6}"/>
              </a:ext>
            </a:extLst>
          </p:cNvPr>
          <p:cNvSpPr>
            <a:spLocks xmlns:a="http://schemas.openxmlformats.org/drawingml/2006/main" noGrp="1"/>
          </p:cNvSpPr>
          <p:nvPr/>
        </p:nvSpPr>
        <p:spPr>
          <a:xfrm xmlns:a="http://schemas.openxmlformats.org/drawingml/2006/main">
            <a:off x="609600" y="46101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57F356D7-A268-4131-BBB4-A3E9B0688A1B}"/>
              </a:ext>
            </a:extLst>
          </p:cNvPr>
          <p:cNvSpPr>
            <a:spLocks xmlns:a="http://schemas.openxmlformats.org/drawingml/2006/main" noGrp="1"/>
          </p:cNvSpPr>
          <p:nvPr/>
        </p:nvSpPr>
        <p:spPr>
          <a:xfrm xmlns:a="http://schemas.openxmlformats.org/drawingml/2006/main">
            <a:off x="1352550" y="46101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Execute and record the result</a:t>
            </a:r>
          </a:p>
        </p:txBody>
      </p:sp>
      <p:sp>
        <p:nvSpPr>
          <p:cNvPr id="12" name="">
            <a:extLst xmlns:a="http://schemas.openxmlformats.org/drawingml/2006/main">
              <a:ext uri="{FF2B5EF4-FFF2-40B4-BE49-F238E27FC236}">
                <a16:creationId xmlns:a16="http://schemas.microsoft.com/office/drawing/2014/main" id="{5DDAB072-8B9B-4C0C-81A6-4402D7230C11}"/>
              </a:ext>
            </a:extLst>
          </p:cNvPr>
          <p:cNvSpPr>
            <a:spLocks xmlns:a="http://schemas.openxmlformats.org/drawingml/2006/main" noGrp="1"/>
          </p:cNvSpPr>
          <p:nvPr/>
        </p:nvSpPr>
        <p:spPr>
          <a:xfrm xmlns:a="http://schemas.openxmlformats.org/drawingml/2006/main">
            <a:off x="1352550" y="50768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orchestrator calls the environment and sends the tool result back.</a:t>
            </a:r>
          </a:p>
        </p:txBody>
      </p:sp>
    </p:spTree>
    <p:extLst>
      <p:ext uri="{BB962C8B-B14F-4D97-AF65-F5344CB8AC3E}">
        <p14:creationId xmlns:p14="http://schemas.microsoft.com/office/powerpoint/2010/main" val="2043872393"/>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FEE22C-BC0D-467B-B390-6852D2C550B5}"/>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07</a:t>
            </a:r>
          </a:p>
        </p:txBody>
      </p:sp>
      <p:sp>
        <p:nvSpPr>
          <p:cNvPr id="2" name="">
            <a:extLst xmlns:a="http://schemas.openxmlformats.org/drawingml/2006/main">
              <a:ext uri="{FF2B5EF4-FFF2-40B4-BE49-F238E27FC236}">
                <a16:creationId xmlns:a16="http://schemas.microsoft.com/office/drawing/2014/main" id="{013B4487-D0E2-407D-91E6-75C0754FE4E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Product lookup determines the replacement</a:t>
            </a:r>
          </a:p>
        </p:txBody>
      </p:sp>
      <p:sp>
        <p:nvSpPr>
          <p:cNvPr id="3" name="">
            <a:extLst xmlns:a="http://schemas.openxmlformats.org/drawingml/2006/main">
              <a:ext uri="{FF2B5EF4-FFF2-40B4-BE49-F238E27FC236}">
                <a16:creationId xmlns:a16="http://schemas.microsoft.com/office/drawing/2014/main" id="{658DFDB9-544F-4717-BB1F-21CD7B50E195}"/>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preferred RGB keyboard exists, but it is unavailable</a:t>
            </a:r>
          </a:p>
        </p:txBody>
      </p:sp>
      <p:graphicFrame>
        <p:nvGraphicFramePr>
          <p:cNvPr id="4" name="">
            <a:extLst xmlns:a="http://schemas.openxmlformats.org/drawingml/2006/main">
              <a:ext uri="{FF2B5EF4-FFF2-40B4-BE49-F238E27FC236}">
                <a16:creationId xmlns:a16="http://schemas.microsoft.com/office/drawing/2014/main" id="{5B265DA9-4979-4D4F-AA48-FA726D9C9E38}"/>
              </a:ext>
            </a:extLst>
          </p:cNvPr>
          <p:cNvGraphicFramePr/>
          <p:nvPr/>
        </p:nvGraphicFramePr>
        <p:xfrm>
          <a:off xmlns:a="http://schemas.openxmlformats.org/drawingml/2006/main" x="609600" y="2324100"/>
          <a:ext xmlns:a="http://schemas.openxmlformats.org/drawingml/2006/main" cx="10972800" cy="2476500"/>
        </p:xfrm>
        <a:graphic xmlns:a="http://schemas.openxmlformats.org/drawingml/2006/main">
          <a:graphicData uri="http://schemas.openxmlformats.org/drawingml/2006/table">
            <a:tbl>
              <a:tblPr/>
              <a:tblGrid>
                <a:gridCol w="1762125"/>
                <a:gridCol w="2857500"/>
                <a:gridCol w="4095750"/>
                <a:gridCol w="2257425"/>
              </a:tblGrid>
              <a:tr h="825500">
                <a:tc>
                  <a:txBody>
                    <a:bodyPr lIns="133350" tIns="133350" rIns="133350" bIns="133350"/>
                    <a:lstStyle/>
                    <a:p>
                      <a:r>
                        <a:rPr sz="2025" b="1">
                          <a:solidFill>
                            <a:srgbClr val="FFFFFF"/>
                          </a:solidFill>
                          <a:latin typeface="Helvetica Neue"/>
                          <a:ea typeface="Helvetica Neue"/>
                          <a:cs typeface="Helvetica Neue"/>
                        </a:rPr>
                        <a:t>Item</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Original</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Available replacement</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Difference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825500">
                <a:tc>
                  <a:txBody>
                    <a:bodyPr lIns="133350" tIns="133350" rIns="133350" bIns="133350"/>
                    <a:lstStyle/>
                    <a:p>
                      <a:r>
                        <a:rPr sz="2025" b="0">
                          <a:solidFill>
                            <a:srgbClr val="102B36"/>
                          </a:solidFill>
                          <a:latin typeface="Helvetica Neue"/>
                          <a:ea typeface="Helvetica Neue"/>
                          <a:cs typeface="Helvetica Neue"/>
                        </a:rPr>
                        <a:t>Keyboard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Linear, RGB</a:t>
                      </a:r>
                    </a:p>
                    <a:p>
                      <a:r>
                        <a:rPr sz="2025" b="0">
                          <a:solidFill>
                            <a:srgbClr val="102B36"/>
                          </a:solidFill>
                          <a:latin typeface="Helvetica Neue"/>
                          <a:ea typeface="Helvetica Neue"/>
                          <a:cs typeface="Helvetica Neue"/>
                        </a:rPr>
                        <a:t>$272.33</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Clicky, no backlight</a:t>
                      </a:r>
                    </a:p>
                    <a:p>
                      <a:r>
                        <a:rPr sz="2025" b="0">
                          <a:solidFill>
                            <a:srgbClr val="102B36"/>
                          </a:solidFill>
                          <a:latin typeface="Helvetica Neue"/>
                          <a:ea typeface="Helvetica Neue"/>
                          <a:cs typeface="Helvetica Neue"/>
                        </a:rPr>
                        <a:t>$269.16</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−$3.17</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825500">
                <a:tc>
                  <a:txBody>
                    <a:bodyPr lIns="133350" tIns="133350" rIns="133350" bIns="133350"/>
                    <a:lstStyle/>
                    <a:p>
                      <a:r>
                        <a:rPr sz="2025" b="0">
                          <a:solidFill>
                            <a:srgbClr val="102B36"/>
                          </a:solidFill>
                          <a:latin typeface="Helvetica Neue"/>
                          <a:ea typeface="Helvetica Neue"/>
                          <a:cs typeface="Helvetica Neue"/>
                        </a:rPr>
                        <a:t>Thermostat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Apple HomeKit</a:t>
                      </a:r>
                    </a:p>
                    <a:p>
                      <a:r>
                        <a:rPr sz="2025" b="0">
                          <a:solidFill>
                            <a:srgbClr val="102B36"/>
                          </a:solidFill>
                          <a:latin typeface="Helvetica Neue"/>
                          <a:ea typeface="Helvetica Neue"/>
                          <a:cs typeface="Helvetica Neue"/>
                        </a:rPr>
                        <a:t>$262.47</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Google Assistant</a:t>
                      </a:r>
                    </a:p>
                    <a:p>
                      <a:r>
                        <a:rPr sz="2025" b="0">
                          <a:solidFill>
                            <a:srgbClr val="102B36"/>
                          </a:solidFill>
                          <a:latin typeface="Helvetica Neue"/>
                          <a:ea typeface="Helvetica Neue"/>
                          <a:cs typeface="Helvetica Neue"/>
                        </a:rPr>
                        <a:t>$249.01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−$13.46</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6B1681B7-3B6A-4FD8-BC4E-75988E86C206}"/>
              </a:ext>
            </a:extLst>
          </p:cNvPr>
          <p:cNvSpPr>
            <a:spLocks xmlns:a="http://schemas.openxmlformats.org/drawingml/2006/main" noGrp="1"/>
          </p:cNvSpPr>
          <p:nvPr/>
        </p:nvSpPr>
        <p:spPr>
          <a:xfrm xmlns:a="http://schemas.openxmlformats.org/drawingml/2006/main">
            <a:off x="628650" y="52006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07B78"/>
                </a:solidFill>
                <a:latin typeface="Helvetica Neue"/>
                <a:ea typeface="Helvetica Neue"/>
                <a:cs typeface="Helvetica Neue"/>
              </a:defRPr>
            </a:defPPr>
            <a:lvl1pPr>
              <a:buNone/>
              <a:defRPr sz="2775" b="1">
                <a:solidFill>
                  <a:srgbClr val="007B78"/>
                </a:solidFill>
                <a:latin typeface="Helvetica Neue"/>
                <a:ea typeface="Helvetica Neue"/>
                <a:cs typeface="Helvetica Neue"/>
              </a:defRPr>
            </a:lvl1pPr>
            <a:lvl2pPr>
              <a:buNone/>
              <a:defRPr sz="2775" b="1">
                <a:solidFill>
                  <a:srgbClr val="007B78"/>
                </a:solidFill>
                <a:latin typeface="Helvetica Neue"/>
                <a:ea typeface="Helvetica Neue"/>
                <a:cs typeface="Helvetica Neue"/>
              </a:defRPr>
            </a:lvl2pPr>
            <a:lvl3pPr>
              <a:buNone/>
              <a:defRPr sz="2775" b="1">
                <a:solidFill>
                  <a:srgbClr val="007B78"/>
                </a:solidFill>
                <a:latin typeface="Helvetica Neue"/>
                <a:ea typeface="Helvetica Neue"/>
                <a:cs typeface="Helvetica Neue"/>
              </a:defRPr>
            </a:lvl3pPr>
            <a:lvl4pPr>
              <a:buNone/>
              <a:defRPr sz="2775" b="1">
                <a:solidFill>
                  <a:srgbClr val="007B78"/>
                </a:solidFill>
                <a:latin typeface="Helvetica Neue"/>
                <a:ea typeface="Helvetica Neue"/>
                <a:cs typeface="Helvetica Neue"/>
              </a:defRPr>
            </a:lvl4pPr>
            <a:lvl5pPr>
              <a:buNone/>
              <a:defRPr sz="2775" b="1">
                <a:solidFill>
                  <a:srgbClr val="007B78"/>
                </a:solidFill>
                <a:latin typeface="Helvetica Neue"/>
                <a:ea typeface="Helvetica Neue"/>
                <a:cs typeface="Helvetica Neue"/>
              </a:defRPr>
            </a:lvl5pPr>
            <a:lvl6pPr>
              <a:buNone/>
              <a:defRPr sz="2775" b="1">
                <a:solidFill>
                  <a:srgbClr val="007B78"/>
                </a:solidFill>
                <a:latin typeface="Helvetica Neue"/>
                <a:ea typeface="Helvetica Neue"/>
                <a:cs typeface="Helvetica Neue"/>
              </a:defRPr>
            </a:lvl6pPr>
            <a:lvl7pPr>
              <a:buNone/>
              <a:defRPr sz="2775" b="1">
                <a:solidFill>
                  <a:srgbClr val="007B78"/>
                </a:solidFill>
                <a:latin typeface="Helvetica Neue"/>
                <a:ea typeface="Helvetica Neue"/>
                <a:cs typeface="Helvetica Neue"/>
              </a:defRPr>
            </a:lvl7pPr>
            <a:lvl8pPr>
              <a:buNone/>
              <a:defRPr sz="2775" b="1">
                <a:solidFill>
                  <a:srgbClr val="007B78"/>
                </a:solidFill>
                <a:latin typeface="Helvetica Neue"/>
                <a:ea typeface="Helvetica Neue"/>
                <a:cs typeface="Helvetica Neue"/>
              </a:defRPr>
            </a:lvl8pPr>
            <a:lvl9pPr>
              <a:buNone/>
              <a:defRPr sz="2775" b="1">
                <a:solidFill>
                  <a:srgbClr val="007B78"/>
                </a:solidFill>
                <a:latin typeface="Helvetica Neue"/>
                <a:ea typeface="Helvetica Neue"/>
                <a:cs typeface="Helvetica Neue"/>
              </a:defRPr>
            </a:lvl9pPr>
          </a:lstStyle>
          <a:p xmlns:a="http://schemas.openxmlformats.org/drawingml/2006/main">
            <a:pPr>
              <a:buNone/>
              <a:defRPr sz="2775" b="1">
                <a:solidFill>
                  <a:srgbClr val="007B78"/>
                </a:solidFill>
                <a:latin typeface="Helvetica Neue"/>
                <a:ea typeface="Helvetica Neue"/>
                <a:cs typeface="Helvetica Neue"/>
              </a:defRPr>
            </a:pPr>
            <a:r>
              <a:rPr sz="2775" b="1">
                <a:solidFill>
                  <a:srgbClr val="007B78"/>
                </a:solidFill>
                <a:latin typeface="Helvetica Neue"/>
                <a:ea typeface="Helvetica Neue"/>
                <a:cs typeface="Helvetica Neue"/>
              </a:rPr>
              <a:t>Combined price difference: −$16.63</a:t>
            </a:r>
          </a:p>
        </p:txBody>
      </p:sp>
      <p:sp>
        <p:nvSpPr>
          <p:cNvPr id="6" name="">
            <a:extLst xmlns:a="http://schemas.openxmlformats.org/drawingml/2006/main">
              <a:ext uri="{FF2B5EF4-FFF2-40B4-BE49-F238E27FC236}">
                <a16:creationId xmlns:a16="http://schemas.microsoft.com/office/drawing/2014/main" id="{82ECBEB2-4B8A-4FFB-B86F-860A5FAB0E32}"/>
              </a:ext>
            </a:extLst>
          </p:cNvPr>
          <p:cNvSpPr>
            <a:spLocks xmlns:a="http://schemas.openxmlformats.org/drawingml/2006/main" noGrp="1"/>
          </p:cNvSpPr>
          <p:nvPr/>
        </p:nvSpPr>
        <p:spPr>
          <a:xfrm xmlns:a="http://schemas.openxmlformats.org/drawingml/2006/main">
            <a:off x="628650" y="5857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0636A"/>
                </a:solidFill>
                <a:latin typeface="Helvetica Neue"/>
                <a:ea typeface="Helvetica Neue"/>
                <a:cs typeface="Helvetica Neue"/>
              </a:defRPr>
            </a:defPPr>
            <a:lvl1pPr>
              <a:buNone/>
              <a:defRPr sz="1800" b="0">
                <a:solidFill>
                  <a:srgbClr val="50636A"/>
                </a:solidFill>
                <a:latin typeface="Helvetica Neue"/>
                <a:ea typeface="Helvetica Neue"/>
                <a:cs typeface="Helvetica Neue"/>
              </a:defRPr>
            </a:lvl1pPr>
            <a:lvl2pPr>
              <a:buNone/>
              <a:defRPr sz="1800" b="0">
                <a:solidFill>
                  <a:srgbClr val="50636A"/>
                </a:solidFill>
                <a:latin typeface="Helvetica Neue"/>
                <a:ea typeface="Helvetica Neue"/>
                <a:cs typeface="Helvetica Neue"/>
              </a:defRPr>
            </a:lvl2pPr>
            <a:lvl3pPr>
              <a:buNone/>
              <a:defRPr sz="1800" b="0">
                <a:solidFill>
                  <a:srgbClr val="50636A"/>
                </a:solidFill>
                <a:latin typeface="Helvetica Neue"/>
                <a:ea typeface="Helvetica Neue"/>
                <a:cs typeface="Helvetica Neue"/>
              </a:defRPr>
            </a:lvl3pPr>
            <a:lvl4pPr>
              <a:buNone/>
              <a:defRPr sz="1800" b="0">
                <a:solidFill>
                  <a:srgbClr val="50636A"/>
                </a:solidFill>
                <a:latin typeface="Helvetica Neue"/>
                <a:ea typeface="Helvetica Neue"/>
                <a:cs typeface="Helvetica Neue"/>
              </a:defRPr>
            </a:lvl4pPr>
            <a:lvl5pPr>
              <a:buNone/>
              <a:defRPr sz="1800" b="0">
                <a:solidFill>
                  <a:srgbClr val="50636A"/>
                </a:solidFill>
                <a:latin typeface="Helvetica Neue"/>
                <a:ea typeface="Helvetica Neue"/>
                <a:cs typeface="Helvetica Neue"/>
              </a:defRPr>
            </a:lvl5pPr>
            <a:lvl6pPr>
              <a:buNone/>
              <a:defRPr sz="1800" b="0">
                <a:solidFill>
                  <a:srgbClr val="50636A"/>
                </a:solidFill>
                <a:latin typeface="Helvetica Neue"/>
                <a:ea typeface="Helvetica Neue"/>
                <a:cs typeface="Helvetica Neue"/>
              </a:defRPr>
            </a:lvl6pPr>
            <a:lvl7pPr>
              <a:buNone/>
              <a:defRPr sz="1800" b="0">
                <a:solidFill>
                  <a:srgbClr val="50636A"/>
                </a:solidFill>
                <a:latin typeface="Helvetica Neue"/>
                <a:ea typeface="Helvetica Neue"/>
                <a:cs typeface="Helvetica Neue"/>
              </a:defRPr>
            </a:lvl7pPr>
            <a:lvl8pPr>
              <a:buNone/>
              <a:defRPr sz="1800" b="0">
                <a:solidFill>
                  <a:srgbClr val="50636A"/>
                </a:solidFill>
                <a:latin typeface="Helvetica Neue"/>
                <a:ea typeface="Helvetica Neue"/>
                <a:cs typeface="Helvetica Neue"/>
              </a:defRPr>
            </a:lvl8pPr>
            <a:lvl9pPr>
              <a:buNone/>
              <a:defRPr sz="1800" b="0">
                <a:solidFill>
                  <a:srgbClr val="50636A"/>
                </a:solidFill>
                <a:latin typeface="Helvetica Neue"/>
                <a:ea typeface="Helvetica Neue"/>
                <a:cs typeface="Helvetica Neue"/>
              </a:defRPr>
            </a:lvl9pPr>
          </a:lstStyle>
          <a:p xmlns:a="http://schemas.openxmlformats.org/drawingml/2006/main">
            <a:pPr>
              <a:buNone/>
              <a:defRPr sz="1800" b="0">
                <a:solidFill>
                  <a:srgbClr val="50636A"/>
                </a:solidFill>
                <a:latin typeface="Helvetica Neue"/>
                <a:ea typeface="Helvetica Neue"/>
                <a:cs typeface="Helvetica Neue"/>
              </a:defRPr>
            </a:pPr>
            <a:r>
              <a:rPr sz="1800" b="0">
                <a:solidFill>
                  <a:srgbClr val="50636A"/>
                </a:solidFill>
                <a:latin typeface="Helvetica Neue"/>
                <a:ea typeface="Helvetica Neue"/>
                <a:cs typeface="Helvetica Neue"/>
              </a:rPr>
              <a:t>The agent should explain both replacements and obtain confirmation.</a:t>
            </a:r>
          </a:p>
        </p:txBody>
      </p:sp>
    </p:spTree>
    <p:extLst>
      <p:ext uri="{BB962C8B-B14F-4D97-AF65-F5344CB8AC3E}">
        <p14:creationId xmlns:p14="http://schemas.microsoft.com/office/powerpoint/2010/main" val="149846753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7421D3-F87D-4EBC-AFC8-7DEBE7FC0638}"/>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08</a:t>
            </a:r>
          </a:p>
        </p:txBody>
      </p:sp>
      <p:sp>
        <p:nvSpPr>
          <p:cNvPr id="2" name="">
            <a:extLst xmlns:a="http://schemas.openxmlformats.org/drawingml/2006/main">
              <a:ext uri="{FF2B5EF4-FFF2-40B4-BE49-F238E27FC236}">
                <a16:creationId xmlns:a16="http://schemas.microsoft.com/office/drawing/2014/main" id="{FAB2E32D-05B2-45B5-8677-7C85B13CCF5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exchange tool call</a:t>
            </a:r>
          </a:p>
        </p:txBody>
      </p:sp>
      <p:sp>
        <p:nvSpPr>
          <p:cNvPr id="3" name="">
            <a:extLst xmlns:a="http://schemas.openxmlformats.org/drawingml/2006/main">
              <a:ext uri="{FF2B5EF4-FFF2-40B4-BE49-F238E27FC236}">
                <a16:creationId xmlns:a16="http://schemas.microsoft.com/office/drawing/2014/main" id="{CD0AADD9-3A55-4336-80C0-474D62383DB2}"/>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One request includes both items and their corresponding replacements</a:t>
            </a:r>
          </a:p>
        </p:txBody>
      </p:sp>
      <p:sp>
        <p:nvSpPr>
          <p:cNvPr id="4" name="">
            <a:extLst xmlns:a="http://schemas.openxmlformats.org/drawingml/2006/main">
              <a:ext uri="{FF2B5EF4-FFF2-40B4-BE49-F238E27FC236}">
                <a16:creationId xmlns:a16="http://schemas.microsoft.com/office/drawing/2014/main" id="{9756E5D8-02E6-4358-B9D0-A10EC92B9A3C}"/>
              </a:ext>
            </a:extLst>
          </p:cNvPr>
          <p:cNvSpPr>
            <a:spLocks xmlns:a="http://schemas.openxmlformats.org/drawingml/2006/main" noGrp="1"/>
          </p:cNvSpPr>
          <p:nvPr/>
        </p:nvSpPr>
        <p:spPr>
          <a:xfrm xmlns:a="http://schemas.openxmlformats.org/drawingml/2006/main">
            <a:off x="628650" y="22002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07B78"/>
                </a:solidFill>
                <a:latin typeface="Helvetica Neue"/>
                <a:ea typeface="Helvetica Neue"/>
                <a:cs typeface="Helvetica Neue"/>
              </a:defRPr>
            </a:defPPr>
            <a:lvl1pPr>
              <a:buNone/>
              <a:defRPr sz="2700" b="1">
                <a:solidFill>
                  <a:srgbClr val="007B78"/>
                </a:solidFill>
                <a:latin typeface="Helvetica Neue"/>
                <a:ea typeface="Helvetica Neue"/>
                <a:cs typeface="Helvetica Neue"/>
              </a:defRPr>
            </a:lvl1pPr>
            <a:lvl2pPr>
              <a:buNone/>
              <a:defRPr sz="2700" b="1">
                <a:solidFill>
                  <a:srgbClr val="007B78"/>
                </a:solidFill>
                <a:latin typeface="Helvetica Neue"/>
                <a:ea typeface="Helvetica Neue"/>
                <a:cs typeface="Helvetica Neue"/>
              </a:defRPr>
            </a:lvl2pPr>
            <a:lvl3pPr>
              <a:buNone/>
              <a:defRPr sz="2700" b="1">
                <a:solidFill>
                  <a:srgbClr val="007B78"/>
                </a:solidFill>
                <a:latin typeface="Helvetica Neue"/>
                <a:ea typeface="Helvetica Neue"/>
                <a:cs typeface="Helvetica Neue"/>
              </a:defRPr>
            </a:lvl3pPr>
            <a:lvl4pPr>
              <a:buNone/>
              <a:defRPr sz="2700" b="1">
                <a:solidFill>
                  <a:srgbClr val="007B78"/>
                </a:solidFill>
                <a:latin typeface="Helvetica Neue"/>
                <a:ea typeface="Helvetica Neue"/>
                <a:cs typeface="Helvetica Neue"/>
              </a:defRPr>
            </a:lvl4pPr>
            <a:lvl5pPr>
              <a:buNone/>
              <a:defRPr sz="2700" b="1">
                <a:solidFill>
                  <a:srgbClr val="007B78"/>
                </a:solidFill>
                <a:latin typeface="Helvetica Neue"/>
                <a:ea typeface="Helvetica Neue"/>
                <a:cs typeface="Helvetica Neue"/>
              </a:defRPr>
            </a:lvl5pPr>
            <a:lvl6pPr>
              <a:buNone/>
              <a:defRPr sz="2700" b="1">
                <a:solidFill>
                  <a:srgbClr val="007B78"/>
                </a:solidFill>
                <a:latin typeface="Helvetica Neue"/>
                <a:ea typeface="Helvetica Neue"/>
                <a:cs typeface="Helvetica Neue"/>
              </a:defRPr>
            </a:lvl6pPr>
            <a:lvl7pPr>
              <a:buNone/>
              <a:defRPr sz="2700" b="1">
                <a:solidFill>
                  <a:srgbClr val="007B78"/>
                </a:solidFill>
                <a:latin typeface="Helvetica Neue"/>
                <a:ea typeface="Helvetica Neue"/>
                <a:cs typeface="Helvetica Neue"/>
              </a:defRPr>
            </a:lvl7pPr>
            <a:lvl8pPr>
              <a:buNone/>
              <a:defRPr sz="2700" b="1">
                <a:solidFill>
                  <a:srgbClr val="007B78"/>
                </a:solidFill>
                <a:latin typeface="Helvetica Neue"/>
                <a:ea typeface="Helvetica Neue"/>
                <a:cs typeface="Helvetica Neue"/>
              </a:defRPr>
            </a:lvl8pPr>
            <a:lvl9pPr>
              <a:buNone/>
              <a:defRPr sz="2700" b="1">
                <a:solidFill>
                  <a:srgbClr val="007B78"/>
                </a:solidFill>
                <a:latin typeface="Helvetica Neue"/>
                <a:ea typeface="Helvetica Neue"/>
                <a:cs typeface="Helvetica Neue"/>
              </a:defRPr>
            </a:lvl9pPr>
          </a:lstStyle>
          <a:p xmlns:a="http://schemas.openxmlformats.org/drawingml/2006/main">
            <a:pPr>
              <a:buNone/>
              <a:defRPr sz="2700" b="1">
                <a:solidFill>
                  <a:srgbClr val="007B78"/>
                </a:solidFill>
                <a:latin typeface="Helvetica Neue"/>
                <a:ea typeface="Helvetica Neue"/>
                <a:cs typeface="Helvetica Neue"/>
              </a:defRPr>
            </a:pPr>
            <a:r>
              <a:rPr sz="2700" b="1">
                <a:solidFill>
                  <a:srgbClr val="007B78"/>
                </a:solidFill>
                <a:latin typeface="Helvetica Neue"/>
                <a:ea typeface="Helvetica Neue"/>
                <a:cs typeface="Helvetica Neue"/>
              </a:rPr>
              <a:t>exchange_delivered_order_items</a:t>
            </a:r>
          </a:p>
        </p:txBody>
      </p:sp>
      <p:sp>
        <p:nvSpPr>
          <p:cNvPr id="5" name="">
            <a:extLst xmlns:a="http://schemas.openxmlformats.org/drawingml/2006/main">
              <a:ext uri="{FF2B5EF4-FFF2-40B4-BE49-F238E27FC236}">
                <a16:creationId xmlns:a16="http://schemas.microsoft.com/office/drawing/2014/main" id="{706E789F-ADE0-46B7-A369-8E3761F0B670}"/>
              </a:ext>
            </a:extLst>
          </p:cNvPr>
          <p:cNvSpPr>
            <a:spLocks xmlns:a="http://schemas.openxmlformats.org/drawingml/2006/main" noGrp="1"/>
          </p:cNvSpPr>
          <p:nvPr/>
        </p:nvSpPr>
        <p:spPr>
          <a:xfrm xmlns:a="http://schemas.openxmlformats.org/drawingml/2006/main">
            <a:off x="628650" y="2962275"/>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02B36"/>
                </a:solidFill>
                <a:latin typeface="Helvetica Neue"/>
                <a:ea typeface="Helvetica Neue"/>
                <a:cs typeface="Helvetica Neue"/>
              </a:defRPr>
            </a:defPPr>
            <a:lvl1pPr>
              <a:buNone/>
              <a:defRPr sz="2250" b="0">
                <a:solidFill>
                  <a:srgbClr val="102B36"/>
                </a:solidFill>
                <a:latin typeface="Helvetica Neue"/>
                <a:ea typeface="Helvetica Neue"/>
                <a:cs typeface="Helvetica Neue"/>
              </a:defRPr>
            </a:lvl1pPr>
            <a:lvl2pPr>
              <a:buNone/>
              <a:defRPr sz="2250" b="0">
                <a:solidFill>
                  <a:srgbClr val="102B36"/>
                </a:solidFill>
                <a:latin typeface="Helvetica Neue"/>
                <a:ea typeface="Helvetica Neue"/>
                <a:cs typeface="Helvetica Neue"/>
              </a:defRPr>
            </a:lvl2pPr>
            <a:lvl3pPr>
              <a:buNone/>
              <a:defRPr sz="2250" b="0">
                <a:solidFill>
                  <a:srgbClr val="102B36"/>
                </a:solidFill>
                <a:latin typeface="Helvetica Neue"/>
                <a:ea typeface="Helvetica Neue"/>
                <a:cs typeface="Helvetica Neue"/>
              </a:defRPr>
            </a:lvl3pPr>
            <a:lvl4pPr>
              <a:buNone/>
              <a:defRPr sz="2250" b="0">
                <a:solidFill>
                  <a:srgbClr val="102B36"/>
                </a:solidFill>
                <a:latin typeface="Helvetica Neue"/>
                <a:ea typeface="Helvetica Neue"/>
                <a:cs typeface="Helvetica Neue"/>
              </a:defRPr>
            </a:lvl4pPr>
            <a:lvl5pPr>
              <a:buNone/>
              <a:defRPr sz="2250" b="0">
                <a:solidFill>
                  <a:srgbClr val="102B36"/>
                </a:solidFill>
                <a:latin typeface="Helvetica Neue"/>
                <a:ea typeface="Helvetica Neue"/>
                <a:cs typeface="Helvetica Neue"/>
              </a:defRPr>
            </a:lvl5pPr>
            <a:lvl6pPr>
              <a:buNone/>
              <a:defRPr sz="2250" b="0">
                <a:solidFill>
                  <a:srgbClr val="102B36"/>
                </a:solidFill>
                <a:latin typeface="Helvetica Neue"/>
                <a:ea typeface="Helvetica Neue"/>
                <a:cs typeface="Helvetica Neue"/>
              </a:defRPr>
            </a:lvl6pPr>
            <a:lvl7pPr>
              <a:buNone/>
              <a:defRPr sz="2250" b="0">
                <a:solidFill>
                  <a:srgbClr val="102B36"/>
                </a:solidFill>
                <a:latin typeface="Helvetica Neue"/>
                <a:ea typeface="Helvetica Neue"/>
                <a:cs typeface="Helvetica Neue"/>
              </a:defRPr>
            </a:lvl7pPr>
            <a:lvl8pPr>
              <a:buNone/>
              <a:defRPr sz="2250" b="0">
                <a:solidFill>
                  <a:srgbClr val="102B36"/>
                </a:solidFill>
                <a:latin typeface="Helvetica Neue"/>
                <a:ea typeface="Helvetica Neue"/>
                <a:cs typeface="Helvetica Neue"/>
              </a:defRPr>
            </a:lvl8pPr>
            <a:lvl9pPr>
              <a:buNone/>
              <a:defRPr sz="2250" b="0">
                <a:solidFill>
                  <a:srgbClr val="102B36"/>
                </a:solidFill>
                <a:latin typeface="Helvetica Neue"/>
                <a:ea typeface="Helvetica Neue"/>
                <a:cs typeface="Helvetica Neue"/>
              </a:defRPr>
            </a:lvl9pPr>
          </a:lstStyle>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order_id:  #W2378156</a:t>
            </a:r>
          </a:p>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item_ids:  [1151293680, 4983901480]</a:t>
            </a:r>
          </a:p>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new_item_ids:  [7706410293, 7747408585]</a:t>
            </a:r>
          </a:p>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payment_method_id:  credit_card_9513926</a:t>
            </a:r>
          </a:p>
        </p:txBody>
      </p:sp>
      <p:sp>
        <p:nvSpPr>
          <p:cNvPr id="6" name="">
            <a:extLst xmlns:a="http://schemas.openxmlformats.org/drawingml/2006/main">
              <a:ext uri="{FF2B5EF4-FFF2-40B4-BE49-F238E27FC236}">
                <a16:creationId xmlns:a16="http://schemas.microsoft.com/office/drawing/2014/main" id="{05B3EE79-21CC-4868-A6C8-04BAB87B852F}"/>
              </a:ext>
            </a:extLst>
          </p:cNvPr>
          <p:cNvSpPr>
            <a:spLocks xmlns:a="http://schemas.openxmlformats.org/drawingml/2006/main" noGrp="1"/>
          </p:cNvSpPr>
          <p:nvPr/>
        </p:nvSpPr>
        <p:spPr>
          <a:xfrm xmlns:a="http://schemas.openxmlformats.org/drawingml/2006/main">
            <a:off x="628650" y="5286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0636A"/>
                </a:solidFill>
                <a:latin typeface="Helvetica Neue"/>
                <a:ea typeface="Helvetica Neue"/>
                <a:cs typeface="Helvetica Neue"/>
              </a:defRPr>
            </a:defPPr>
            <a:lvl1pPr>
              <a:buNone/>
              <a:defRPr sz="2025" b="0">
                <a:solidFill>
                  <a:srgbClr val="50636A"/>
                </a:solidFill>
                <a:latin typeface="Helvetica Neue"/>
                <a:ea typeface="Helvetica Neue"/>
                <a:cs typeface="Helvetica Neue"/>
              </a:defRPr>
            </a:lvl1pPr>
            <a:lvl2pPr>
              <a:buNone/>
              <a:defRPr sz="2025" b="0">
                <a:solidFill>
                  <a:srgbClr val="50636A"/>
                </a:solidFill>
                <a:latin typeface="Helvetica Neue"/>
                <a:ea typeface="Helvetica Neue"/>
                <a:cs typeface="Helvetica Neue"/>
              </a:defRPr>
            </a:lvl2pPr>
            <a:lvl3pPr>
              <a:buNone/>
              <a:defRPr sz="2025" b="0">
                <a:solidFill>
                  <a:srgbClr val="50636A"/>
                </a:solidFill>
                <a:latin typeface="Helvetica Neue"/>
                <a:ea typeface="Helvetica Neue"/>
                <a:cs typeface="Helvetica Neue"/>
              </a:defRPr>
            </a:lvl3pPr>
            <a:lvl4pPr>
              <a:buNone/>
              <a:defRPr sz="2025" b="0">
                <a:solidFill>
                  <a:srgbClr val="50636A"/>
                </a:solidFill>
                <a:latin typeface="Helvetica Neue"/>
                <a:ea typeface="Helvetica Neue"/>
                <a:cs typeface="Helvetica Neue"/>
              </a:defRPr>
            </a:lvl4pPr>
            <a:lvl5pPr>
              <a:buNone/>
              <a:defRPr sz="2025" b="0">
                <a:solidFill>
                  <a:srgbClr val="50636A"/>
                </a:solidFill>
                <a:latin typeface="Helvetica Neue"/>
                <a:ea typeface="Helvetica Neue"/>
                <a:cs typeface="Helvetica Neue"/>
              </a:defRPr>
            </a:lvl5pPr>
            <a:lvl6pPr>
              <a:buNone/>
              <a:defRPr sz="2025" b="0">
                <a:solidFill>
                  <a:srgbClr val="50636A"/>
                </a:solidFill>
                <a:latin typeface="Helvetica Neue"/>
                <a:ea typeface="Helvetica Neue"/>
                <a:cs typeface="Helvetica Neue"/>
              </a:defRPr>
            </a:lvl6pPr>
            <a:lvl7pPr>
              <a:buNone/>
              <a:defRPr sz="2025" b="0">
                <a:solidFill>
                  <a:srgbClr val="50636A"/>
                </a:solidFill>
                <a:latin typeface="Helvetica Neue"/>
                <a:ea typeface="Helvetica Neue"/>
                <a:cs typeface="Helvetica Neue"/>
              </a:defRPr>
            </a:lvl7pPr>
            <a:lvl8pPr>
              <a:buNone/>
              <a:defRPr sz="2025" b="0">
                <a:solidFill>
                  <a:srgbClr val="50636A"/>
                </a:solidFill>
                <a:latin typeface="Helvetica Neue"/>
                <a:ea typeface="Helvetica Neue"/>
                <a:cs typeface="Helvetica Neue"/>
              </a:defRPr>
            </a:lvl8pPr>
            <a:lvl9pPr>
              <a:buNone/>
              <a:defRPr sz="2025" b="0">
                <a:solidFill>
                  <a:srgbClr val="50636A"/>
                </a:solidFill>
                <a:latin typeface="Helvetica Neue"/>
                <a:ea typeface="Helvetica Neue"/>
                <a:cs typeface="Helvetica Neue"/>
              </a:defRPr>
            </a:lvl9pPr>
          </a:lstStyle>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The tool checks order status, item membership, replacement availability</a:t>
            </a:r>
          </a:p>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and the payment method before changing state.</a:t>
            </a:r>
          </a:p>
        </p:txBody>
      </p:sp>
    </p:spTree>
    <p:extLst>
      <p:ext uri="{BB962C8B-B14F-4D97-AF65-F5344CB8AC3E}">
        <p14:creationId xmlns:p14="http://schemas.microsoft.com/office/powerpoint/2010/main" val="2060661427"/>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C6B34D-FFCE-41A4-AEE1-BFE56A14BE6C}"/>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09</a:t>
            </a:r>
          </a:p>
        </p:txBody>
      </p:sp>
      <p:sp>
        <p:nvSpPr>
          <p:cNvPr id="2" name="">
            <a:extLst xmlns:a="http://schemas.openxmlformats.org/drawingml/2006/main">
              <a:ext uri="{FF2B5EF4-FFF2-40B4-BE49-F238E27FC236}">
                <a16:creationId xmlns:a16="http://schemas.microsoft.com/office/drawing/2014/main" id="{74CBEB56-1AE2-419F-B079-2B28940A46C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environment records an exchange request</a:t>
            </a:r>
          </a:p>
        </p:txBody>
      </p:sp>
      <p:sp>
        <p:nvSpPr>
          <p:cNvPr id="3" name="">
            <a:extLst xmlns:a="http://schemas.openxmlformats.org/drawingml/2006/main">
              <a:ext uri="{FF2B5EF4-FFF2-40B4-BE49-F238E27FC236}">
                <a16:creationId xmlns:a16="http://schemas.microsoft.com/office/drawing/2014/main" id="{26623FA2-8404-40B5-AE70-B601C85A99A0}"/>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write changes order fields rather than completing fulfillment</a:t>
            </a:r>
          </a:p>
        </p:txBody>
      </p:sp>
      <p:graphicFrame>
        <p:nvGraphicFramePr>
          <p:cNvPr id="4" name="">
            <a:extLst xmlns:a="http://schemas.openxmlformats.org/drawingml/2006/main">
              <a:ext uri="{FF2B5EF4-FFF2-40B4-BE49-F238E27FC236}">
                <a16:creationId xmlns:a16="http://schemas.microsoft.com/office/drawing/2014/main" id="{AF256303-EBD3-49A2-9E8E-ADB218533CD3}"/>
              </a:ext>
            </a:extLst>
          </p:cNvPr>
          <p:cNvGraphicFramePr/>
          <p:nvPr/>
        </p:nvGraphicFramePr>
        <p:xfrm>
          <a:off xmlns:a="http://schemas.openxmlformats.org/drawingml/2006/main" x="609600" y="2133600"/>
          <a:ext xmlns:a="http://schemas.openxmlformats.org/drawingml/2006/main" cx="10972800" cy="3333750"/>
        </p:xfrm>
        <a:graphic xmlns:a="http://schemas.openxmlformats.org/drawingml/2006/main">
          <a:graphicData uri="http://schemas.openxmlformats.org/drawingml/2006/table">
            <a:tbl>
              <a:tblPr/>
              <a:tblGrid>
                <a:gridCol w="4286250"/>
                <a:gridCol w="2190750"/>
                <a:gridCol w="4495800"/>
              </a:tblGrid>
              <a:tr h="666750">
                <a:tc>
                  <a:txBody>
                    <a:bodyPr lIns="133350" tIns="133350" rIns="133350" bIns="133350"/>
                    <a:lstStyle/>
                    <a:p>
                      <a:r>
                        <a:rPr sz="1875" b="1">
                          <a:solidFill>
                            <a:srgbClr val="FFFFFF"/>
                          </a:solidFill>
                          <a:latin typeface="Helvetica Neue"/>
                          <a:ea typeface="Helvetica Neue"/>
                          <a:cs typeface="Helvetica Neue"/>
                        </a:rPr>
                        <a:t>Field</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875" b="1">
                          <a:solidFill>
                            <a:srgbClr val="FFFFFF"/>
                          </a:solidFill>
                          <a:latin typeface="Helvetica Neue"/>
                          <a:ea typeface="Helvetica Neue"/>
                          <a:cs typeface="Helvetica Neue"/>
                        </a:rPr>
                        <a:t>Before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875" b="1">
                          <a:solidFill>
                            <a:srgbClr val="FFFFFF"/>
                          </a:solidFill>
                          <a:latin typeface="Helvetica Neue"/>
                          <a:ea typeface="Helvetica Neue"/>
                          <a:cs typeface="Helvetica Neue"/>
                        </a:rPr>
                        <a:t>After</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875" b="0">
                          <a:solidFill>
                            <a:srgbClr val="102B36"/>
                          </a:solidFill>
                          <a:latin typeface="Helvetica Neue"/>
                          <a:ea typeface="Helvetica Neue"/>
                          <a:cs typeface="Helvetica Neue"/>
                        </a:rPr>
                        <a:t>status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delivered</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exchange requested</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875" b="0">
                          <a:solidFill>
                            <a:srgbClr val="102B36"/>
                          </a:solidFill>
                          <a:latin typeface="Helvetica Neue"/>
                          <a:ea typeface="Helvetica Neue"/>
                          <a:cs typeface="Helvetica Neue"/>
                        </a:rPr>
                        <a:t>exchange_items /</a:t>
                      </a:r>
                    </a:p>
                    <a:p>
                      <a:r>
                        <a:rPr sz="1875" b="0">
                          <a:solidFill>
                            <a:srgbClr val="102B36"/>
                          </a:solidFill>
                          <a:latin typeface="Helvetica Neue"/>
                          <a:ea typeface="Helvetica Neue"/>
                          <a:cs typeface="Helvetica Neue"/>
                        </a:rPr>
                        <a:t>exchange_new_items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Both original and replacement item IDs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875" b="0">
                          <a:solidFill>
                            <a:srgbClr val="102B36"/>
                          </a:solidFill>
                          <a:latin typeface="Helvetica Neue"/>
                          <a:ea typeface="Helvetica Neue"/>
                          <a:cs typeface="Helvetica Neue"/>
                        </a:rPr>
                        <a:t>exchange_payment_method_id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credit_card_9513926</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875" b="0">
                          <a:solidFill>
                            <a:srgbClr val="102B36"/>
                          </a:solidFill>
                          <a:latin typeface="Helvetica Neue"/>
                          <a:ea typeface="Helvetica Neue"/>
                          <a:cs typeface="Helvetica Neue"/>
                        </a:rPr>
                        <a:t>exchange_price_difference</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−16.63</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D84B02C5-ECCF-4615-8024-88C18D58BB94}"/>
              </a:ext>
            </a:extLst>
          </p:cNvPr>
          <p:cNvSpPr>
            <a:spLocks xmlns:a="http://schemas.openxmlformats.org/drawingml/2006/main" noGrp="1"/>
          </p:cNvSpPr>
          <p:nvPr/>
        </p:nvSpPr>
        <p:spPr>
          <a:xfrm xmlns:a="http://schemas.openxmlformats.org/drawingml/2006/main">
            <a:off x="62865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B78"/>
                </a:solidFill>
                <a:latin typeface="Helvetica Neue"/>
                <a:ea typeface="Helvetica Neue"/>
                <a:cs typeface="Helvetica Neue"/>
              </a:defRPr>
            </a:defPPr>
            <a:lvl1pPr>
              <a:buNone/>
              <a:defRPr sz="2175" b="1">
                <a:solidFill>
                  <a:srgbClr val="007B78"/>
                </a:solidFill>
                <a:latin typeface="Helvetica Neue"/>
                <a:ea typeface="Helvetica Neue"/>
                <a:cs typeface="Helvetica Neue"/>
              </a:defRPr>
            </a:lvl1pPr>
            <a:lvl2pPr>
              <a:buNone/>
              <a:defRPr sz="2175" b="1">
                <a:solidFill>
                  <a:srgbClr val="007B78"/>
                </a:solidFill>
                <a:latin typeface="Helvetica Neue"/>
                <a:ea typeface="Helvetica Neue"/>
                <a:cs typeface="Helvetica Neue"/>
              </a:defRPr>
            </a:lvl2pPr>
            <a:lvl3pPr>
              <a:buNone/>
              <a:defRPr sz="2175" b="1">
                <a:solidFill>
                  <a:srgbClr val="007B78"/>
                </a:solidFill>
                <a:latin typeface="Helvetica Neue"/>
                <a:ea typeface="Helvetica Neue"/>
                <a:cs typeface="Helvetica Neue"/>
              </a:defRPr>
            </a:lvl3pPr>
            <a:lvl4pPr>
              <a:buNone/>
              <a:defRPr sz="2175" b="1">
                <a:solidFill>
                  <a:srgbClr val="007B78"/>
                </a:solidFill>
                <a:latin typeface="Helvetica Neue"/>
                <a:ea typeface="Helvetica Neue"/>
                <a:cs typeface="Helvetica Neue"/>
              </a:defRPr>
            </a:lvl4pPr>
            <a:lvl5pPr>
              <a:buNone/>
              <a:defRPr sz="2175" b="1">
                <a:solidFill>
                  <a:srgbClr val="007B78"/>
                </a:solidFill>
                <a:latin typeface="Helvetica Neue"/>
                <a:ea typeface="Helvetica Neue"/>
                <a:cs typeface="Helvetica Neue"/>
              </a:defRPr>
            </a:lvl5pPr>
            <a:lvl6pPr>
              <a:buNone/>
              <a:defRPr sz="2175" b="1">
                <a:solidFill>
                  <a:srgbClr val="007B78"/>
                </a:solidFill>
                <a:latin typeface="Helvetica Neue"/>
                <a:ea typeface="Helvetica Neue"/>
                <a:cs typeface="Helvetica Neue"/>
              </a:defRPr>
            </a:lvl6pPr>
            <a:lvl7pPr>
              <a:buNone/>
              <a:defRPr sz="2175" b="1">
                <a:solidFill>
                  <a:srgbClr val="007B78"/>
                </a:solidFill>
                <a:latin typeface="Helvetica Neue"/>
                <a:ea typeface="Helvetica Neue"/>
                <a:cs typeface="Helvetica Neue"/>
              </a:defRPr>
            </a:lvl7pPr>
            <a:lvl8pPr>
              <a:buNone/>
              <a:defRPr sz="2175" b="1">
                <a:solidFill>
                  <a:srgbClr val="007B78"/>
                </a:solidFill>
                <a:latin typeface="Helvetica Neue"/>
                <a:ea typeface="Helvetica Neue"/>
                <a:cs typeface="Helvetica Neue"/>
              </a:defRPr>
            </a:lvl8pPr>
            <a:lvl9pPr>
              <a:buNone/>
              <a:defRPr sz="2175" b="1">
                <a:solidFill>
                  <a:srgbClr val="007B78"/>
                </a:solidFill>
                <a:latin typeface="Helvetica Neue"/>
                <a:ea typeface="Helvetica Neue"/>
                <a:cs typeface="Helvetica Neue"/>
              </a:defRPr>
            </a:lvl9pPr>
          </a:lstStyle>
          <a:p xmlns:a="http://schemas.openxmlformats.org/drawingml/2006/main">
            <a:pPr>
              <a:buNone/>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A second exchange call fails the delivered-status check.</a:t>
            </a:r>
          </a:p>
        </p:txBody>
      </p:sp>
    </p:spTree>
    <p:extLst>
      <p:ext uri="{BB962C8B-B14F-4D97-AF65-F5344CB8AC3E}">
        <p14:creationId xmlns:p14="http://schemas.microsoft.com/office/powerpoint/2010/main" val="64143424"/>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A4E1294-5DA9-4746-B457-D47FC39C7BE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10</a:t>
            </a:r>
          </a:p>
        </p:txBody>
      </p:sp>
      <p:sp>
        <p:nvSpPr>
          <p:cNvPr id="2" name="">
            <a:extLst xmlns:a="http://schemas.openxmlformats.org/drawingml/2006/main">
              <a:ext uri="{FF2B5EF4-FFF2-40B4-BE49-F238E27FC236}">
                <a16:creationId xmlns:a16="http://schemas.microsoft.com/office/drawing/2014/main" id="{80A6BBDA-18BA-4EBB-BCBF-7D2F1CAD02C4}"/>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Final-state scoring</a:t>
            </a:r>
          </a:p>
        </p:txBody>
      </p:sp>
      <p:sp>
        <p:nvSpPr>
          <p:cNvPr id="3" name="">
            <a:extLst xmlns:a="http://schemas.openxmlformats.org/drawingml/2006/main">
              <a:ext uri="{FF2B5EF4-FFF2-40B4-BE49-F238E27FC236}">
                <a16:creationId xmlns:a16="http://schemas.microsoft.com/office/drawing/2014/main" id="{5791E204-4AF6-4C5B-8785-92FFB37FFB4B}"/>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evaluator builds an actual state and a reference state independently</a:t>
            </a:r>
          </a:p>
        </p:txBody>
      </p:sp>
      <p:sp>
        <p:nvSpPr>
          <p:cNvPr id="4" name="">
            <a:extLst xmlns:a="http://schemas.openxmlformats.org/drawingml/2006/main">
              <a:ext uri="{FF2B5EF4-FFF2-40B4-BE49-F238E27FC236}">
                <a16:creationId xmlns:a16="http://schemas.microsoft.com/office/drawing/2014/main" id="{E70CF35A-E9CE-4F02-8F89-9623FFEFB118}"/>
              </a:ext>
            </a:extLst>
          </p:cNvPr>
          <p:cNvSpPr>
            <a:spLocks xmlns:a="http://schemas.openxmlformats.org/drawingml/2006/main" noGrp="1"/>
          </p:cNvSpPr>
          <p:nvPr/>
        </p:nvSpPr>
        <p:spPr>
          <a:xfrm xmlns:a="http://schemas.openxmlformats.org/drawingml/2006/main">
            <a:off x="609600" y="2133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1F4F7A58-2E5D-47C7-A3A7-42A77B9D1E5A}"/>
              </a:ext>
            </a:extLst>
          </p:cNvPr>
          <p:cNvSpPr>
            <a:spLocks xmlns:a="http://schemas.openxmlformats.org/drawingml/2006/main" noGrp="1"/>
          </p:cNvSpPr>
          <p:nvPr/>
        </p:nvSpPr>
        <p:spPr>
          <a:xfrm xmlns:a="http://schemas.openxmlformats.org/drawingml/2006/main">
            <a:off x="1352550" y="21336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Reconstruct the actual state</a:t>
            </a:r>
          </a:p>
        </p:txBody>
      </p:sp>
      <p:sp>
        <p:nvSpPr>
          <p:cNvPr id="6" name="">
            <a:extLst xmlns:a="http://schemas.openxmlformats.org/drawingml/2006/main">
              <a:ext uri="{FF2B5EF4-FFF2-40B4-BE49-F238E27FC236}">
                <a16:creationId xmlns:a16="http://schemas.microsoft.com/office/drawing/2014/main" id="{78675BA5-6A26-442F-A4CC-5BF4A0D92A21}"/>
              </a:ext>
            </a:extLst>
          </p:cNvPr>
          <p:cNvSpPr>
            <a:spLocks xmlns:a="http://schemas.openxmlformats.org/drawingml/2006/main" noGrp="1"/>
          </p:cNvSpPr>
          <p:nvPr/>
        </p:nvSpPr>
        <p:spPr>
          <a:xfrm xmlns:a="http://schemas.openxmlformats.org/drawingml/2006/main">
            <a:off x="1352550" y="26003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Create a fresh environment and replay recorded state-changing calls.</a:t>
            </a:r>
          </a:p>
        </p:txBody>
      </p:sp>
      <p:sp>
        <p:nvSpPr>
          <p:cNvPr id="7" name="">
            <a:extLst xmlns:a="http://schemas.openxmlformats.org/drawingml/2006/main">
              <a:ext uri="{FF2B5EF4-FFF2-40B4-BE49-F238E27FC236}">
                <a16:creationId xmlns:a16="http://schemas.microsoft.com/office/drawing/2014/main" id="{4290609B-18CB-4DE7-A29B-8B573AC6BAD1}"/>
              </a:ext>
            </a:extLst>
          </p:cNvPr>
          <p:cNvSpPr>
            <a:spLocks xmlns:a="http://schemas.openxmlformats.org/drawingml/2006/main" noGrp="1"/>
          </p:cNvSpPr>
          <p:nvPr/>
        </p:nvSpPr>
        <p:spPr>
          <a:xfrm xmlns:a="http://schemas.openxmlformats.org/drawingml/2006/main">
            <a:off x="609600" y="3371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C6CACBE0-F816-46C6-8D3D-59A4329ECC7A}"/>
              </a:ext>
            </a:extLst>
          </p:cNvPr>
          <p:cNvSpPr>
            <a:spLocks xmlns:a="http://schemas.openxmlformats.org/drawingml/2006/main" noGrp="1"/>
          </p:cNvSpPr>
          <p:nvPr/>
        </p:nvSpPr>
        <p:spPr>
          <a:xfrm xmlns:a="http://schemas.openxmlformats.org/drawingml/2006/main">
            <a:off x="1352550" y="337185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Construct the reference state</a:t>
            </a:r>
          </a:p>
        </p:txBody>
      </p:sp>
      <p:sp>
        <p:nvSpPr>
          <p:cNvPr id="9" name="">
            <a:extLst xmlns:a="http://schemas.openxmlformats.org/drawingml/2006/main">
              <a:ext uri="{FF2B5EF4-FFF2-40B4-BE49-F238E27FC236}">
                <a16:creationId xmlns:a16="http://schemas.microsoft.com/office/drawing/2014/main" id="{787E022F-5710-4B30-8599-4034BBC11841}"/>
              </a:ext>
            </a:extLst>
          </p:cNvPr>
          <p:cNvSpPr>
            <a:spLocks xmlns:a="http://schemas.openxmlformats.org/drawingml/2006/main" noGrp="1"/>
          </p:cNvSpPr>
          <p:nvPr/>
        </p:nvSpPr>
        <p:spPr>
          <a:xfrm xmlns:a="http://schemas.openxmlformats.org/drawingml/2006/main">
            <a:off x="1352550" y="38385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Create another fresh environment and execute the reference actions.</a:t>
            </a:r>
          </a:p>
        </p:txBody>
      </p:sp>
      <p:sp>
        <p:nvSpPr>
          <p:cNvPr id="10" name="">
            <a:extLst xmlns:a="http://schemas.openxmlformats.org/drawingml/2006/main">
              <a:ext uri="{FF2B5EF4-FFF2-40B4-BE49-F238E27FC236}">
                <a16:creationId xmlns:a16="http://schemas.microsoft.com/office/drawing/2014/main" id="{1A60DD0A-3453-4C3C-8349-440CBB6848A3}"/>
              </a:ext>
            </a:extLst>
          </p:cNvPr>
          <p:cNvSpPr>
            <a:spLocks xmlns:a="http://schemas.openxmlformats.org/drawingml/2006/main" noGrp="1"/>
          </p:cNvSpPr>
          <p:nvPr/>
        </p:nvSpPr>
        <p:spPr>
          <a:xfrm xmlns:a="http://schemas.openxmlformats.org/drawingml/2006/main">
            <a:off x="609600" y="46101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2F38D267-363A-4ABE-B91D-69EE05A3D40C}"/>
              </a:ext>
            </a:extLst>
          </p:cNvPr>
          <p:cNvSpPr>
            <a:spLocks xmlns:a="http://schemas.openxmlformats.org/drawingml/2006/main" noGrp="1"/>
          </p:cNvSpPr>
          <p:nvPr/>
        </p:nvSpPr>
        <p:spPr>
          <a:xfrm xmlns:a="http://schemas.openxmlformats.org/drawingml/2006/main">
            <a:off x="1352550" y="46101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Compare database hashes</a:t>
            </a:r>
          </a:p>
        </p:txBody>
      </p:sp>
      <p:sp>
        <p:nvSpPr>
          <p:cNvPr id="12" name="">
            <a:extLst xmlns:a="http://schemas.openxmlformats.org/drawingml/2006/main">
              <a:ext uri="{FF2B5EF4-FFF2-40B4-BE49-F238E27FC236}">
                <a16:creationId xmlns:a16="http://schemas.microsoft.com/office/drawing/2014/main" id="{39535981-15AE-4764-98FD-A6D60541E962}"/>
              </a:ext>
            </a:extLst>
          </p:cNvPr>
          <p:cNvSpPr>
            <a:spLocks xmlns:a="http://schemas.openxmlformats.org/drawingml/2006/main" noGrp="1"/>
          </p:cNvSpPr>
          <p:nvPr/>
        </p:nvSpPr>
        <p:spPr>
          <a:xfrm xmlns:a="http://schemas.openxmlformats.org/drawingml/2006/main">
            <a:off x="1352550" y="50768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For task 0, empty NL assertions contribute 1. Normal completion leaves DB as the deciding score.</a:t>
            </a:r>
          </a:p>
        </p:txBody>
      </p:sp>
    </p:spTree>
    <p:extLst>
      <p:ext uri="{BB962C8B-B14F-4D97-AF65-F5344CB8AC3E}">
        <p14:creationId xmlns:p14="http://schemas.microsoft.com/office/powerpoint/2010/main" val="1685458490"/>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52FA8D-D6CC-4C6A-ABEE-A979EEE5068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11</a:t>
            </a:r>
          </a:p>
        </p:txBody>
      </p:sp>
      <p:sp>
        <p:nvSpPr>
          <p:cNvPr id="2" name="">
            <a:extLst xmlns:a="http://schemas.openxmlformats.org/drawingml/2006/main">
              <a:ext uri="{FF2B5EF4-FFF2-40B4-BE49-F238E27FC236}">
                <a16:creationId xmlns:a16="http://schemas.microsoft.com/office/drawing/2014/main" id="{68C8F166-985E-4296-9021-B2770D2B4A09}"/>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correct final state can hide a process violation</a:t>
            </a:r>
          </a:p>
        </p:txBody>
      </p:sp>
      <p:sp>
        <p:nvSpPr>
          <p:cNvPr id="3" name="">
            <a:extLst xmlns:a="http://schemas.openxmlformats.org/drawingml/2006/main">
              <a:ext uri="{FF2B5EF4-FFF2-40B4-BE49-F238E27FC236}">
                <a16:creationId xmlns:a16="http://schemas.microsoft.com/office/drawing/2014/main" id="{32CC05A9-29D3-4237-9444-30319AA66AA5}"/>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Hypothetical comparison: identical final states, different confirmation behavior</a:t>
            </a:r>
          </a:p>
        </p:txBody>
      </p:sp>
      <p:graphicFrame>
        <p:nvGraphicFramePr>
          <p:cNvPr id="4" name="">
            <a:extLst xmlns:a="http://schemas.openxmlformats.org/drawingml/2006/main">
              <a:ext uri="{FF2B5EF4-FFF2-40B4-BE49-F238E27FC236}">
                <a16:creationId xmlns:a16="http://schemas.microsoft.com/office/drawing/2014/main" id="{D332F21D-9CB6-4650-A74A-2D3433221126}"/>
              </a:ext>
            </a:extLst>
          </p:cNvPr>
          <p:cNvGraphicFramePr/>
          <p:nvPr/>
        </p:nvGraphicFramePr>
        <p:xfrm>
          <a:off xmlns:a="http://schemas.openxmlformats.org/drawingml/2006/main" x="609600" y="2162175"/>
          <a:ext xmlns:a="http://schemas.openxmlformats.org/drawingml/2006/main" cx="10972800" cy="3333750"/>
        </p:xfrm>
        <a:graphic xmlns:a="http://schemas.openxmlformats.org/drawingml/2006/main">
          <a:graphicData uri="http://schemas.openxmlformats.org/drawingml/2006/table">
            <a:tbl>
              <a:tblPr/>
              <a:tblGrid>
                <a:gridCol w="6096000"/>
                <a:gridCol w="2438400"/>
                <a:gridCol w="2438400"/>
              </a:tblGrid>
              <a:tr h="666750">
                <a:tc>
                  <a:txBody>
                    <a:bodyPr lIns="133350" tIns="133350" rIns="133350" bIns="133350"/>
                    <a:lstStyle/>
                    <a:p>
                      <a:r>
                        <a:rPr sz="2025" b="1">
                          <a:solidFill>
                            <a:srgbClr val="FFFFFF"/>
                          </a:solidFill>
                          <a:latin typeface="Helvetica Neue"/>
                          <a:ea typeface="Helvetica Neue"/>
                          <a:cs typeface="Helvetica Neue"/>
                        </a:rPr>
                        <a:t>Evidence</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Agent A</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Agent B</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2025" b="0">
                          <a:solidFill>
                            <a:srgbClr val="102B36"/>
                          </a:solidFill>
                          <a:latin typeface="Helvetica Neue"/>
                          <a:ea typeface="Helvetica Neue"/>
                          <a:cs typeface="Helvetica Neue"/>
                        </a:rPr>
                        <a:t>Correct exchange request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2025" b="0">
                          <a:solidFill>
                            <a:srgbClr val="102B36"/>
                          </a:solidFill>
                          <a:latin typeface="Helvetica Neue"/>
                          <a:ea typeface="Helvetica Neue"/>
                          <a:cs typeface="Helvetica Neue"/>
                        </a:rPr>
                        <a:t>Explicit customer confirmation</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Skipped</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2025" b="0">
                          <a:solidFill>
                            <a:srgbClr val="102B36"/>
                          </a:solidFill>
                          <a:latin typeface="Helvetica Neue"/>
                          <a:ea typeface="Helvetica Neue"/>
                          <a:cs typeface="Helvetica Neue"/>
                        </a:rPr>
                        <a:t>Final database matches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2025" b="0">
                          <a:solidFill>
                            <a:srgbClr val="102B36"/>
                          </a:solidFill>
                          <a:latin typeface="Helvetica Neue"/>
                          <a:ea typeface="Helvetica Neue"/>
                          <a:cs typeface="Helvetica Neue"/>
                        </a:rPr>
                        <a:t>Task 0 reward, if normally completed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21A7764F-017D-42B5-B927-66CA0AFA074F}"/>
              </a:ext>
            </a:extLst>
          </p:cNvPr>
          <p:cNvSpPr>
            <a:spLocks xmlns:a="http://schemas.openxmlformats.org/drawingml/2006/main" noGrp="1"/>
          </p:cNvSpPr>
          <p:nvPr/>
        </p:nvSpPr>
        <p:spPr>
          <a:xfrm xmlns:a="http://schemas.openxmlformats.org/drawingml/2006/main">
            <a:off x="628650" y="57912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B78"/>
                </a:solidFill>
                <a:latin typeface="Helvetica Neue"/>
                <a:ea typeface="Helvetica Neue"/>
                <a:cs typeface="Helvetica Neue"/>
              </a:defRPr>
            </a:defPPr>
            <a:lvl1pPr>
              <a:buNone/>
              <a:defRPr sz="2025" b="1">
                <a:solidFill>
                  <a:srgbClr val="007B78"/>
                </a:solidFill>
                <a:latin typeface="Helvetica Neue"/>
                <a:ea typeface="Helvetica Neue"/>
                <a:cs typeface="Helvetica Neue"/>
              </a:defRPr>
            </a:lvl1pPr>
            <a:lvl2pPr>
              <a:buNone/>
              <a:defRPr sz="2025" b="1">
                <a:solidFill>
                  <a:srgbClr val="007B78"/>
                </a:solidFill>
                <a:latin typeface="Helvetica Neue"/>
                <a:ea typeface="Helvetica Neue"/>
                <a:cs typeface="Helvetica Neue"/>
              </a:defRPr>
            </a:lvl2pPr>
            <a:lvl3pPr>
              <a:buNone/>
              <a:defRPr sz="2025" b="1">
                <a:solidFill>
                  <a:srgbClr val="007B78"/>
                </a:solidFill>
                <a:latin typeface="Helvetica Neue"/>
                <a:ea typeface="Helvetica Neue"/>
                <a:cs typeface="Helvetica Neue"/>
              </a:defRPr>
            </a:lvl3pPr>
            <a:lvl4pPr>
              <a:buNone/>
              <a:defRPr sz="2025" b="1">
                <a:solidFill>
                  <a:srgbClr val="007B78"/>
                </a:solidFill>
                <a:latin typeface="Helvetica Neue"/>
                <a:ea typeface="Helvetica Neue"/>
                <a:cs typeface="Helvetica Neue"/>
              </a:defRPr>
            </a:lvl4pPr>
            <a:lvl5pPr>
              <a:buNone/>
              <a:defRPr sz="2025" b="1">
                <a:solidFill>
                  <a:srgbClr val="007B78"/>
                </a:solidFill>
                <a:latin typeface="Helvetica Neue"/>
                <a:ea typeface="Helvetica Neue"/>
                <a:cs typeface="Helvetica Neue"/>
              </a:defRPr>
            </a:lvl5pPr>
            <a:lvl6pPr>
              <a:buNone/>
              <a:defRPr sz="2025" b="1">
                <a:solidFill>
                  <a:srgbClr val="007B78"/>
                </a:solidFill>
                <a:latin typeface="Helvetica Neue"/>
                <a:ea typeface="Helvetica Neue"/>
                <a:cs typeface="Helvetica Neue"/>
              </a:defRPr>
            </a:lvl6pPr>
            <a:lvl7pPr>
              <a:buNone/>
              <a:defRPr sz="2025" b="1">
                <a:solidFill>
                  <a:srgbClr val="007B78"/>
                </a:solidFill>
                <a:latin typeface="Helvetica Neue"/>
                <a:ea typeface="Helvetica Neue"/>
                <a:cs typeface="Helvetica Neue"/>
              </a:defRPr>
            </a:lvl7pPr>
            <a:lvl8pPr>
              <a:buNone/>
              <a:defRPr sz="2025" b="1">
                <a:solidFill>
                  <a:srgbClr val="007B78"/>
                </a:solidFill>
                <a:latin typeface="Helvetica Neue"/>
                <a:ea typeface="Helvetica Neue"/>
                <a:cs typeface="Helvetica Neue"/>
              </a:defRPr>
            </a:lvl8pPr>
            <a:lvl9pPr>
              <a:buNone/>
              <a:defRPr sz="2025" b="1">
                <a:solidFill>
                  <a:srgbClr val="007B78"/>
                </a:solidFill>
                <a:latin typeface="Helvetica Neue"/>
                <a:ea typeface="Helvetica Neue"/>
                <a:cs typeface="Helvetica Neue"/>
              </a:defRPr>
            </a:lvl9pPr>
          </a:lstStyle>
          <a:p xmlns:a="http://schemas.openxmlformats.org/drawingml/2006/main">
            <a:pPr>
              <a:buNone/>
              <a:defRPr sz="2025" b="1">
                <a:solidFill>
                  <a:srgbClr val="007B78"/>
                </a:solidFill>
                <a:latin typeface="Helvetica Neue"/>
                <a:ea typeface="Helvetica Neue"/>
                <a:cs typeface="Helvetica Neue"/>
              </a:defRPr>
            </a:pPr>
            <a:r>
              <a:rPr sz="2025" b="1">
                <a:solidFill>
                  <a:srgbClr val="007B78"/>
                </a:solidFill>
                <a:latin typeface="Helvetica Neue"/>
                <a:ea typeface="Helvetica Neue"/>
                <a:cs typeface="Helvetica Neue"/>
              </a:rPr>
              <a:t>A policy requirement affects reward only when the task checks it.</a:t>
            </a:r>
          </a:p>
        </p:txBody>
      </p:sp>
    </p:spTree>
    <p:extLst>
      <p:ext uri="{BB962C8B-B14F-4D97-AF65-F5344CB8AC3E}">
        <p14:creationId xmlns:p14="http://schemas.microsoft.com/office/powerpoint/2010/main" val="592863113"/>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367B3C-4A22-4F4E-8200-A4606B8F7FC2}"/>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12</a:t>
            </a:r>
          </a:p>
        </p:txBody>
      </p:sp>
      <p:sp>
        <p:nvSpPr>
          <p:cNvPr id="2" name="">
            <a:extLst xmlns:a="http://schemas.openxmlformats.org/drawingml/2006/main">
              <a:ext uri="{FF2B5EF4-FFF2-40B4-BE49-F238E27FC236}">
                <a16:creationId xmlns:a16="http://schemas.microsoft.com/office/drawing/2014/main" id="{0A86C8C4-B5A8-4902-BCF9-6D32744ADC6F}"/>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Connecting a different agent</a:t>
            </a:r>
          </a:p>
        </p:txBody>
      </p:sp>
      <p:sp>
        <p:nvSpPr>
          <p:cNvPr id="3" name="">
            <a:extLst xmlns:a="http://schemas.openxmlformats.org/drawingml/2006/main">
              <a:ext uri="{FF2B5EF4-FFF2-40B4-BE49-F238E27FC236}">
                <a16:creationId xmlns:a16="http://schemas.microsoft.com/office/drawing/2014/main" id="{FE8D4A54-C671-445D-86CD-A20C18454E3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interface keeps the task environment independent of agent internals</a:t>
            </a:r>
          </a:p>
        </p:txBody>
      </p:sp>
      <p:graphicFrame>
        <p:nvGraphicFramePr>
          <p:cNvPr id="4" name="">
            <a:extLst xmlns:a="http://schemas.openxmlformats.org/drawingml/2006/main">
              <a:ext uri="{FF2B5EF4-FFF2-40B4-BE49-F238E27FC236}">
                <a16:creationId xmlns:a16="http://schemas.microsoft.com/office/drawing/2014/main" id="{12D8C470-501C-4E76-86C2-1CCFCDECCDCB}"/>
              </a:ext>
            </a:extLst>
          </p:cNvPr>
          <p:cNvGraphicFramePr/>
          <p:nvPr/>
        </p:nvGraphicFramePr>
        <p:xfrm>
          <a:off xmlns:a="http://schemas.openxmlformats.org/drawingml/2006/main" x="609600" y="2124075"/>
          <a:ext xmlns:a="http://schemas.openxmlformats.org/drawingml/2006/main" cx="10972800" cy="3333750"/>
        </p:xfrm>
        <a:graphic xmlns:a="http://schemas.openxmlformats.org/drawingml/2006/main">
          <a:graphicData uri="http://schemas.openxmlformats.org/drawingml/2006/table">
            <a:tbl>
              <a:tblPr/>
              <a:tblGrid>
                <a:gridCol w="3810000"/>
                <a:gridCol w="7162800"/>
              </a:tblGrid>
              <a:tr h="666750">
                <a:tc>
                  <a:txBody>
                    <a:bodyPr lIns="133350" tIns="133350" rIns="133350" bIns="133350"/>
                    <a:lstStyle/>
                    <a:p>
                      <a:r>
                        <a:rPr sz="1950" b="1">
                          <a:solidFill>
                            <a:srgbClr val="FFFFFF"/>
                          </a:solidFill>
                          <a:latin typeface="Helvetica Neue"/>
                          <a:ea typeface="Helvetica Neue"/>
                          <a:cs typeface="Helvetica Neue"/>
                        </a:rPr>
                        <a:t>Integration point</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What it provides</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950" b="0">
                          <a:solidFill>
                            <a:srgbClr val="102B36"/>
                          </a:solidFill>
                          <a:latin typeface="Helvetica Neue"/>
                          <a:ea typeface="Helvetica Neue"/>
                          <a:cs typeface="Helvetica Neue"/>
                        </a:rPr>
                        <a:t>HalfDuplexAgent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Receives user or tool messages and returns AssistantMessage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State methods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get_init_state() and generate_next_message()</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950" b="0">
                          <a:solidFill>
                            <a:srgbClr val="102B36"/>
                          </a:solidFill>
                          <a:latin typeface="Helvetica Neue"/>
                          <a:ea typeface="Helvetica Neue"/>
                          <a:cs typeface="Helvetica Neue"/>
                        </a:rPr>
                        <a:t>Registry factory</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Creates the chosen agent with tools and domain policy</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Gym / A2A experiment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Step-based control or an external service adapter</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33C1BCBB-B5FC-498C-95DF-C8A619030F7B}"/>
              </a:ext>
            </a:extLst>
          </p:cNvPr>
          <p:cNvSpPr>
            <a:spLocks xmlns:a="http://schemas.openxmlformats.org/drawingml/2006/main" noGrp="1"/>
          </p:cNvSpPr>
          <p:nvPr/>
        </p:nvSpPr>
        <p:spPr>
          <a:xfrm xmlns:a="http://schemas.openxmlformats.org/drawingml/2006/main">
            <a:off x="628650" y="57912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B78"/>
                </a:solidFill>
                <a:latin typeface="Helvetica Neue"/>
                <a:ea typeface="Helvetica Neue"/>
                <a:cs typeface="Helvetica Neue"/>
              </a:defRPr>
            </a:defPPr>
            <a:lvl1pPr>
              <a:buNone/>
              <a:defRPr sz="2025" b="1">
                <a:solidFill>
                  <a:srgbClr val="007B78"/>
                </a:solidFill>
                <a:latin typeface="Helvetica Neue"/>
                <a:ea typeface="Helvetica Neue"/>
                <a:cs typeface="Helvetica Neue"/>
              </a:defRPr>
            </a:lvl1pPr>
            <a:lvl2pPr>
              <a:buNone/>
              <a:defRPr sz="2025" b="1">
                <a:solidFill>
                  <a:srgbClr val="007B78"/>
                </a:solidFill>
                <a:latin typeface="Helvetica Neue"/>
                <a:ea typeface="Helvetica Neue"/>
                <a:cs typeface="Helvetica Neue"/>
              </a:defRPr>
            </a:lvl2pPr>
            <a:lvl3pPr>
              <a:buNone/>
              <a:defRPr sz="2025" b="1">
                <a:solidFill>
                  <a:srgbClr val="007B78"/>
                </a:solidFill>
                <a:latin typeface="Helvetica Neue"/>
                <a:ea typeface="Helvetica Neue"/>
                <a:cs typeface="Helvetica Neue"/>
              </a:defRPr>
            </a:lvl3pPr>
            <a:lvl4pPr>
              <a:buNone/>
              <a:defRPr sz="2025" b="1">
                <a:solidFill>
                  <a:srgbClr val="007B78"/>
                </a:solidFill>
                <a:latin typeface="Helvetica Neue"/>
                <a:ea typeface="Helvetica Neue"/>
                <a:cs typeface="Helvetica Neue"/>
              </a:defRPr>
            </a:lvl4pPr>
            <a:lvl5pPr>
              <a:buNone/>
              <a:defRPr sz="2025" b="1">
                <a:solidFill>
                  <a:srgbClr val="007B78"/>
                </a:solidFill>
                <a:latin typeface="Helvetica Neue"/>
                <a:ea typeface="Helvetica Neue"/>
                <a:cs typeface="Helvetica Neue"/>
              </a:defRPr>
            </a:lvl5pPr>
            <a:lvl6pPr>
              <a:buNone/>
              <a:defRPr sz="2025" b="1">
                <a:solidFill>
                  <a:srgbClr val="007B78"/>
                </a:solidFill>
                <a:latin typeface="Helvetica Neue"/>
                <a:ea typeface="Helvetica Neue"/>
                <a:cs typeface="Helvetica Neue"/>
              </a:defRPr>
            </a:lvl6pPr>
            <a:lvl7pPr>
              <a:buNone/>
              <a:defRPr sz="2025" b="1">
                <a:solidFill>
                  <a:srgbClr val="007B78"/>
                </a:solidFill>
                <a:latin typeface="Helvetica Neue"/>
                <a:ea typeface="Helvetica Neue"/>
                <a:cs typeface="Helvetica Neue"/>
              </a:defRPr>
            </a:lvl7pPr>
            <a:lvl8pPr>
              <a:buNone/>
              <a:defRPr sz="2025" b="1">
                <a:solidFill>
                  <a:srgbClr val="007B78"/>
                </a:solidFill>
                <a:latin typeface="Helvetica Neue"/>
                <a:ea typeface="Helvetica Neue"/>
                <a:cs typeface="Helvetica Neue"/>
              </a:defRPr>
            </a:lvl8pPr>
            <a:lvl9pPr>
              <a:buNone/>
              <a:defRPr sz="2025" b="1">
                <a:solidFill>
                  <a:srgbClr val="007B78"/>
                </a:solidFill>
                <a:latin typeface="Helvetica Neue"/>
                <a:ea typeface="Helvetica Neue"/>
                <a:cs typeface="Helvetica Neue"/>
              </a:defRPr>
            </a:lvl9pPr>
          </a:lstStyle>
          <a:p xmlns:a="http://schemas.openxmlformats.org/drawingml/2006/main">
            <a:pPr>
              <a:buNone/>
              <a:defRPr sz="2025" b="1">
                <a:solidFill>
                  <a:srgbClr val="007B78"/>
                </a:solidFill>
                <a:latin typeface="Helvetica Neue"/>
                <a:ea typeface="Helvetica Neue"/>
                <a:cs typeface="Helvetica Neue"/>
              </a:defRPr>
            </a:pPr>
            <a:r>
              <a:rPr sz="2025" b="1">
                <a:solidFill>
                  <a:srgbClr val="007B78"/>
                </a:solidFill>
                <a:latin typeface="Helvetica Neue"/>
                <a:ea typeface="Helvetica Neue"/>
                <a:cs typeface="Helvetica Neue"/>
              </a:rPr>
              <a:t>External agents still need to follow a tool and message contract.</a:t>
            </a:r>
          </a:p>
        </p:txBody>
      </p:sp>
    </p:spTree>
    <p:extLst>
      <p:ext uri="{BB962C8B-B14F-4D97-AF65-F5344CB8AC3E}">
        <p14:creationId xmlns:p14="http://schemas.microsoft.com/office/powerpoint/2010/main" val="1839198548"/>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18E20D-07B9-4DF1-BF01-317EA21139B3}"/>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13</a:t>
            </a:r>
          </a:p>
        </p:txBody>
      </p:sp>
      <p:sp>
        <p:nvSpPr>
          <p:cNvPr id="2" name="">
            <a:extLst xmlns:a="http://schemas.openxmlformats.org/drawingml/2006/main">
              <a:ext uri="{FF2B5EF4-FFF2-40B4-BE49-F238E27FC236}">
                <a16:creationId xmlns:a16="http://schemas.microsoft.com/office/drawing/2014/main" id="{A36FD48D-2FE7-4C70-8401-7A4768B2FFE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Reliability across repeated trials</a:t>
            </a:r>
          </a:p>
        </p:txBody>
      </p:sp>
      <p:sp>
        <p:nvSpPr>
          <p:cNvPr id="3" name="">
            <a:extLst xmlns:a="http://schemas.openxmlformats.org/drawingml/2006/main">
              <a:ext uri="{FF2B5EF4-FFF2-40B4-BE49-F238E27FC236}">
                <a16:creationId xmlns:a16="http://schemas.microsoft.com/office/drawing/2014/main" id="{D5CCE7FA-679E-4B86-B7CB-9050AF4CF37C}"/>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Illustrative example: one task succeeds in 3 of 4 trials</a:t>
            </a:r>
          </a:p>
        </p:txBody>
      </p:sp>
      <p:graphicFrame>
        <p:nvGraphicFramePr>
          <p:cNvPr id="4" name="">
            <a:extLst xmlns:a="http://schemas.openxmlformats.org/drawingml/2006/main">
              <a:ext uri="{FF2B5EF4-FFF2-40B4-BE49-F238E27FC236}">
                <a16:creationId xmlns:a16="http://schemas.microsoft.com/office/drawing/2014/main" id="{35226808-CC64-4F48-BE7A-414449C5DAA2}"/>
              </a:ext>
            </a:extLst>
          </p:cNvPr>
          <p:cNvGraphicFramePr/>
          <p:nvPr/>
        </p:nvGraphicFramePr>
        <p:xfrm>
          <a:off xmlns:a="http://schemas.openxmlformats.org/drawingml/2006/main" x="609600" y="2124075"/>
          <a:ext xmlns:a="http://schemas.openxmlformats.org/drawingml/2006/main" cx="10972800" cy="2857500"/>
        </p:xfrm>
        <a:graphic xmlns:a="http://schemas.openxmlformats.org/drawingml/2006/main">
          <a:graphicData uri="http://schemas.openxmlformats.org/drawingml/2006/table">
            <a:tbl>
              <a:tblPr/>
              <a:tblGrid>
                <a:gridCol w="6000750"/>
                <a:gridCol w="4972050"/>
              </a:tblGrid>
              <a:tr h="571500">
                <a:tc>
                  <a:txBody>
                    <a:bodyPr lIns="133350" tIns="133350" rIns="133350" bIns="133350"/>
                    <a:lstStyle/>
                    <a:p>
                      <a:r>
                        <a:rPr sz="1950" b="1">
                          <a:solidFill>
                            <a:srgbClr val="FFFFFF"/>
                          </a:solidFill>
                          <a:latin typeface="Helvetica Neue"/>
                          <a:ea typeface="Helvetica Neue"/>
                          <a:cs typeface="Helvetica Neue"/>
                        </a:rPr>
                        <a:t>Metric</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Estimate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571500">
                <a:tc>
                  <a:txBody>
                    <a:bodyPr lIns="133350" tIns="133350" rIns="133350" bIns="133350"/>
                    <a:lstStyle/>
                    <a:p>
                      <a:r>
                        <a:rPr sz="1950" b="0">
                          <a:solidFill>
                            <a:srgbClr val="102B36"/>
                          </a:solidFill>
                          <a:latin typeface="Helvetica Neue"/>
                          <a:ea typeface="Helvetica Neue"/>
                          <a:cs typeface="Helvetica Neue"/>
                        </a:rPr>
                        <a:t>pass^1: one sampled trial succeeds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3 / 4 = 0.75</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571500">
                <a:tc>
                  <a:txBody>
                    <a:bodyPr lIns="133350" tIns="133350" rIns="133350" bIns="133350"/>
                    <a:lstStyle/>
                    <a:p>
                      <a:r>
                        <a:rPr sz="1950" b="0">
                          <a:solidFill>
                            <a:srgbClr val="102B36"/>
                          </a:solidFill>
                          <a:latin typeface="Helvetica Neue"/>
                          <a:ea typeface="Helvetica Neue"/>
                          <a:cs typeface="Helvetica Neue"/>
                        </a:rPr>
                        <a:t>pass^2: both sampled trials succeed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3 / 6 = 0.50</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571500">
                <a:tc>
                  <a:txBody>
                    <a:bodyPr lIns="133350" tIns="133350" rIns="133350" bIns="133350"/>
                    <a:lstStyle/>
                    <a:p>
                      <a:r>
                        <a:rPr sz="1950" b="0">
                          <a:solidFill>
                            <a:srgbClr val="102B36"/>
                          </a:solidFill>
                          <a:latin typeface="Helvetica Neue"/>
                          <a:ea typeface="Helvetica Neue"/>
                          <a:cs typeface="Helvetica Neue"/>
                        </a:rPr>
                        <a:t>pass^3: all three sampled trials succeed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1 / 4 = 0.25</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571500">
                <a:tc>
                  <a:txBody>
                    <a:bodyPr lIns="133350" tIns="133350" rIns="133350" bIns="133350"/>
                    <a:lstStyle/>
                    <a:p>
                      <a:r>
                        <a:rPr sz="1950" b="0">
                          <a:solidFill>
                            <a:srgbClr val="102B36"/>
                          </a:solidFill>
                          <a:latin typeface="Helvetica Neue"/>
                          <a:ea typeface="Helvetica Neue"/>
                          <a:cs typeface="Helvetica Neue"/>
                        </a:rPr>
                        <a:t>pass^4: all four trials succeed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0 / 1 = 0.00</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72921CD1-7219-4890-A5F2-2226CC644285}"/>
              </a:ext>
            </a:extLst>
          </p:cNvPr>
          <p:cNvSpPr>
            <a:spLocks xmlns:a="http://schemas.openxmlformats.org/drawingml/2006/main" noGrp="1"/>
          </p:cNvSpPr>
          <p:nvPr/>
        </p:nvSpPr>
        <p:spPr>
          <a:xfrm xmlns:a="http://schemas.openxmlformats.org/drawingml/2006/main">
            <a:off x="628650" y="5305425"/>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07B78"/>
                </a:solidFill>
                <a:latin typeface="Helvetica Neue"/>
                <a:ea typeface="Helvetica Neue"/>
                <a:cs typeface="Helvetica Neue"/>
              </a:defRPr>
            </a:defPPr>
            <a:lvl1pPr>
              <a:buNone/>
              <a:defRPr sz="2250" b="1">
                <a:solidFill>
                  <a:srgbClr val="007B78"/>
                </a:solidFill>
                <a:latin typeface="Helvetica Neue"/>
                <a:ea typeface="Helvetica Neue"/>
                <a:cs typeface="Helvetica Neue"/>
              </a:defRPr>
            </a:lvl1pPr>
            <a:lvl2pPr>
              <a:buNone/>
              <a:defRPr sz="2250" b="1">
                <a:solidFill>
                  <a:srgbClr val="007B78"/>
                </a:solidFill>
                <a:latin typeface="Helvetica Neue"/>
                <a:ea typeface="Helvetica Neue"/>
                <a:cs typeface="Helvetica Neue"/>
              </a:defRPr>
            </a:lvl2pPr>
            <a:lvl3pPr>
              <a:buNone/>
              <a:defRPr sz="2250" b="1">
                <a:solidFill>
                  <a:srgbClr val="007B78"/>
                </a:solidFill>
                <a:latin typeface="Helvetica Neue"/>
                <a:ea typeface="Helvetica Neue"/>
                <a:cs typeface="Helvetica Neue"/>
              </a:defRPr>
            </a:lvl3pPr>
            <a:lvl4pPr>
              <a:buNone/>
              <a:defRPr sz="2250" b="1">
                <a:solidFill>
                  <a:srgbClr val="007B78"/>
                </a:solidFill>
                <a:latin typeface="Helvetica Neue"/>
                <a:ea typeface="Helvetica Neue"/>
                <a:cs typeface="Helvetica Neue"/>
              </a:defRPr>
            </a:lvl4pPr>
            <a:lvl5pPr>
              <a:buNone/>
              <a:defRPr sz="2250" b="1">
                <a:solidFill>
                  <a:srgbClr val="007B78"/>
                </a:solidFill>
                <a:latin typeface="Helvetica Neue"/>
                <a:ea typeface="Helvetica Neue"/>
                <a:cs typeface="Helvetica Neue"/>
              </a:defRPr>
            </a:lvl5pPr>
            <a:lvl6pPr>
              <a:buNone/>
              <a:defRPr sz="2250" b="1">
                <a:solidFill>
                  <a:srgbClr val="007B78"/>
                </a:solidFill>
                <a:latin typeface="Helvetica Neue"/>
                <a:ea typeface="Helvetica Neue"/>
                <a:cs typeface="Helvetica Neue"/>
              </a:defRPr>
            </a:lvl6pPr>
            <a:lvl7pPr>
              <a:buNone/>
              <a:defRPr sz="2250" b="1">
                <a:solidFill>
                  <a:srgbClr val="007B78"/>
                </a:solidFill>
                <a:latin typeface="Helvetica Neue"/>
                <a:ea typeface="Helvetica Neue"/>
                <a:cs typeface="Helvetica Neue"/>
              </a:defRPr>
            </a:lvl7pPr>
            <a:lvl8pPr>
              <a:buNone/>
              <a:defRPr sz="2250" b="1">
                <a:solidFill>
                  <a:srgbClr val="007B78"/>
                </a:solidFill>
                <a:latin typeface="Helvetica Neue"/>
                <a:ea typeface="Helvetica Neue"/>
                <a:cs typeface="Helvetica Neue"/>
              </a:defRPr>
            </a:lvl8pPr>
            <a:lvl9pPr>
              <a:buNone/>
              <a:defRPr sz="2250" b="1">
                <a:solidFill>
                  <a:srgbClr val="007B78"/>
                </a:solidFill>
                <a:latin typeface="Helvetica Neue"/>
                <a:ea typeface="Helvetica Neue"/>
                <a:cs typeface="Helvetica Neue"/>
              </a:defRPr>
            </a:lvl9pPr>
          </a:lstStyle>
          <a:p xmlns:a="http://schemas.openxmlformats.org/drawingml/2006/main">
            <a:pPr>
              <a:buNone/>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pass^k = C(c, k) / C(n, k)</a:t>
            </a:r>
          </a:p>
          <a:p xmlns:a="http://schemas.openxmlformats.org/drawingml/2006/main">
            <a:pPr>
              <a:buNone/>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Compute per task, then average.</a:t>
            </a:r>
          </a:p>
        </p:txBody>
      </p:sp>
      <p:sp>
        <p:nvSpPr>
          <p:cNvPr id="6" name="">
            <a:extLst xmlns:a="http://schemas.openxmlformats.org/drawingml/2006/main">
              <a:ext uri="{FF2B5EF4-FFF2-40B4-BE49-F238E27FC236}">
                <a16:creationId xmlns:a16="http://schemas.microsoft.com/office/drawing/2014/main" id="{CD3E804E-262E-4F17-8DCC-301A9040DACD}"/>
              </a:ext>
            </a:extLst>
          </p:cNvPr>
          <p:cNvSpPr>
            <a:spLocks xmlns:a="http://schemas.openxmlformats.org/drawingml/2006/main" noGrp="1"/>
          </p:cNvSpPr>
          <p:nvPr/>
        </p:nvSpPr>
        <p:spPr>
          <a:xfrm xmlns:a="http://schemas.openxmlformats.org/drawingml/2006/main">
            <a:off x="6762750" y="5305425"/>
            <a:ext cx="4857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0636A"/>
                </a:solidFill>
                <a:latin typeface="Helvetica Neue"/>
                <a:ea typeface="Helvetica Neue"/>
                <a:cs typeface="Helvetica Neue"/>
              </a:defRPr>
            </a:defPPr>
            <a:lvl1pPr>
              <a:buNone/>
              <a:defRPr sz="1950" b="0">
                <a:solidFill>
                  <a:srgbClr val="50636A"/>
                </a:solidFill>
                <a:latin typeface="Helvetica Neue"/>
                <a:ea typeface="Helvetica Neue"/>
                <a:cs typeface="Helvetica Neue"/>
              </a:defRPr>
            </a:lvl1pPr>
            <a:lvl2pPr>
              <a:buNone/>
              <a:defRPr sz="1950" b="0">
                <a:solidFill>
                  <a:srgbClr val="50636A"/>
                </a:solidFill>
                <a:latin typeface="Helvetica Neue"/>
                <a:ea typeface="Helvetica Neue"/>
                <a:cs typeface="Helvetica Neue"/>
              </a:defRPr>
            </a:lvl2pPr>
            <a:lvl3pPr>
              <a:buNone/>
              <a:defRPr sz="1950" b="0">
                <a:solidFill>
                  <a:srgbClr val="50636A"/>
                </a:solidFill>
                <a:latin typeface="Helvetica Neue"/>
                <a:ea typeface="Helvetica Neue"/>
                <a:cs typeface="Helvetica Neue"/>
              </a:defRPr>
            </a:lvl3pPr>
            <a:lvl4pPr>
              <a:buNone/>
              <a:defRPr sz="1950" b="0">
                <a:solidFill>
                  <a:srgbClr val="50636A"/>
                </a:solidFill>
                <a:latin typeface="Helvetica Neue"/>
                <a:ea typeface="Helvetica Neue"/>
                <a:cs typeface="Helvetica Neue"/>
              </a:defRPr>
            </a:lvl4pPr>
            <a:lvl5pPr>
              <a:buNone/>
              <a:defRPr sz="1950" b="0">
                <a:solidFill>
                  <a:srgbClr val="50636A"/>
                </a:solidFill>
                <a:latin typeface="Helvetica Neue"/>
                <a:ea typeface="Helvetica Neue"/>
                <a:cs typeface="Helvetica Neue"/>
              </a:defRPr>
            </a:lvl5pPr>
            <a:lvl6pPr>
              <a:buNone/>
              <a:defRPr sz="1950" b="0">
                <a:solidFill>
                  <a:srgbClr val="50636A"/>
                </a:solidFill>
                <a:latin typeface="Helvetica Neue"/>
                <a:ea typeface="Helvetica Neue"/>
                <a:cs typeface="Helvetica Neue"/>
              </a:defRPr>
            </a:lvl6pPr>
            <a:lvl7pPr>
              <a:buNone/>
              <a:defRPr sz="1950" b="0">
                <a:solidFill>
                  <a:srgbClr val="50636A"/>
                </a:solidFill>
                <a:latin typeface="Helvetica Neue"/>
                <a:ea typeface="Helvetica Neue"/>
                <a:cs typeface="Helvetica Neue"/>
              </a:defRPr>
            </a:lvl7pPr>
            <a:lvl8pPr>
              <a:buNone/>
              <a:defRPr sz="1950" b="0">
                <a:solidFill>
                  <a:srgbClr val="50636A"/>
                </a:solidFill>
                <a:latin typeface="Helvetica Neue"/>
                <a:ea typeface="Helvetica Neue"/>
                <a:cs typeface="Helvetica Neue"/>
              </a:defRPr>
            </a:lvl8pPr>
            <a:lvl9pPr>
              <a:buNone/>
              <a:defRPr sz="1950" b="0">
                <a:solidFill>
                  <a:srgbClr val="50636A"/>
                </a:solidFill>
                <a:latin typeface="Helvetica Neue"/>
                <a:ea typeface="Helvetica Neue"/>
                <a:cs typeface="Helvetica Neue"/>
              </a:defRPr>
            </a:lvl9pPr>
          </a:lstStyle>
          <a:p xmlns:a="http://schemas.openxmlformats.org/drawingml/2006/main">
            <a:pPr>
              <a:buNone/>
              <a:defRPr sz="1950" b="0">
                <a:solidFill>
                  <a:srgbClr val="50636A"/>
                </a:solidFill>
                <a:latin typeface="Helvetica Neue"/>
                <a:ea typeface="Helvetica Neue"/>
                <a:cs typeface="Helvetica Neue"/>
              </a:defRPr>
            </a:pPr>
            <a:r>
              <a:rPr sz="1950" b="0">
                <a:solidFill>
                  <a:srgbClr val="50636A"/>
                </a:solidFill>
                <a:latin typeface="Helvetica Neue"/>
                <a:ea typeface="Helvetica Neue"/>
                <a:cs typeface="Helvetica Neue"/>
              </a:rPr>
              <a:t>pass@k asks whether at least</a:t>
            </a:r>
          </a:p>
          <a:p xmlns:a="http://schemas.openxmlformats.org/drawingml/2006/main">
            <a:pPr>
              <a:buNone/>
              <a:defRPr sz="1950" b="0">
                <a:solidFill>
                  <a:srgbClr val="50636A"/>
                </a:solidFill>
                <a:latin typeface="Helvetica Neue"/>
                <a:ea typeface="Helvetica Neue"/>
                <a:cs typeface="Helvetica Neue"/>
              </a:defRPr>
            </a:pPr>
            <a:r>
              <a:rPr sz="1950" b="0">
                <a:solidFill>
                  <a:srgbClr val="50636A"/>
                </a:solidFill>
                <a:latin typeface="Helvetica Neue"/>
                <a:ea typeface="Helvetica Neue"/>
                <a:cs typeface="Helvetica Neue"/>
              </a:rPr>
              <a:t>one of k attempts succeeds.</a:t>
            </a:r>
          </a:p>
        </p:txBody>
      </p:sp>
    </p:spTree>
    <p:extLst>
      <p:ext uri="{BB962C8B-B14F-4D97-AF65-F5344CB8AC3E}">
        <p14:creationId xmlns:p14="http://schemas.microsoft.com/office/powerpoint/2010/main" val="1309048321"/>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9EE36C1-E23B-4710-B38C-EA705BB37593}"/>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14</a:t>
            </a:r>
          </a:p>
        </p:txBody>
      </p:sp>
      <p:sp>
        <p:nvSpPr>
          <p:cNvPr id="2" name="">
            <a:extLst xmlns:a="http://schemas.openxmlformats.org/drawingml/2006/main">
              <a:ext uri="{FF2B5EF4-FFF2-40B4-BE49-F238E27FC236}">
                <a16:creationId xmlns:a16="http://schemas.microsoft.com/office/drawing/2014/main" id="{7BF36CE5-23F7-462D-95D9-0F8989676B0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Capabilities and boundaries</a:t>
            </a:r>
          </a:p>
        </p:txBody>
      </p:sp>
      <p:sp>
        <p:nvSpPr>
          <p:cNvPr id="3" name="">
            <a:extLst xmlns:a="http://schemas.openxmlformats.org/drawingml/2006/main">
              <a:ext uri="{FF2B5EF4-FFF2-40B4-BE49-F238E27FC236}">
                <a16:creationId xmlns:a16="http://schemas.microsoft.com/office/drawing/2014/main" id="{DC73F0C7-16F1-49BF-A5E3-FD8FFF770722}"/>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framework is extensible, while each domain defines a narrower test</a:t>
            </a:r>
          </a:p>
        </p:txBody>
      </p:sp>
      <p:sp>
        <p:nvSpPr>
          <p:cNvPr id="4" name="">
            <a:extLst xmlns:a="http://schemas.openxmlformats.org/drawingml/2006/main">
              <a:ext uri="{FF2B5EF4-FFF2-40B4-BE49-F238E27FC236}">
                <a16:creationId xmlns:a16="http://schemas.microsoft.com/office/drawing/2014/main" id="{01EB4222-4041-410F-8AAB-046ADF4D6EBD}"/>
              </a:ext>
            </a:extLst>
          </p:cNvPr>
          <p:cNvSpPr>
            <a:spLocks xmlns:a="http://schemas.openxmlformats.org/drawingml/2006/main" noGrp="1"/>
          </p:cNvSpPr>
          <p:nvPr/>
        </p:nvSpPr>
        <p:spPr>
          <a:xfrm xmlns:a="http://schemas.openxmlformats.org/drawingml/2006/main">
            <a:off x="609600" y="2133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53D90C9A-20E3-4579-92B7-F14304150713}"/>
              </a:ext>
            </a:extLst>
          </p:cNvPr>
          <p:cNvSpPr>
            <a:spLocks xmlns:a="http://schemas.openxmlformats.org/drawingml/2006/main" noGrp="1"/>
          </p:cNvSpPr>
          <p:nvPr/>
        </p:nvSpPr>
        <p:spPr>
          <a:xfrm xmlns:a="http://schemas.openxmlformats.org/drawingml/2006/main">
            <a:off x="1352550" y="21336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A reusable evaluation loop</a:t>
            </a:r>
          </a:p>
        </p:txBody>
      </p:sp>
      <p:sp>
        <p:nvSpPr>
          <p:cNvPr id="6" name="">
            <a:extLst xmlns:a="http://schemas.openxmlformats.org/drawingml/2006/main">
              <a:ext uri="{FF2B5EF4-FFF2-40B4-BE49-F238E27FC236}">
                <a16:creationId xmlns:a16="http://schemas.microsoft.com/office/drawing/2014/main" id="{8CB394DA-5155-4BE4-8306-1894E2AB4EA7}"/>
              </a:ext>
            </a:extLst>
          </p:cNvPr>
          <p:cNvSpPr>
            <a:spLocks xmlns:a="http://schemas.openxmlformats.org/drawingml/2006/main" noGrp="1"/>
          </p:cNvSpPr>
          <p:nvPr/>
        </p:nvSpPr>
        <p:spPr>
          <a:xfrm xmlns:a="http://schemas.openxmlformats.org/drawingml/2006/main">
            <a:off x="1352550" y="26003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Tasks, users, agents and tools have separate interfaces.</a:t>
            </a:r>
          </a:p>
        </p:txBody>
      </p:sp>
      <p:sp>
        <p:nvSpPr>
          <p:cNvPr id="7" name="">
            <a:extLst xmlns:a="http://schemas.openxmlformats.org/drawingml/2006/main">
              <a:ext uri="{FF2B5EF4-FFF2-40B4-BE49-F238E27FC236}">
                <a16:creationId xmlns:a16="http://schemas.microsoft.com/office/drawing/2014/main" id="{52B52729-1F2B-4FD5-A052-03EB12A55727}"/>
              </a:ext>
            </a:extLst>
          </p:cNvPr>
          <p:cNvSpPr>
            <a:spLocks xmlns:a="http://schemas.openxmlformats.org/drawingml/2006/main" noGrp="1"/>
          </p:cNvSpPr>
          <p:nvPr/>
        </p:nvSpPr>
        <p:spPr>
          <a:xfrm xmlns:a="http://schemas.openxmlformats.org/drawingml/2006/main">
            <a:off x="609600" y="3371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AF5037FB-08B7-4908-844A-69A136514212}"/>
              </a:ext>
            </a:extLst>
          </p:cNvPr>
          <p:cNvSpPr>
            <a:spLocks xmlns:a="http://schemas.openxmlformats.org/drawingml/2006/main" noGrp="1"/>
          </p:cNvSpPr>
          <p:nvPr/>
        </p:nvSpPr>
        <p:spPr>
          <a:xfrm xmlns:a="http://schemas.openxmlformats.org/drawingml/2006/main">
            <a:off x="1352550" y="337185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Task-specific grading</a:t>
            </a:r>
          </a:p>
        </p:txBody>
      </p:sp>
      <p:sp>
        <p:nvSpPr>
          <p:cNvPr id="9" name="">
            <a:extLst xmlns:a="http://schemas.openxmlformats.org/drawingml/2006/main">
              <a:ext uri="{FF2B5EF4-FFF2-40B4-BE49-F238E27FC236}">
                <a16:creationId xmlns:a16="http://schemas.microsoft.com/office/drawing/2014/main" id="{BC8D4CFB-FB8A-4EF2-A76F-4B06807DD465}"/>
              </a:ext>
            </a:extLst>
          </p:cNvPr>
          <p:cNvSpPr>
            <a:spLocks xmlns:a="http://schemas.openxmlformats.org/drawingml/2006/main" noGrp="1"/>
          </p:cNvSpPr>
          <p:nvPr/>
        </p:nvSpPr>
        <p:spPr>
          <a:xfrm xmlns:a="http://schemas.openxmlformats.org/drawingml/2006/main">
            <a:off x="1352550" y="38385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DB, action and language checks cover only the criteria a task enables.</a:t>
            </a:r>
          </a:p>
        </p:txBody>
      </p:sp>
      <p:sp>
        <p:nvSpPr>
          <p:cNvPr id="10" name="">
            <a:extLst xmlns:a="http://schemas.openxmlformats.org/drawingml/2006/main">
              <a:ext uri="{FF2B5EF4-FFF2-40B4-BE49-F238E27FC236}">
                <a16:creationId xmlns:a16="http://schemas.microsoft.com/office/drawing/2014/main" id="{D87731D9-D0F8-41C3-A433-43E59DBD1383}"/>
              </a:ext>
            </a:extLst>
          </p:cNvPr>
          <p:cNvSpPr>
            <a:spLocks xmlns:a="http://schemas.openxmlformats.org/drawingml/2006/main" noGrp="1"/>
          </p:cNvSpPr>
          <p:nvPr/>
        </p:nvSpPr>
        <p:spPr>
          <a:xfrm xmlns:a="http://schemas.openxmlformats.org/drawingml/2006/main">
            <a:off x="609600" y="46101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380F268C-42FC-4564-B0A5-04A6A1CB4C07}"/>
              </a:ext>
            </a:extLst>
          </p:cNvPr>
          <p:cNvSpPr>
            <a:spLocks xmlns:a="http://schemas.openxmlformats.org/drawingml/2006/main" noGrp="1"/>
          </p:cNvSpPr>
          <p:nvPr/>
        </p:nvSpPr>
        <p:spPr>
          <a:xfrm xmlns:a="http://schemas.openxmlformats.org/drawingml/2006/main">
            <a:off x="1352550" y="46101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A bounded retail simulation</a:t>
            </a:r>
          </a:p>
        </p:txBody>
      </p:sp>
      <p:sp>
        <p:nvSpPr>
          <p:cNvPr id="12" name="">
            <a:extLst xmlns:a="http://schemas.openxmlformats.org/drawingml/2006/main">
              <a:ext uri="{FF2B5EF4-FFF2-40B4-BE49-F238E27FC236}">
                <a16:creationId xmlns:a16="http://schemas.microsoft.com/office/drawing/2014/main" id="{39BED520-CD97-444C-9B9B-0B75E5E54803}"/>
              </a:ext>
            </a:extLst>
          </p:cNvPr>
          <p:cNvSpPr>
            <a:spLocks xmlns:a="http://schemas.openxmlformats.org/drawingml/2006/main" noGrp="1"/>
          </p:cNvSpPr>
          <p:nvPr/>
        </p:nvSpPr>
        <p:spPr>
          <a:xfrm xmlns:a="http://schemas.openxmlformats.org/drawingml/2006/main">
            <a:off x="1352550" y="50768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shipped retail domain lacks coupon rules and delivery-date windows.</a:t>
            </a:r>
          </a:p>
        </p:txBody>
      </p:sp>
    </p:spTree>
    <p:extLst>
      <p:ext uri="{BB962C8B-B14F-4D97-AF65-F5344CB8AC3E}">
        <p14:creationId xmlns:p14="http://schemas.microsoft.com/office/powerpoint/2010/main" val="495904635"/>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F94B72-D715-4C0F-9999-8B4B8091ADA1}"/>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15</a:t>
            </a:r>
          </a:p>
        </p:txBody>
      </p:sp>
      <p:sp>
        <p:nvSpPr>
          <p:cNvPr id="2" name="">
            <a:extLst xmlns:a="http://schemas.openxmlformats.org/drawingml/2006/main">
              <a:ext uri="{FF2B5EF4-FFF2-40B4-BE49-F238E27FC236}">
                <a16:creationId xmlns:a16="http://schemas.microsoft.com/office/drawing/2014/main" id="{866E9119-7AE7-410E-8F30-874A0084A3D3}"/>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Source map and version scope</a:t>
            </a:r>
          </a:p>
        </p:txBody>
      </p:sp>
      <p:sp>
        <p:nvSpPr>
          <p:cNvPr id="3" name="">
            <a:extLst xmlns:a="http://schemas.openxmlformats.org/drawingml/2006/main">
              <a:ext uri="{FF2B5EF4-FFF2-40B4-BE49-F238E27FC236}">
                <a16:creationId xmlns:a16="http://schemas.microsoft.com/office/drawing/2014/main" id="{28FA43AB-9AD6-41A9-9E38-160CFD5C5547}"/>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Source review at commit 122e2432b82d740e8f313f46f0a071729c404f39</a:t>
            </a:r>
          </a:p>
        </p:txBody>
      </p:sp>
      <p:sp>
        <p:nvSpPr>
          <p:cNvPr id="4" name="">
            <a:extLst xmlns:a="http://schemas.openxmlformats.org/drawingml/2006/main">
              <a:ext uri="{FF2B5EF4-FFF2-40B4-BE49-F238E27FC236}">
                <a16:creationId xmlns:a16="http://schemas.microsoft.com/office/drawing/2014/main" id="{77C52D54-C1E3-4923-B210-8700F071F332}"/>
              </a:ext>
            </a:extLst>
          </p:cNvPr>
          <p:cNvSpPr>
            <a:spLocks xmlns:a="http://schemas.openxmlformats.org/drawingml/2006/main" noGrp="1"/>
          </p:cNvSpPr>
          <p:nvPr/>
        </p:nvSpPr>
        <p:spPr>
          <a:xfrm xmlns:a="http://schemas.openxmlformats.org/drawingml/2006/main">
            <a:off x="628650" y="2200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07B78"/>
                </a:solidFill>
                <a:latin typeface="Helvetica Neue"/>
                <a:ea typeface="Helvetica Neue"/>
                <a:cs typeface="Helvetica Neue"/>
              </a:defRPr>
            </a:defPPr>
            <a:lvl1pPr>
              <a:buNone/>
              <a:defRPr sz="2325" b="1">
                <a:solidFill>
                  <a:srgbClr val="007B78"/>
                </a:solidFill>
                <a:latin typeface="Helvetica Neue"/>
                <a:ea typeface="Helvetica Neue"/>
                <a:cs typeface="Helvetica Neue"/>
              </a:defRPr>
            </a:lvl1pPr>
            <a:lvl2pPr>
              <a:buNone/>
              <a:defRPr sz="2325" b="1">
                <a:solidFill>
                  <a:srgbClr val="007B78"/>
                </a:solidFill>
                <a:latin typeface="Helvetica Neue"/>
                <a:ea typeface="Helvetica Neue"/>
                <a:cs typeface="Helvetica Neue"/>
              </a:defRPr>
            </a:lvl2pPr>
            <a:lvl3pPr>
              <a:buNone/>
              <a:defRPr sz="2325" b="1">
                <a:solidFill>
                  <a:srgbClr val="007B78"/>
                </a:solidFill>
                <a:latin typeface="Helvetica Neue"/>
                <a:ea typeface="Helvetica Neue"/>
                <a:cs typeface="Helvetica Neue"/>
              </a:defRPr>
            </a:lvl3pPr>
            <a:lvl4pPr>
              <a:buNone/>
              <a:defRPr sz="2325" b="1">
                <a:solidFill>
                  <a:srgbClr val="007B78"/>
                </a:solidFill>
                <a:latin typeface="Helvetica Neue"/>
                <a:ea typeface="Helvetica Neue"/>
                <a:cs typeface="Helvetica Neue"/>
              </a:defRPr>
            </a:lvl4pPr>
            <a:lvl5pPr>
              <a:buNone/>
              <a:defRPr sz="2325" b="1">
                <a:solidFill>
                  <a:srgbClr val="007B78"/>
                </a:solidFill>
                <a:latin typeface="Helvetica Neue"/>
                <a:ea typeface="Helvetica Neue"/>
                <a:cs typeface="Helvetica Neue"/>
              </a:defRPr>
            </a:lvl5pPr>
            <a:lvl6pPr>
              <a:buNone/>
              <a:defRPr sz="2325" b="1">
                <a:solidFill>
                  <a:srgbClr val="007B78"/>
                </a:solidFill>
                <a:latin typeface="Helvetica Neue"/>
                <a:ea typeface="Helvetica Neue"/>
                <a:cs typeface="Helvetica Neue"/>
              </a:defRPr>
            </a:lvl6pPr>
            <a:lvl7pPr>
              <a:buNone/>
              <a:defRPr sz="2325" b="1">
                <a:solidFill>
                  <a:srgbClr val="007B78"/>
                </a:solidFill>
                <a:latin typeface="Helvetica Neue"/>
                <a:ea typeface="Helvetica Neue"/>
                <a:cs typeface="Helvetica Neue"/>
              </a:defRPr>
            </a:lvl7pPr>
            <a:lvl8pPr>
              <a:buNone/>
              <a:defRPr sz="2325" b="1">
                <a:solidFill>
                  <a:srgbClr val="007B78"/>
                </a:solidFill>
                <a:latin typeface="Helvetica Neue"/>
                <a:ea typeface="Helvetica Neue"/>
                <a:cs typeface="Helvetica Neue"/>
              </a:defRPr>
            </a:lvl8pPr>
            <a:lvl9pPr>
              <a:buNone/>
              <a:defRPr sz="2325" b="1">
                <a:solidFill>
                  <a:srgbClr val="007B78"/>
                </a:solidFill>
                <a:latin typeface="Helvetica Neue"/>
                <a:ea typeface="Helvetica Neue"/>
                <a:cs typeface="Helvetica Neue"/>
              </a:defRPr>
            </a:lvl9pPr>
          </a:lstStyle>
          <a:p xmlns:a="http://schemas.openxmlformats.org/drawingml/2006/main">
            <a:pPr>
              <a:buNone/>
              <a:defRPr sz="2325" b="1">
                <a:solidFill>
                  <a:srgbClr val="007B78"/>
                </a:solidFill>
                <a:latin typeface="Helvetica Neue"/>
                <a:ea typeface="Helvetica Neue"/>
                <a:cs typeface="Helvetica Neue"/>
              </a:defRPr>
            </a:pPr>
            <a:r>
              <a:rPr sz="2325" b="1">
                <a:solidFill>
                  <a:srgbClr val="007B78"/>
                </a:solidFill>
                <a:latin typeface="Helvetica Neue"/>
                <a:ea typeface="Helvetica Neue"/>
                <a:cs typeface="Helvetica Neue"/>
              </a:rPr>
              <a:t>tau2-bench</a:t>
            </a:r>
          </a:p>
        </p:txBody>
      </p:sp>
      <p:sp>
        <p:nvSpPr>
          <p:cNvPr id="5" name="">
            <a:extLst xmlns:a="http://schemas.openxmlformats.org/drawingml/2006/main">
              <a:ext uri="{FF2B5EF4-FFF2-40B4-BE49-F238E27FC236}">
                <a16:creationId xmlns:a16="http://schemas.microsoft.com/office/drawing/2014/main" id="{F8BA1BC1-8859-4DF3-B491-3659C9B4A121}"/>
              </a:ext>
            </a:extLst>
          </p:cNvPr>
          <p:cNvSpPr>
            <a:spLocks xmlns:a="http://schemas.openxmlformats.org/drawingml/2006/main" noGrp="1"/>
          </p:cNvSpPr>
          <p:nvPr/>
        </p:nvSpPr>
        <p:spPr>
          <a:xfrm xmlns:a="http://schemas.openxmlformats.org/drawingml/2006/main">
            <a:off x="628650" y="278130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02B36"/>
                </a:solidFill>
                <a:latin typeface="Helvetica Neue"/>
                <a:ea typeface="Helvetica Neue"/>
                <a:cs typeface="Helvetica Neue"/>
              </a:defRPr>
            </a:defPPr>
            <a:lvl1pPr>
              <a:buNone/>
              <a:defRPr sz="2100" b="0">
                <a:solidFill>
                  <a:srgbClr val="102B36"/>
                </a:solidFill>
                <a:latin typeface="Helvetica Neue"/>
                <a:ea typeface="Helvetica Neue"/>
                <a:cs typeface="Helvetica Neue"/>
              </a:defRPr>
            </a:lvl1pPr>
            <a:lvl2pPr>
              <a:buNone/>
              <a:defRPr sz="2100" b="0">
                <a:solidFill>
                  <a:srgbClr val="102B36"/>
                </a:solidFill>
                <a:latin typeface="Helvetica Neue"/>
                <a:ea typeface="Helvetica Neue"/>
                <a:cs typeface="Helvetica Neue"/>
              </a:defRPr>
            </a:lvl2pPr>
            <a:lvl3pPr>
              <a:buNone/>
              <a:defRPr sz="2100" b="0">
                <a:solidFill>
                  <a:srgbClr val="102B36"/>
                </a:solidFill>
                <a:latin typeface="Helvetica Neue"/>
                <a:ea typeface="Helvetica Neue"/>
                <a:cs typeface="Helvetica Neue"/>
              </a:defRPr>
            </a:lvl3pPr>
            <a:lvl4pPr>
              <a:buNone/>
              <a:defRPr sz="2100" b="0">
                <a:solidFill>
                  <a:srgbClr val="102B36"/>
                </a:solidFill>
                <a:latin typeface="Helvetica Neue"/>
                <a:ea typeface="Helvetica Neue"/>
                <a:cs typeface="Helvetica Neue"/>
              </a:defRPr>
            </a:lvl4pPr>
            <a:lvl5pPr>
              <a:buNone/>
              <a:defRPr sz="2100" b="0">
                <a:solidFill>
                  <a:srgbClr val="102B36"/>
                </a:solidFill>
                <a:latin typeface="Helvetica Neue"/>
                <a:ea typeface="Helvetica Neue"/>
                <a:cs typeface="Helvetica Neue"/>
              </a:defRPr>
            </a:lvl5pPr>
            <a:lvl6pPr>
              <a:buNone/>
              <a:defRPr sz="2100" b="0">
                <a:solidFill>
                  <a:srgbClr val="102B36"/>
                </a:solidFill>
                <a:latin typeface="Helvetica Neue"/>
                <a:ea typeface="Helvetica Neue"/>
                <a:cs typeface="Helvetica Neue"/>
              </a:defRPr>
            </a:lvl6pPr>
            <a:lvl7pPr>
              <a:buNone/>
              <a:defRPr sz="2100" b="0">
                <a:solidFill>
                  <a:srgbClr val="102B36"/>
                </a:solidFill>
                <a:latin typeface="Helvetica Neue"/>
                <a:ea typeface="Helvetica Neue"/>
                <a:cs typeface="Helvetica Neue"/>
              </a:defRPr>
            </a:lvl7pPr>
            <a:lvl8pPr>
              <a:buNone/>
              <a:defRPr sz="2100" b="0">
                <a:solidFill>
                  <a:srgbClr val="102B36"/>
                </a:solidFill>
                <a:latin typeface="Helvetica Neue"/>
                <a:ea typeface="Helvetica Neue"/>
                <a:cs typeface="Helvetica Neue"/>
              </a:defRPr>
            </a:lvl8pPr>
            <a:lvl9pPr>
              <a:buNone/>
              <a:defRPr sz="2100" b="0">
                <a:solidFill>
                  <a:srgbClr val="102B36"/>
                </a:solidFill>
                <a:latin typeface="Helvetica Neue"/>
                <a:ea typeface="Helvetica Neue"/>
                <a:cs typeface="Helvetica Neue"/>
              </a:defRPr>
            </a:lvl9pPr>
          </a:lstStyle>
          <a:p xmlns:a="http://schemas.openxmlformats.org/drawingml/2006/main">
            <a:pPr>
              <a:buNone/>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Retail task 0 and database</a:t>
            </a:r>
          </a:p>
          <a:p xmlns:a="http://schemas.openxmlformats.org/drawingml/2006/main">
            <a:pPr>
              <a:buNone/>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Agent interface and orchestrator</a:t>
            </a:r>
          </a:p>
          <a:p xmlns:a="http://schemas.openxmlformats.org/drawingml/2006/main">
            <a:pPr>
              <a:buNone/>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Retail tools, replay and evaluators</a:t>
            </a:r>
          </a:p>
        </p:txBody>
      </p:sp>
      <p:sp>
        <p:nvSpPr>
          <p:cNvPr id="6" name="">
            <a:extLst xmlns:a="http://schemas.openxmlformats.org/drawingml/2006/main">
              <a:ext uri="{FF2B5EF4-FFF2-40B4-BE49-F238E27FC236}">
                <a16:creationId xmlns:a16="http://schemas.microsoft.com/office/drawing/2014/main" id="{CEB3BE78-D26A-4A41-BF82-D99B902E1455}"/>
              </a:ext>
            </a:extLst>
          </p:cNvPr>
          <p:cNvSpPr>
            <a:spLocks xmlns:a="http://schemas.openxmlformats.org/drawingml/2006/main" noGrp="1"/>
          </p:cNvSpPr>
          <p:nvPr/>
        </p:nvSpPr>
        <p:spPr>
          <a:xfrm xmlns:a="http://schemas.openxmlformats.org/drawingml/2006/main">
            <a:off x="628650" y="43243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07B78"/>
                </a:solidFill>
                <a:latin typeface="Helvetica Neue"/>
                <a:ea typeface="Helvetica Neue"/>
                <a:cs typeface="Helvetica Neue"/>
              </a:defRPr>
            </a:defPPr>
            <a:lvl1pPr>
              <a:buNone/>
              <a:defRPr sz="1950" b="0">
                <a:solidFill>
                  <a:srgbClr val="007B78"/>
                </a:solidFill>
                <a:latin typeface="Helvetica Neue"/>
                <a:ea typeface="Helvetica Neue"/>
                <a:cs typeface="Helvetica Neue"/>
              </a:defRPr>
            </a:lvl1pPr>
            <a:lvl2pPr>
              <a:buNone/>
              <a:defRPr sz="1950" b="0">
                <a:solidFill>
                  <a:srgbClr val="007B78"/>
                </a:solidFill>
                <a:latin typeface="Helvetica Neue"/>
                <a:ea typeface="Helvetica Neue"/>
                <a:cs typeface="Helvetica Neue"/>
              </a:defRPr>
            </a:lvl2pPr>
            <a:lvl3pPr>
              <a:buNone/>
              <a:defRPr sz="1950" b="0">
                <a:solidFill>
                  <a:srgbClr val="007B78"/>
                </a:solidFill>
                <a:latin typeface="Helvetica Neue"/>
                <a:ea typeface="Helvetica Neue"/>
                <a:cs typeface="Helvetica Neue"/>
              </a:defRPr>
            </a:lvl3pPr>
            <a:lvl4pPr>
              <a:buNone/>
              <a:defRPr sz="1950" b="0">
                <a:solidFill>
                  <a:srgbClr val="007B78"/>
                </a:solidFill>
                <a:latin typeface="Helvetica Neue"/>
                <a:ea typeface="Helvetica Neue"/>
                <a:cs typeface="Helvetica Neue"/>
              </a:defRPr>
            </a:lvl4pPr>
            <a:lvl5pPr>
              <a:buNone/>
              <a:defRPr sz="1950" b="0">
                <a:solidFill>
                  <a:srgbClr val="007B78"/>
                </a:solidFill>
                <a:latin typeface="Helvetica Neue"/>
                <a:ea typeface="Helvetica Neue"/>
                <a:cs typeface="Helvetica Neue"/>
              </a:defRPr>
            </a:lvl5pPr>
            <a:lvl6pPr>
              <a:buNone/>
              <a:defRPr sz="1950" b="0">
                <a:solidFill>
                  <a:srgbClr val="007B78"/>
                </a:solidFill>
                <a:latin typeface="Helvetica Neue"/>
                <a:ea typeface="Helvetica Neue"/>
                <a:cs typeface="Helvetica Neue"/>
              </a:defRPr>
            </a:lvl6pPr>
            <a:lvl7pPr>
              <a:buNone/>
              <a:defRPr sz="1950" b="0">
                <a:solidFill>
                  <a:srgbClr val="007B78"/>
                </a:solidFill>
                <a:latin typeface="Helvetica Neue"/>
                <a:ea typeface="Helvetica Neue"/>
                <a:cs typeface="Helvetica Neue"/>
              </a:defRPr>
            </a:lvl7pPr>
            <a:lvl8pPr>
              <a:buNone/>
              <a:defRPr sz="1950" b="0">
                <a:solidFill>
                  <a:srgbClr val="007B78"/>
                </a:solidFill>
                <a:latin typeface="Helvetica Neue"/>
                <a:ea typeface="Helvetica Neue"/>
                <a:cs typeface="Helvetica Neue"/>
              </a:defRPr>
            </a:lvl8pPr>
            <a:lvl9pPr>
              <a:buNone/>
              <a:defRPr sz="1950" b="0">
                <a:solidFill>
                  <a:srgbClr val="007B78"/>
                </a:solidFill>
                <a:latin typeface="Helvetica Neue"/>
                <a:ea typeface="Helvetica Neue"/>
                <a:cs typeface="Helvetica Neue"/>
              </a:defRPr>
            </a:lvl9pPr>
          </a:lstStyle>
          <a:p xmlns:a="http://schemas.openxmlformats.org/drawingml/2006/main">
            <a:pPr>
              <a:buNone/>
              <a:defRPr sz="1950" b="0">
                <a:solidFill>
                  <a:srgbClr val="007B78"/>
                </a:solidFill>
                <a:latin typeface="Helvetica Neue"/>
                <a:ea typeface="Helvetica Neue"/>
                <a:cs typeface="Helvetica Neue"/>
              </a:defRPr>
            </a:pPr>
            <a:r>
              <a:rPr sz="1950" b="0">
                <a:solidFill>
                  <a:srgbClr val="007B78"/>
                </a:solidFill>
                <a:latin typeface="Helvetica Neue"/>
                <a:ea typeface="Helvetica Neue"/>
                <a:cs typeface="Helvetica Neue"/>
                <a:hlinkClick xmlns:r="http://schemas.openxmlformats.org/officeDocument/2006/relationships" r:id="Rc923c85bc8cb4182"/>
              </a:rPr>
              <a:t>github.com/sierra-research/tau2-bench</a:t>
            </a:r>
          </a:p>
        </p:txBody>
      </p:sp>
      <p:sp>
        <p:nvSpPr>
          <p:cNvPr id="7" name="">
            <a:extLst xmlns:a="http://schemas.openxmlformats.org/drawingml/2006/main">
              <a:ext uri="{FF2B5EF4-FFF2-40B4-BE49-F238E27FC236}">
                <a16:creationId xmlns:a16="http://schemas.microsoft.com/office/drawing/2014/main" id="{47CC8DEA-7A36-4C04-8229-2F5CA44196E4}"/>
              </a:ext>
            </a:extLst>
          </p:cNvPr>
          <p:cNvSpPr>
            <a:spLocks xmlns:a="http://schemas.openxmlformats.org/drawingml/2006/main" noGrp="1"/>
          </p:cNvSpPr>
          <p:nvPr/>
        </p:nvSpPr>
        <p:spPr>
          <a:xfrm xmlns:a="http://schemas.openxmlformats.org/drawingml/2006/main">
            <a:off x="628650" y="52673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Walkthrough: base retail task 0 at the pinned commit above.</a:t>
            </a:r>
          </a:p>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Released benchmarks can use different task sets. Compare matched versions and settings.</a:t>
            </a:r>
          </a:p>
        </p:txBody>
      </p:sp>
    </p:spTree>
    <p:extLst>
      <p:ext uri="{BB962C8B-B14F-4D97-AF65-F5344CB8AC3E}">
        <p14:creationId xmlns:p14="http://schemas.microsoft.com/office/powerpoint/2010/main" val="127993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2026-10-29T02:19:10.3870000Z</dcterms:created>
  <dcterms:modified xsi:type="dcterms:W3CDTF">2026-10-29T02:19:10.3870000Z</dcterms:modified>
</coreProperties>
</file>