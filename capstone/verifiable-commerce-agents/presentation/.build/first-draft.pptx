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99f891dfce4c91" /><Relationship Type="http://schemas.openxmlformats.org/officeDocument/2006/relationships/extended-properties" Target="/docProps/app.xml" Id="R3a0a7611b52a4a44" /><Relationship Type="http://schemas.openxmlformats.org/officeDocument/2006/relationships/officeDocument" Target="/ppt/presentation.xml" Id="R0599d8a02ce54f82" /></Relationships>
</file>

<file path=ppt/presentation.xml><?xml version="1.0" encoding="utf-8"?>
<p:presentation xmlns:p="http://schemas.openxmlformats.org/presentationml/2006/main">
  <p:sldMasterIdLst>
    <p:sldMasterId xmlns:r="http://schemas.openxmlformats.org/officeDocument/2006/relationships" id="2147483648" r:id="R289a4935366d4d80"/>
  </p:sldMasterIdLst>
  <p:notesMasterIdLst>
    <p:notesMasterId xmlns:r="http://schemas.openxmlformats.org/officeDocument/2006/relationships" r:id="R6f8c5670b5b440c6"/>
  </p:notesMasterIdLst>
  <p:sldIdLst>
    <p:sldId xmlns:r="http://schemas.openxmlformats.org/officeDocument/2006/relationships" id="256" r:id="Rabe0b35dc76a4c77"/>
    <p:sldId xmlns:r="http://schemas.openxmlformats.org/officeDocument/2006/relationships" id="257" r:id="R052034fdb930443e"/>
    <p:sldId xmlns:r="http://schemas.openxmlformats.org/officeDocument/2006/relationships" id="258" r:id="R98e8e1763345416a"/>
    <p:sldId xmlns:r="http://schemas.openxmlformats.org/officeDocument/2006/relationships" id="259" r:id="R82fcc4a0f9d64f0e"/>
    <p:sldId xmlns:r="http://schemas.openxmlformats.org/officeDocument/2006/relationships" id="260" r:id="R87e4e39c383542ae"/>
    <p:sldId xmlns:r="http://schemas.openxmlformats.org/officeDocument/2006/relationships" id="261" r:id="R9523dd4bda89411f"/>
    <p:sldId xmlns:r="http://schemas.openxmlformats.org/officeDocument/2006/relationships" id="262" r:id="Rbb2c0ff0861e4165"/>
    <p:sldId xmlns:r="http://schemas.openxmlformats.org/officeDocument/2006/relationships" id="263" r:id="Rbc3315fca307445c"/>
    <p:sldId xmlns:r="http://schemas.openxmlformats.org/officeDocument/2006/relationships" id="264" r:id="R5ecdc85f2b9249a7"/>
    <p:sldId xmlns:r="http://schemas.openxmlformats.org/officeDocument/2006/relationships" id="265" r:id="Racf286a64a5a4180"/>
    <p:sldId xmlns:r="http://schemas.openxmlformats.org/officeDocument/2006/relationships" id="266" r:id="Rf12b38b3229d434b"/>
    <p:sldId xmlns:r="http://schemas.openxmlformats.org/officeDocument/2006/relationships" id="267" r:id="R2f5deab761cb4479"/>
    <p:sldId xmlns:r="http://schemas.openxmlformats.org/officeDocument/2006/relationships" id="268" r:id="Rfd95c87801254482"/>
    <p:sldId xmlns:r="http://schemas.openxmlformats.org/officeDocument/2006/relationships" id="269" r:id="Re35fb6f766f34633"/>
    <p:sldId xmlns:r="http://schemas.openxmlformats.org/officeDocument/2006/relationships" id="270" r:id="R8b4f8b271e9c4e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7679dc41404190" /><Relationship Type="http://schemas.openxmlformats.org/officeDocument/2006/relationships/slideMaster" Target="/ppt/slideMasters/slideMaster1.xml" Id="R289a4935366d4d80" /><Relationship Type="http://schemas.openxmlformats.org/officeDocument/2006/relationships/notesMaster" Target="/ppt/notesMasters/notesMaster1.xml" Id="R6f8c5670b5b440c6" /><Relationship Type="http://schemas.openxmlformats.org/officeDocument/2006/relationships/presProps" Target="/ppt/presProps.xml" Id="R132a0722af754372" /><Relationship Type="http://schemas.openxmlformats.org/officeDocument/2006/relationships/tableStyles" Target="/ppt/tableStyles.xml" Id="R110ba18edfb04f51" /><Relationship Type="http://schemas.openxmlformats.org/officeDocument/2006/relationships/slide" Target="/ppt/slides/slide1.xml" Id="Rabe0b35dc76a4c77" /><Relationship Type="http://schemas.openxmlformats.org/officeDocument/2006/relationships/slide" Target="/ppt/slides/slide2.xml" Id="R052034fdb930443e" /><Relationship Type="http://schemas.openxmlformats.org/officeDocument/2006/relationships/slide" Target="/ppt/slides/slide3.xml" Id="R98e8e1763345416a" /><Relationship Type="http://schemas.openxmlformats.org/officeDocument/2006/relationships/slide" Target="/ppt/slides/slide4.xml" Id="R82fcc4a0f9d64f0e" /><Relationship Type="http://schemas.openxmlformats.org/officeDocument/2006/relationships/slide" Target="/ppt/slides/slide5.xml" Id="R87e4e39c383542ae" /><Relationship Type="http://schemas.openxmlformats.org/officeDocument/2006/relationships/slide" Target="/ppt/slides/slide6.xml" Id="R9523dd4bda89411f" /><Relationship Type="http://schemas.openxmlformats.org/officeDocument/2006/relationships/slide" Target="/ppt/slides/slide7.xml" Id="Rbb2c0ff0861e4165" /><Relationship Type="http://schemas.openxmlformats.org/officeDocument/2006/relationships/slide" Target="/ppt/slides/slide8.xml" Id="Rbc3315fca307445c" /><Relationship Type="http://schemas.openxmlformats.org/officeDocument/2006/relationships/slide" Target="/ppt/slides/slide9.xml" Id="R5ecdc85f2b9249a7" /><Relationship Type="http://schemas.openxmlformats.org/officeDocument/2006/relationships/slide" Target="/ppt/slides/slide10.xml" Id="Racf286a64a5a4180" /><Relationship Type="http://schemas.openxmlformats.org/officeDocument/2006/relationships/slide" Target="/ppt/slides/slide11.xml" Id="Rf12b38b3229d434b" /><Relationship Type="http://schemas.openxmlformats.org/officeDocument/2006/relationships/slide" Target="/ppt/slides/slide12.xml" Id="R2f5deab761cb4479" /><Relationship Type="http://schemas.openxmlformats.org/officeDocument/2006/relationships/slide" Target="/ppt/slides/slide13.xml" Id="Rfd95c87801254482" /><Relationship Type="http://schemas.openxmlformats.org/officeDocument/2006/relationships/slide" Target="/ppt/slides/slide14.xml" Id="Re35fb6f766f34633" /><Relationship Type="http://schemas.openxmlformats.org/officeDocument/2006/relationships/slide" Target="/ppt/slides/slide15.xml" Id="R8b4f8b271e9c4e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e346dec61c47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7db61c22b4436c" /><Relationship Type="http://schemas.openxmlformats.org/officeDocument/2006/relationships/notesMaster" Target="/ppt/notesMasters/notesMaster1.xml" Id="R44b1ef09195843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8c34d19db04028" /><Relationship Type="http://schemas.openxmlformats.org/officeDocument/2006/relationships/notesMaster" Target="/ppt/notesMasters/notesMaster1.xml" Id="R8bac9c39b33a49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36e543603d439f" /><Relationship Type="http://schemas.openxmlformats.org/officeDocument/2006/relationships/notesMaster" Target="/ppt/notesMasters/notesMaster1.xml" Id="R68f76d3e574641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b01890c0884217" /><Relationship Type="http://schemas.openxmlformats.org/officeDocument/2006/relationships/notesMaster" Target="/ppt/notesMasters/notesMaster1.xml" Id="R47e2b700b75143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9f3f7093714cff" /><Relationship Type="http://schemas.openxmlformats.org/officeDocument/2006/relationships/notesMaster" Target="/ppt/notesMasters/notesMaster1.xml" Id="Rbb9a05ff58ea4d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96e6c34d584bd1" /><Relationship Type="http://schemas.openxmlformats.org/officeDocument/2006/relationships/notesMaster" Target="/ppt/notesMasters/notesMaster1.xml" Id="R96a8f8b3f74345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a3cf7563e142db" /><Relationship Type="http://schemas.openxmlformats.org/officeDocument/2006/relationships/notesMaster" Target="/ppt/notesMasters/notesMaster1.xml" Id="R9e61a7ea4d164e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0442e9106d4947" /><Relationship Type="http://schemas.openxmlformats.org/officeDocument/2006/relationships/notesMaster" Target="/ppt/notesMasters/notesMaster1.xml" Id="Rc34cac7a24534a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012a9e86224bcc" /><Relationship Type="http://schemas.openxmlformats.org/officeDocument/2006/relationships/notesMaster" Target="/ppt/notesMasters/notesMaster1.xml" Id="Rf259e15c8c8c4d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1577d1828f41b5" /><Relationship Type="http://schemas.openxmlformats.org/officeDocument/2006/relationships/notesMaster" Target="/ppt/notesMasters/notesMaster1.xml" Id="Rbb0165c394f84d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a4ca76c57e4716" /><Relationship Type="http://schemas.openxmlformats.org/officeDocument/2006/relationships/notesMaster" Target="/ppt/notesMasters/notesMaster1.xml" Id="Rab6fca5ee91d4f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f2ca27b53e4f5f" /><Relationship Type="http://schemas.openxmlformats.org/officeDocument/2006/relationships/notesMaster" Target="/ppt/notesMasters/notesMaster1.xml" Id="Rb6562e1d374348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6ad4854f7946cc" /><Relationship Type="http://schemas.openxmlformats.org/officeDocument/2006/relationships/notesMaster" Target="/ppt/notesMasters/notesMaster1.xml" Id="R2fcfb292bb0b4a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e50da2694c4718" /><Relationship Type="http://schemas.openxmlformats.org/officeDocument/2006/relationships/notesMaster" Target="/ppt/notesMasters/notesMaster1.xml" Id="Rad6d76a86d3448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f7feef4bc54f15" /><Relationship Type="http://schemas.openxmlformats.org/officeDocument/2006/relationships/notesMaster" Target="/ppt/notesMasters/notesMaster1.xml" Id="Rd0a7d8cb5c1342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proposed capstone and a source-based walkthrough of tau2-bench. The retail example comes from the base task collection at commit 122e2432b82d740e8f313f46f0a071729c404f39. The walkthrough is a source-code reconstruction, not a recorded model run. Proposed components and experiments are labeled throughout.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targets observable outcomes and process compliance. A successful-looking reply is insufficient. The proposal includes a synthetic store, controlled tools, a policy guard, prompt optimization and single-step reinforcement learning. This is a personal capstone project, not an employer deployment. Source: local capstone SCOPE.md and Proposal v2 dated October 24, 2026.</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receives policy, tool definitions and conversation/tool messages. The user simulator receives the user scenario. The orchestrator routes messages and tool requests. Standard adapters should not execute a write internally and then submit the same write to the orchestrator. In-process callable tools are not a security sandbox.</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https://github.com/sierra-research/tau2-bench/blob/122e2432b82d740e8f313f46f0a071729c404f39/src/tau2/agent/base_agent.py</a:t>
            </a:r>
          </a:p>
          <a:p xmlns:a="http://schemas.openxmlformats.org/drawingml/2006/main">
            <a:r>
              <a:t>https://github.com/sierra-research/tau2-bench/blob/122e2432b82d740e8f313f46f0a071729c404f39/src/tau2/orchestrator/orchestrator.py</a:t>
            </a:r>
          </a:p>
          <a:p xmlns:a="http://schemas.openxmlformats.org/drawingml/2006/main">
            <a:r>
              <a:t>https://github.com/sierra-research/tau2-bench/blob/122e2432b82d740e8f313f46f0a071729c404f39/src/tau2/environment/tool.py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Yusuf Rossi, ZIP 19122, wants a keyboard and thermostat exchange. The task asks the simulated customer to address everything in one go. The order is delivered. The customer requests Google Home compatibility, while the product data labels the target variant Google Assistant. This distinction is preserved in later slides.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https://github.com/sierra-research/tau2-bench/blob/122e2432b82d740e8f313f46f0a071729c404f39/data/tau2/domains/retail/db.json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actions are not a mandatory script. They identify the user, read the order, read two products and request one combined exchange. Normal LLMAgent behavior does not use the reference solution as its prompt. Ground-truth/debug agents are a separate condition and must not be presented as an ordinary baseline. Task 0 has null natural-language assertions.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https://github.com/sierra-research/tau2-bench/blob/122e2432b82d740e8f313f46f0a071729c404f39/src/tau2/data_model/tasks.py</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https://github.com/sierra-research/tau2-bench/blob/122e2432b82d740e8f313f46f0a071729c404f39/src/tau2/agent/llm_agent.py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LLMAgent.generate_next_message appends the incoming message and calls generate with model, tools and message history. Orchestrator.step routes ordinary replies to the user and tool calls to the environment. _execute_tool_calls calls environment.get_response. The trajectory retains requests and results. This cycle repeats until the conversation stops or a limit/error ends the run.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https://github.com/sierra-research/tau2-bench/blob/122e2432b82d740e8f313f46f0a071729c404f39/src/tau2/agent/llm_agent.py#L115</a:t>
            </a:r>
          </a:p>
          <a:p xmlns:a="http://schemas.openxmlformats.org/drawingml/2006/main">
            <a:r>
              <a:t>https://github.com/sierra-research/tau2-bench/blob/122e2432b82d740e8f313f46f0a071729c404f39/src/tau2/orchestrator/orchestrator.py#L327</a:t>
            </a:r>
          </a:p>
          <a:p xmlns:a="http://schemas.openxmlformats.org/drawingml/2006/main">
            <a:r>
              <a:t>https://github.com/sierra-research/tau2-bench/blob/122e2432b82d740e8f313f46f0a071729c404f39/src/tau2/environment/environment.py#L473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Keyboard old item 1151293680 maps to new item 7706410293. Thermostat old item 4983901480 maps to new item 7747408585. The clicky RGB full-size keyboard has available=false. The accepted fallback is clicky, no backlight, full-size. Arithmetic: 269.16 - 272.33 + 249.01 - 262.47 = -16.63. The negative difference records the exchange price difference, not completed bank settlement.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https://github.com/sierra-research/tau2-bench/blob/122e2432b82d740e8f313f46f0a071729c404f39/data/tau2/domains/retail/db.json</a:t>
            </a:r>
          </a:p>
          <a:p xmlns:a="http://schemas.openxmlformats.org/drawingml/2006/main">
            <a:r>
              <a:t>https://github.com/sierra-research/tau2-bench/blob/122e2432b82d740e8f313f46f0a071729c404f39/data/tau2/domains/retail/policy.md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an abbreviated tool-call payload. Actual identifiers are strings, including item IDs. The function requires delivered status, checks item multiplicities and matching list lengths, resolves each new variant within the old product, checks availability and validates payment. A gift-card payment must cover a positive price difference. The function does not receive a user-confirmation token.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https://github.com/sierra-research/tau2-bench/blob/122e2432b82d740e8f313f46f0a071729c404f39/src/tau2/domains/retail/tools.py#L240</a:t>
            </a:r>
          </a:p>
          <a:p xmlns:a="http://schemas.openxmlformats.org/drawingml/2006/main">
            <a:r>
              <a:t>https://github.com/sierra-research/tau2-bench/blob/122e2432b82d740e8f313f46f0a071729c404f39/data/tau2/domains/retail/tasks.json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tool mutates the in-memory Order model in the retail environment. It records sorted item lists, payment method and the price difference. It does not replace order.items, ship products or settle a bank refund in this function. Since status becomes exchange requested, splitting the two exchanges into separate calls would cause the later call to fail the delivered-status requirement.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https://github.com/sierra-research/tau2-bench/blob/122e2432b82d740e8f313f46f0a071729c404f39/src/tau2/domains/retail/tools.py#L270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EnvironmentEvaluator applies initialization data and actions, reconstructs predicted state from the full trajectory, and constructs gold state from initial history plus reference actions. It compares both agent and user DB hashes. set_state skips non-mutating calls and rejected calls and checks replay output in strict mode. Task 0 basis is DB + NL_ASSERTION, but nl_assertions is null, yielding neutral 1. Premature termination produces 0 before component evaluation. This is task-specific, not a claim that all tau2 tasks use DB-only grading.</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https://github.com/sierra-research/tau2-bench/blob/122e2432b82d740e8f313f46f0a071729c404f39/src/tau2/evaluator/evaluator_env.py</a:t>
            </a:r>
          </a:p>
          <a:p xmlns:a="http://schemas.openxmlformats.org/drawingml/2006/main">
            <a:r>
              <a:t>https://github.com/sierra-research/tau2-bench/blob/122e2432b82d740e8f313f46f0a071729c404f39/src/tau2/environment/environment.py#L293</a:t>
            </a:r>
          </a:p>
          <a:p xmlns:a="http://schemas.openxmlformats.org/drawingml/2006/main">
            <a:r>
              <a:t>https://github.com/sierra-research/tau2-bench/blob/122e2432b82d740e8f313f46f0a071729c404f39/src/tau2/evaluator/evaluator_nl_assertions.py</a:t>
            </a:r>
          </a:p>
          <a:p xmlns:a="http://schemas.openxmlformats.org/drawingml/2006/main">
            <a:r>
              <a:t>https://github.com/sierra-research/tau2-bench/blob/122e2432b82d740e8f313f46f0a071729c404f39/src/tau2/evaluator/evaluator.py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is a hypothetical source-based counterexample, not a measured model result. Assume both traces execute identical valid exchange calls and terminate normally. The tool has no confirmation credential argument, the DB comparison cannot prove confirmation, and this task has no nonempty NL assertion. Other tau2 tasks or added evaluators may check dialogue requirements. A proposed deterministic confirmation check must rely on trusted evidence bound to the action, rather than an agent-supplied confirmed=true claim.</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https://github.com/sierra-research/tau2-bench/blob/122e2432b82d740e8f313f46f0a071729c404f39/src/tau2/domains/retail/tools.py#L240</a:t>
            </a:r>
          </a:p>
          <a:p xmlns:a="http://schemas.openxmlformats.org/drawingml/2006/main">
            <a:r>
              <a:t>https://github.com/sierra-research/tau2-bench/blob/122e2432b82d740e8f313f46f0a071729c404f39/src/tau2/evaluator/evaluator_nl_assertions.py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a proposed architecture, not completed integration. Original retail lacks delivered-date and coupon models needed by the capstone. A custom commerce domain is a candidate. Existing FinePrint includes SQLite data, policy logic and an independent final-state verifier, but event-level approval and authorization checks need further work. External MCP calls require a controlled gateway and trustworthy state/log collection. Tool-call logging alone does not guarantee reproducible replay. Source: capstone SCOPE.md, tau2-learning-notes.zh.md, and FinePrint verify.py.</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https://github.com/sierra-research/tau2-bench/blob/122e2432b82d740e8f313f46f0a071729c404f39/src/tau2/domains/retail/data_model.py</a:t>
            </a:r>
          </a:p>
          <a:p xmlns:a="http://schemas.openxmlformats.org/drawingml/2006/main">
            <a:r>
              <a:t>https://github.com/sierra-research/tau2-bench/blob/122e2432b82d740e8f313f46f0a071729c404f39/src/tau2/environment/environment.py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proposal targets, not completed evaluations. There are five conditions: handwritten baseline, GEPA, MIPROv2, GRPO and frontier reference. Preserve task and rule-combination splits, tool access, observation boundaries and budgets. Include do-nothing, always-ask and always-escalate controls and Guard on/off. pass^k estimates all k trials succeeding: C(c,k)/C(n,k), then averages per task. It does not establish production readiness. Report paired uncertainty and human review of simulated conversations. Source: capstone SCOPE.md.</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https://github.com/sierra-research/tau2-bench/blob/122e2432b82d740e8f313f46f0a071729c404f39/src/tau2/metrics/agent_metrics.py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sequence, not a claim of completed implementation. Start with a return-window rule and inside/outside/boundary cases, then adversarial traces. Inspect both attempted actions and actual state changes. After the environment and verifier are credible, connect LLM agents, compare conditions and investigate failures. Memory, seller A2A and retrieval are later extensions in the proposal. Source: capstone SCOPE.md and tau2-learning-notes.zh.md.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claims use a pinned source revision. The walkthrough is based on the base retail task collection, not the separately frozen 50-task released benchmark. No model performance claims appear in this deck. Local project sources: SCOPE.md, PROGRESS.md, tau2-learning-notes.zh.md and FinePrint verify.py.</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https://github.com/sierra-research/tau2-bench/blob/122e2432b82d740e8f313f46f0a071729c404f39/data/tau2/domains/retail/db.json</a:t>
            </a:r>
          </a:p>
          <a:p xmlns:a="http://schemas.openxmlformats.org/drawingml/2006/main">
            <a:r>
              <a:t>https://github.com/sierra-research/tau2-bench/blob/122e2432b82d740e8f313f46f0a071729c404f39/src/tau2/agent/llm_agent.py</a:t>
            </a:r>
          </a:p>
          <a:p xmlns:a="http://schemas.openxmlformats.org/drawingml/2006/main">
            <a:r>
              <a:t>https://github.com/sierra-research/tau2-bench/blob/122e2432b82d740e8f313f46f0a071729c404f39/src/tau2/orchestrator/orchestrator.py</a:t>
            </a:r>
          </a:p>
          <a:p xmlns:a="http://schemas.openxmlformats.org/drawingml/2006/main">
            <a:r>
              <a:t>https://github.com/sierra-research/tau2-bench/blob/122e2432b82d740e8f313f46f0a071729c404f39/src/tau2/domains/retail/tools.py</a:t>
            </a:r>
          </a:p>
          <a:p xmlns:a="http://schemas.openxmlformats.org/drawingml/2006/main">
            <a:r>
              <a:t>https://github.com/sierra-research/tau2-bench/blob/122e2432b82d740e8f313f46f0a071729c404f39/src/tau2/evaluator/evaluator_env.py</a:t>
            </a:r>
          </a:p>
          <a:p xmlns:a="http://schemas.openxmlformats.org/drawingml/2006/main">
            <a:r>
              <a:t>https://github.com/sierra-research/tau2-bench/blob/122e2432b82d740e8f313f46f0a071729c404f39/src/tau2/evaluator/evaluator.py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4dd144778c44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37cccce01f46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cad1d376c1b4e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ceb467e4cd48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99e3597f7a4d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fae47aa56f4e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01A9C0-A194-46DD-B35D-9F0AB0189A2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68C8E6-78B5-4CFA-8C5A-897B3460298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16C19B4-8C14-44EC-A5DC-498EE8E34F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D455BE-189E-4EDD-A6DB-00EA5F1243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0E3702-18B3-4EAE-AE40-A0B8CACCA6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C5E2A9-A866-417F-A1FC-08DA1EC9EA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BE72C9-ABCA-4D25-9BE8-B94D0BEFB2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97C490-C794-47F0-A6E1-F4E94F10E5B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34842A-3C62-41B6-AF8B-C47DFE81B0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856E9A-D517-499F-9346-92E0FA035C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66f4cef79e472c" /><Relationship Type="http://schemas.openxmlformats.org/officeDocument/2006/relationships/slideLayout" Target="/ppt/slideLayouts/slideLayout1.xml" Id="R848cebc2b84c4060" /><Relationship Type="http://schemas.openxmlformats.org/officeDocument/2006/relationships/slideLayout" Target="/ppt/slideLayouts/slideLayout2.xml" Id="R9c004d1adf744957" /><Relationship Type="http://schemas.openxmlformats.org/officeDocument/2006/relationships/slideLayout" Target="/ppt/slideLayouts/slideLayout3.xml" Id="R04f8465f848842cf" /><Relationship Type="http://schemas.openxmlformats.org/officeDocument/2006/relationships/slideLayout" Target="/ppt/slideLayouts/slideLayout4.xml" Id="R15676580916749f5" /><Relationship Type="http://schemas.openxmlformats.org/officeDocument/2006/relationships/slideLayout" Target="/ppt/slideLayouts/slideLayout5.xml" Id="R133545d09683458f" /><Relationship Type="http://schemas.openxmlformats.org/officeDocument/2006/relationships/slideLayout" Target="/ppt/slideLayouts/slideLayout6.xml" Id="Rc4ac1db9608844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8cebc2b84c4060"/>
    <p:sldLayoutId xmlns:r="http://schemas.openxmlformats.org/officeDocument/2006/relationships" id="2147483650" r:id="R9c004d1adf744957"/>
    <p:sldLayoutId xmlns:r="http://schemas.openxmlformats.org/officeDocument/2006/relationships" id="2147483651" r:id="R04f8465f848842cf"/>
    <p:sldLayoutId xmlns:r="http://schemas.openxmlformats.org/officeDocument/2006/relationships" id="2147483652" r:id="R15676580916749f5"/>
    <p:sldLayoutId xmlns:r="http://schemas.openxmlformats.org/officeDocument/2006/relationships" id="2147483653" r:id="R133545d09683458f"/>
    <p:sldLayoutId xmlns:r="http://schemas.openxmlformats.org/officeDocument/2006/relationships" id="2147483654" r:id="Rc4ac1db9608844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3e2a4c45841d2" /><Relationship Type="http://schemas.openxmlformats.org/officeDocument/2006/relationships/notesSlide" Target="/ppt/notesSlides/notesSlide1.xml" Id="R52562b3cab7547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17f6d1e8ff404e" /><Relationship Type="http://schemas.openxmlformats.org/officeDocument/2006/relationships/notesSlide" Target="/ppt/notesSlides/notesSlide2.xml" Id="R9350aadf332642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aad20ad43647b4" /><Relationship Type="http://schemas.openxmlformats.org/officeDocument/2006/relationships/notesSlide" Target="/ppt/notesSlides/notesSlide3.xml" Id="Rb9bff91720ce42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c3209a165d44a8" /><Relationship Type="http://schemas.openxmlformats.org/officeDocument/2006/relationships/notesSlide" Target="/ppt/notesSlides/notesSlide4.xml" Id="Ra4aaf3c80bf84d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30ad0a2de84bf2" /><Relationship Type="http://schemas.openxmlformats.org/officeDocument/2006/relationships/notesSlide" Target="/ppt/notesSlides/notesSlide5.xml" Id="Ra2d6f228699a4f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98e92475274f90" /><Relationship Type="http://schemas.openxmlformats.org/officeDocument/2006/relationships/notesSlide" Target="/ppt/notesSlides/notesSlide6.xml" Id="R5ddbb31ab2ad4e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c37134239d04022" /><Relationship Type="http://schemas.openxmlformats.org/officeDocument/2006/relationships/notesSlide" Target="/ppt/notesSlides/notesSlide7.xml" Id="R6db5bac5194340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ecfaba0027481b" /><Relationship Type="http://schemas.openxmlformats.org/officeDocument/2006/relationships/notesSlide" Target="/ppt/notesSlides/notesSlide8.xml" Id="Re4c34f4f3f7540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05031eed9844fca" /><Relationship Type="http://schemas.openxmlformats.org/officeDocument/2006/relationships/notesSlide" Target="/ppt/notesSlides/notesSlide9.xml" Id="R8f5c74b039914f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3f4bba2c16749e7" /><Relationship Type="http://schemas.openxmlformats.org/officeDocument/2006/relationships/notesSlide" Target="/ppt/notesSlides/notesSlide10.xml" Id="Rb90297c1ed3a42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600c2e918d346a5" /><Relationship Type="http://schemas.openxmlformats.org/officeDocument/2006/relationships/notesSlide" Target="/ppt/notesSlides/notesSlide11.xml" Id="Re8f55774b1404e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d575e4275f946e9" /><Relationship Type="http://schemas.openxmlformats.org/officeDocument/2006/relationships/notesSlide" Target="/ppt/notesSlides/notesSlide12.xml" Id="Raf647349f5014af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91c266e98cf4522" /><Relationship Type="http://schemas.openxmlformats.org/officeDocument/2006/relationships/notesSlide" Target="/ppt/notesSlides/notesSlide13.xml" Id="Rb61c3198f59943a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19d830cd12147ec" /><Relationship Type="http://schemas.openxmlformats.org/officeDocument/2006/relationships/notesSlide" Target="/ppt/notesSlides/notesSlide14.xml" Id="Ree5761e5716c4a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b7543de77ef4eb5" /><Relationship Type="http://schemas.openxmlformats.org/officeDocument/2006/relationships/hyperlink" Target="https://github.com/sierra-research/tau2-bench" TargetMode="External" Id="Rf01bdd82a5a64c69" /><Relationship Type="http://schemas.openxmlformats.org/officeDocument/2006/relationships/notesSlide" Target="/ppt/notesSlides/notesSlide15.xml" Id="R038edcf4d02c472d" /></Relationships>
</file>

<file path=ppt/slides/slide1.xml><?xml version="1.0" encoding="utf-8"?>
<p:sld xmlns:p="http://schemas.openxmlformats.org/presentationml/2006/main">
  <p:cSld>
    <p:bg>
      <p:bgPr>
        <a:solidFill xmlns:a="http://schemas.openxmlformats.org/drawingml/2006/main">
          <a:srgbClr val="102B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AAD459-793C-492F-8995-485E9E3DFB03}"/>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9C9C5"/>
                </a:solidFill>
                <a:latin typeface="Helvetica Neue"/>
                <a:ea typeface="Helvetica Neue"/>
                <a:cs typeface="Helvetica Neue"/>
              </a:defRPr>
            </a:defPPr>
            <a:lvl1pPr>
              <a:defRPr sz="1200" b="0">
                <a:solidFill>
                  <a:srgbClr val="A9C9C5"/>
                </a:solidFill>
                <a:latin typeface="Helvetica Neue"/>
                <a:ea typeface="Helvetica Neue"/>
                <a:cs typeface="Helvetica Neue"/>
              </a:defRPr>
            </a:lvl1pPr>
            <a:lvl2pPr>
              <a:defRPr sz="1200" b="0">
                <a:solidFill>
                  <a:srgbClr val="A9C9C5"/>
                </a:solidFill>
                <a:latin typeface="Helvetica Neue"/>
                <a:ea typeface="Helvetica Neue"/>
                <a:cs typeface="Helvetica Neue"/>
              </a:defRPr>
            </a:lvl2pPr>
            <a:lvl3pPr>
              <a:defRPr sz="1200" b="0">
                <a:solidFill>
                  <a:srgbClr val="A9C9C5"/>
                </a:solidFill>
                <a:latin typeface="Helvetica Neue"/>
                <a:ea typeface="Helvetica Neue"/>
                <a:cs typeface="Helvetica Neue"/>
              </a:defRPr>
            </a:lvl3pPr>
            <a:lvl4pPr>
              <a:defRPr sz="1200" b="0">
                <a:solidFill>
                  <a:srgbClr val="A9C9C5"/>
                </a:solidFill>
                <a:latin typeface="Helvetica Neue"/>
                <a:ea typeface="Helvetica Neue"/>
                <a:cs typeface="Helvetica Neue"/>
              </a:defRPr>
            </a:lvl4pPr>
            <a:lvl5pPr>
              <a:defRPr sz="1200" b="0">
                <a:solidFill>
                  <a:srgbClr val="A9C9C5"/>
                </a:solidFill>
                <a:latin typeface="Helvetica Neue"/>
                <a:ea typeface="Helvetica Neue"/>
                <a:cs typeface="Helvetica Neue"/>
              </a:defRPr>
            </a:lvl5pPr>
            <a:lvl6pPr>
              <a:defRPr sz="1200" b="0">
                <a:solidFill>
                  <a:srgbClr val="A9C9C5"/>
                </a:solidFill>
                <a:latin typeface="Helvetica Neue"/>
                <a:ea typeface="Helvetica Neue"/>
                <a:cs typeface="Helvetica Neue"/>
              </a:defRPr>
            </a:lvl6pPr>
            <a:lvl7pPr>
              <a:defRPr sz="1200" b="0">
                <a:solidFill>
                  <a:srgbClr val="A9C9C5"/>
                </a:solidFill>
                <a:latin typeface="Helvetica Neue"/>
                <a:ea typeface="Helvetica Neue"/>
                <a:cs typeface="Helvetica Neue"/>
              </a:defRPr>
            </a:lvl7pPr>
            <a:lvl8pPr>
              <a:defRPr sz="1200" b="0">
                <a:solidFill>
                  <a:srgbClr val="A9C9C5"/>
                </a:solidFill>
                <a:latin typeface="Helvetica Neue"/>
                <a:ea typeface="Helvetica Neue"/>
                <a:cs typeface="Helvetica Neue"/>
              </a:defRPr>
            </a:lvl8pPr>
            <a:lvl9pPr>
              <a:defRPr sz="1200" b="0">
                <a:solidFill>
                  <a:srgbClr val="A9C9C5"/>
                </a:solidFill>
                <a:latin typeface="Helvetica Neue"/>
                <a:ea typeface="Helvetica Neue"/>
                <a:cs typeface="Helvetica Neue"/>
              </a:defRPr>
            </a:lvl9pPr>
          </a:lstStyle>
          <a:p xmlns:a="http://schemas.openxmlformats.org/drawingml/2006/main">
            <a:pPr>
              <a:defRPr sz="1200" b="0">
                <a:solidFill>
                  <a:srgbClr val="A9C9C5"/>
                </a:solidFill>
                <a:latin typeface="Helvetica Neue"/>
                <a:ea typeface="Helvetica Neue"/>
                <a:cs typeface="Helvetica Neue"/>
              </a:defRPr>
            </a:pPr>
            <a:r>
              <a:rPr sz="1200" b="0">
                <a:solidFill>
                  <a:srgbClr val="A9C9C5"/>
                </a:solidFill>
                <a:latin typeface="Helvetica Neue"/>
                <a:ea typeface="Helvetica Neue"/>
                <a:cs typeface="Helvetica Neue"/>
              </a:rPr>
              <a:t>01</a:t>
            </a:r>
          </a:p>
        </p:txBody>
      </p:sp>
      <p:sp>
        <p:nvSpPr>
          <p:cNvPr id="2" name="">
            <a:extLst xmlns:a="http://schemas.openxmlformats.org/drawingml/2006/main">
              <a:ext uri="{FF2B5EF4-FFF2-40B4-BE49-F238E27FC236}">
                <a16:creationId xmlns:a16="http://schemas.microsoft.com/office/drawing/2014/main" id="{C744CB47-441F-4C33-9A5F-D62DEBCC64C0}"/>
              </a:ext>
            </a:extLst>
          </p:cNvPr>
          <p:cNvSpPr>
            <a:spLocks xmlns:a="http://schemas.openxmlformats.org/drawingml/2006/main" noGrp="1"/>
          </p:cNvSpPr>
          <p:nvPr/>
        </p:nvSpPr>
        <p:spPr>
          <a:xfrm xmlns:a="http://schemas.openxmlformats.org/drawingml/2006/main">
            <a:off x="609600" y="14287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400" b="1">
                <a:solidFill>
                  <a:srgbClr val="FFFFFF"/>
                </a:solidFill>
                <a:latin typeface="Helvetica Neue"/>
                <a:ea typeface="Helvetica Neue"/>
                <a:cs typeface="Helvetica Neue"/>
              </a:defRPr>
            </a:defPPr>
            <a:lvl1pPr>
              <a:defRPr sz="5400" b="1">
                <a:solidFill>
                  <a:srgbClr val="FFFFFF"/>
                </a:solidFill>
                <a:latin typeface="Helvetica Neue"/>
                <a:ea typeface="Helvetica Neue"/>
                <a:cs typeface="Helvetica Neue"/>
              </a:defRPr>
            </a:lvl1pPr>
            <a:lvl2pPr>
              <a:defRPr sz="5400" b="1">
                <a:solidFill>
                  <a:srgbClr val="FFFFFF"/>
                </a:solidFill>
                <a:latin typeface="Helvetica Neue"/>
                <a:ea typeface="Helvetica Neue"/>
                <a:cs typeface="Helvetica Neue"/>
              </a:defRPr>
            </a:lvl2pPr>
            <a:lvl3pPr>
              <a:defRPr sz="5400" b="1">
                <a:solidFill>
                  <a:srgbClr val="FFFFFF"/>
                </a:solidFill>
                <a:latin typeface="Helvetica Neue"/>
                <a:ea typeface="Helvetica Neue"/>
                <a:cs typeface="Helvetica Neue"/>
              </a:defRPr>
            </a:lvl3pPr>
            <a:lvl4pPr>
              <a:defRPr sz="5400" b="1">
                <a:solidFill>
                  <a:srgbClr val="FFFFFF"/>
                </a:solidFill>
                <a:latin typeface="Helvetica Neue"/>
                <a:ea typeface="Helvetica Neue"/>
                <a:cs typeface="Helvetica Neue"/>
              </a:defRPr>
            </a:lvl4pPr>
            <a:lvl5pPr>
              <a:defRPr sz="5400" b="1">
                <a:solidFill>
                  <a:srgbClr val="FFFFFF"/>
                </a:solidFill>
                <a:latin typeface="Helvetica Neue"/>
                <a:ea typeface="Helvetica Neue"/>
                <a:cs typeface="Helvetica Neue"/>
              </a:defRPr>
            </a:lvl5pPr>
            <a:lvl6pPr>
              <a:defRPr sz="5400" b="1">
                <a:solidFill>
                  <a:srgbClr val="FFFFFF"/>
                </a:solidFill>
                <a:latin typeface="Helvetica Neue"/>
                <a:ea typeface="Helvetica Neue"/>
                <a:cs typeface="Helvetica Neue"/>
              </a:defRPr>
            </a:lvl6pPr>
            <a:lvl7pPr>
              <a:defRPr sz="5400" b="1">
                <a:solidFill>
                  <a:srgbClr val="FFFFFF"/>
                </a:solidFill>
                <a:latin typeface="Helvetica Neue"/>
                <a:ea typeface="Helvetica Neue"/>
                <a:cs typeface="Helvetica Neue"/>
              </a:defRPr>
            </a:lvl7pPr>
            <a:lvl8pPr>
              <a:defRPr sz="5400" b="1">
                <a:solidFill>
                  <a:srgbClr val="FFFFFF"/>
                </a:solidFill>
                <a:latin typeface="Helvetica Neue"/>
                <a:ea typeface="Helvetica Neue"/>
                <a:cs typeface="Helvetica Neue"/>
              </a:defRPr>
            </a:lvl8pPr>
            <a:lvl9pPr>
              <a:defRPr sz="5400" b="1">
                <a:solidFill>
                  <a:srgbClr val="FFFFFF"/>
                </a:solidFill>
                <a:latin typeface="Helvetica Neue"/>
                <a:ea typeface="Helvetica Neue"/>
                <a:cs typeface="Helvetica Neue"/>
              </a:defRPr>
            </a:lvl9pPr>
          </a:lstStyle>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Verifiable Commerce</a:t>
            </a:r>
          </a:p>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Agents</a:t>
            </a:r>
          </a:p>
        </p:txBody>
      </p:sp>
      <p:sp>
        <p:nvSpPr>
          <p:cNvPr id="3" name="">
            <a:extLst xmlns:a="http://schemas.openxmlformats.org/drawingml/2006/main">
              <a:ext uri="{FF2B5EF4-FFF2-40B4-BE49-F238E27FC236}">
                <a16:creationId xmlns:a16="http://schemas.microsoft.com/office/drawing/2014/main" id="{884DC798-F706-4741-A8E4-ACFA96C03654}"/>
              </a:ext>
            </a:extLst>
          </p:cNvPr>
          <p:cNvSpPr>
            <a:spLocks xmlns:a="http://schemas.openxmlformats.org/drawingml/2006/main" noGrp="1"/>
          </p:cNvSpPr>
          <p:nvPr/>
        </p:nvSpPr>
        <p:spPr>
          <a:xfrm xmlns:a="http://schemas.openxmlformats.org/drawingml/2006/main">
            <a:off x="647700" y="3476625"/>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B9D7D2"/>
                </a:solidFill>
                <a:latin typeface="Helvetica Neue"/>
                <a:ea typeface="Helvetica Neue"/>
                <a:cs typeface="Helvetica Neue"/>
              </a:defRPr>
            </a:defPPr>
            <a:lvl1pPr>
              <a:defRPr sz="2400" b="0">
                <a:solidFill>
                  <a:srgbClr val="B9D7D2"/>
                </a:solidFill>
                <a:latin typeface="Helvetica Neue"/>
                <a:ea typeface="Helvetica Neue"/>
                <a:cs typeface="Helvetica Neue"/>
              </a:defRPr>
            </a:lvl1pPr>
            <a:lvl2pPr>
              <a:defRPr sz="2400" b="0">
                <a:solidFill>
                  <a:srgbClr val="B9D7D2"/>
                </a:solidFill>
                <a:latin typeface="Helvetica Neue"/>
                <a:ea typeface="Helvetica Neue"/>
                <a:cs typeface="Helvetica Neue"/>
              </a:defRPr>
            </a:lvl2pPr>
            <a:lvl3pPr>
              <a:defRPr sz="2400" b="0">
                <a:solidFill>
                  <a:srgbClr val="B9D7D2"/>
                </a:solidFill>
                <a:latin typeface="Helvetica Neue"/>
                <a:ea typeface="Helvetica Neue"/>
                <a:cs typeface="Helvetica Neue"/>
              </a:defRPr>
            </a:lvl3pPr>
            <a:lvl4pPr>
              <a:defRPr sz="2400" b="0">
                <a:solidFill>
                  <a:srgbClr val="B9D7D2"/>
                </a:solidFill>
                <a:latin typeface="Helvetica Neue"/>
                <a:ea typeface="Helvetica Neue"/>
                <a:cs typeface="Helvetica Neue"/>
              </a:defRPr>
            </a:lvl4pPr>
            <a:lvl5pPr>
              <a:defRPr sz="2400" b="0">
                <a:solidFill>
                  <a:srgbClr val="B9D7D2"/>
                </a:solidFill>
                <a:latin typeface="Helvetica Neue"/>
                <a:ea typeface="Helvetica Neue"/>
                <a:cs typeface="Helvetica Neue"/>
              </a:defRPr>
            </a:lvl5pPr>
            <a:lvl6pPr>
              <a:defRPr sz="2400" b="0">
                <a:solidFill>
                  <a:srgbClr val="B9D7D2"/>
                </a:solidFill>
                <a:latin typeface="Helvetica Neue"/>
                <a:ea typeface="Helvetica Neue"/>
                <a:cs typeface="Helvetica Neue"/>
              </a:defRPr>
            </a:lvl6pPr>
            <a:lvl7pPr>
              <a:defRPr sz="2400" b="0">
                <a:solidFill>
                  <a:srgbClr val="B9D7D2"/>
                </a:solidFill>
                <a:latin typeface="Helvetica Neue"/>
                <a:ea typeface="Helvetica Neue"/>
                <a:cs typeface="Helvetica Neue"/>
              </a:defRPr>
            </a:lvl7pPr>
            <a:lvl8pPr>
              <a:defRPr sz="2400" b="0">
                <a:solidFill>
                  <a:srgbClr val="B9D7D2"/>
                </a:solidFill>
                <a:latin typeface="Helvetica Neue"/>
                <a:ea typeface="Helvetica Neue"/>
                <a:cs typeface="Helvetica Neue"/>
              </a:defRPr>
            </a:lvl8pPr>
            <a:lvl9pPr>
              <a:defRPr sz="2400" b="0">
                <a:solidFill>
                  <a:srgbClr val="B9D7D2"/>
                </a:solidFill>
                <a:latin typeface="Helvetica Neue"/>
                <a:ea typeface="Helvetica Neue"/>
                <a:cs typeface="Helvetica Neue"/>
              </a:defRPr>
            </a:lvl9pPr>
          </a:lstStyle>
          <a:p xmlns:a="http://schemas.openxmlformats.org/drawingml/2006/main">
            <a:pPr>
              <a:defRPr sz="2400" b="0">
                <a:solidFill>
                  <a:srgbClr val="B9D7D2"/>
                </a:solidFill>
                <a:latin typeface="Helvetica Neue"/>
                <a:ea typeface="Helvetica Neue"/>
                <a:cs typeface="Helvetica Neue"/>
              </a:defRPr>
            </a:pPr>
            <a:r>
              <a:rPr sz="2400" b="0">
                <a:solidFill>
                  <a:srgbClr val="B9D7D2"/>
                </a:solidFill>
                <a:latin typeface="Helvetica Neue"/>
                <a:ea typeface="Helvetica Neue"/>
                <a:cs typeface="Helvetica Neue"/>
              </a:rPr>
              <a:t>A capstone proposal for evaluating retail agents</a:t>
            </a:r>
          </a:p>
          <a:p xmlns:a="http://schemas.openxmlformats.org/drawingml/2006/main">
            <a:pPr>
              <a:defRPr sz="2400" b="0">
                <a:solidFill>
                  <a:srgbClr val="B9D7D2"/>
                </a:solidFill>
                <a:latin typeface="Helvetica Neue"/>
                <a:ea typeface="Helvetica Neue"/>
                <a:cs typeface="Helvetica Neue"/>
              </a:defRPr>
            </a:pPr>
            <a:r>
              <a:rPr sz="2400" b="0">
                <a:solidFill>
                  <a:srgbClr val="B9D7D2"/>
                </a:solidFill>
                <a:latin typeface="Helvetica Neue"/>
                <a:ea typeface="Helvetica Neue"/>
                <a:cs typeface="Helvetica Neue"/>
              </a:rPr>
              <a:t>with controlled tools and verifiable evidence</a:t>
            </a:r>
          </a:p>
        </p:txBody>
      </p:sp>
      <p:sp>
        <p:nvSpPr>
          <p:cNvPr id="4" name="">
            <a:extLst xmlns:a="http://schemas.openxmlformats.org/drawingml/2006/main">
              <a:ext uri="{FF2B5EF4-FFF2-40B4-BE49-F238E27FC236}">
                <a16:creationId xmlns:a16="http://schemas.microsoft.com/office/drawing/2014/main" id="{02118D97-C87D-4F34-9B62-547D65052848}"/>
              </a:ext>
            </a:extLst>
          </p:cNvPr>
          <p:cNvSpPr>
            <a:spLocks xmlns:a="http://schemas.openxmlformats.org/drawingml/2006/main" noGrp="1"/>
          </p:cNvSpPr>
          <p:nvPr/>
        </p:nvSpPr>
        <p:spPr>
          <a:xfrm xmlns:a="http://schemas.openxmlformats.org/drawingml/2006/main">
            <a:off x="647700" y="56197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B9D7D2"/>
                </a:solidFill>
                <a:latin typeface="Helvetica Neue"/>
                <a:ea typeface="Helvetica Neue"/>
                <a:cs typeface="Helvetica Neue"/>
              </a:defRPr>
            </a:defPPr>
            <a:lvl1pPr>
              <a:defRPr sz="1725" b="0">
                <a:solidFill>
                  <a:srgbClr val="B9D7D2"/>
                </a:solidFill>
                <a:latin typeface="Helvetica Neue"/>
                <a:ea typeface="Helvetica Neue"/>
                <a:cs typeface="Helvetica Neue"/>
              </a:defRPr>
            </a:lvl1pPr>
            <a:lvl2pPr>
              <a:defRPr sz="1725" b="0">
                <a:solidFill>
                  <a:srgbClr val="B9D7D2"/>
                </a:solidFill>
                <a:latin typeface="Helvetica Neue"/>
                <a:ea typeface="Helvetica Neue"/>
                <a:cs typeface="Helvetica Neue"/>
              </a:defRPr>
            </a:lvl2pPr>
            <a:lvl3pPr>
              <a:defRPr sz="1725" b="0">
                <a:solidFill>
                  <a:srgbClr val="B9D7D2"/>
                </a:solidFill>
                <a:latin typeface="Helvetica Neue"/>
                <a:ea typeface="Helvetica Neue"/>
                <a:cs typeface="Helvetica Neue"/>
              </a:defRPr>
            </a:lvl3pPr>
            <a:lvl4pPr>
              <a:defRPr sz="1725" b="0">
                <a:solidFill>
                  <a:srgbClr val="B9D7D2"/>
                </a:solidFill>
                <a:latin typeface="Helvetica Neue"/>
                <a:ea typeface="Helvetica Neue"/>
                <a:cs typeface="Helvetica Neue"/>
              </a:defRPr>
            </a:lvl4pPr>
            <a:lvl5pPr>
              <a:defRPr sz="1725" b="0">
                <a:solidFill>
                  <a:srgbClr val="B9D7D2"/>
                </a:solidFill>
                <a:latin typeface="Helvetica Neue"/>
                <a:ea typeface="Helvetica Neue"/>
                <a:cs typeface="Helvetica Neue"/>
              </a:defRPr>
            </a:lvl5pPr>
            <a:lvl6pPr>
              <a:defRPr sz="1725" b="0">
                <a:solidFill>
                  <a:srgbClr val="B9D7D2"/>
                </a:solidFill>
                <a:latin typeface="Helvetica Neue"/>
                <a:ea typeface="Helvetica Neue"/>
                <a:cs typeface="Helvetica Neue"/>
              </a:defRPr>
            </a:lvl6pPr>
            <a:lvl7pPr>
              <a:defRPr sz="1725" b="0">
                <a:solidFill>
                  <a:srgbClr val="B9D7D2"/>
                </a:solidFill>
                <a:latin typeface="Helvetica Neue"/>
                <a:ea typeface="Helvetica Neue"/>
                <a:cs typeface="Helvetica Neue"/>
              </a:defRPr>
            </a:lvl7pPr>
            <a:lvl8pPr>
              <a:defRPr sz="1725" b="0">
                <a:solidFill>
                  <a:srgbClr val="B9D7D2"/>
                </a:solidFill>
                <a:latin typeface="Helvetica Neue"/>
                <a:ea typeface="Helvetica Neue"/>
                <a:cs typeface="Helvetica Neue"/>
              </a:defRPr>
            </a:lvl8pPr>
            <a:lvl9pPr>
              <a:defRPr sz="1725" b="0">
                <a:solidFill>
                  <a:srgbClr val="B9D7D2"/>
                </a:solidFill>
                <a:latin typeface="Helvetica Neue"/>
                <a:ea typeface="Helvetica Neue"/>
                <a:cs typeface="Helvetica Neue"/>
              </a:defRPr>
            </a:lvl9pPr>
          </a:lstStyle>
          <a:p xmlns:a="http://schemas.openxmlformats.org/drawingml/2006/main">
            <a:pPr>
              <a:defRPr sz="1725" b="0">
                <a:solidFill>
                  <a:srgbClr val="B9D7D2"/>
                </a:solidFill>
                <a:latin typeface="Helvetica Neue"/>
                <a:ea typeface="Helvetica Neue"/>
                <a:cs typeface="Helvetica Neue"/>
              </a:defRPr>
            </a:pPr>
            <a:r>
              <a:rPr sz="1725" b="0">
                <a:solidFill>
                  <a:srgbClr val="B9D7D2"/>
                </a:solidFill>
                <a:latin typeface="Helvetica Neue"/>
                <a:ea typeface="Helvetica Neue"/>
                <a:cs typeface="Helvetica Neue"/>
              </a:rPr>
              <a:t>Rosso Han</a:t>
            </a:r>
          </a:p>
          <a:p xmlns:a="http://schemas.openxmlformats.org/drawingml/2006/main">
            <a:pPr>
              <a:defRPr sz="1725" b="0">
                <a:solidFill>
                  <a:srgbClr val="B9D7D2"/>
                </a:solidFill>
                <a:latin typeface="Helvetica Neue"/>
                <a:ea typeface="Helvetica Neue"/>
                <a:cs typeface="Helvetica Neue"/>
              </a:defRPr>
            </a:pPr>
            <a:r>
              <a:rPr sz="1725" b="0">
                <a:solidFill>
                  <a:srgbClr val="B9D7D2"/>
                </a:solidFill>
                <a:latin typeface="Helvetica Neue"/>
                <a:ea typeface="Helvetica Neue"/>
                <a:cs typeface="Helvetica Neue"/>
              </a:rPr>
              <a:t>October 2026</a:t>
            </a:r>
          </a:p>
        </p:txBody>
      </p:sp>
    </p:spTree>
    <p:extLst>
      <p:ext uri="{BB962C8B-B14F-4D97-AF65-F5344CB8AC3E}">
        <p14:creationId xmlns:p14="http://schemas.microsoft.com/office/powerpoint/2010/main" val="435827857"/>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402BFF-EA0D-44DC-AE23-376BCE5C5E3C}"/>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945DEAA4-2A24-4028-B79E-269E48DDA95B}"/>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capstone goal</a:t>
            </a:r>
          </a:p>
        </p:txBody>
      </p:sp>
      <p:sp>
        <p:nvSpPr>
          <p:cNvPr id="3" name="">
            <a:extLst xmlns:a="http://schemas.openxmlformats.org/drawingml/2006/main">
              <a:ext uri="{FF2B5EF4-FFF2-40B4-BE49-F238E27FC236}">
                <a16:creationId xmlns:a16="http://schemas.microsoft.com/office/drawing/2014/main" id="{25431E46-ADA9-41AE-8109-673AFC91E276}"/>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Evaluate interchangeable retail agents against explicit business rules</a:t>
            </a:r>
          </a:p>
        </p:txBody>
      </p:sp>
      <p:sp>
        <p:nvSpPr>
          <p:cNvPr id="4" name="">
            <a:extLst xmlns:a="http://schemas.openxmlformats.org/drawingml/2006/main">
              <a:ext uri="{FF2B5EF4-FFF2-40B4-BE49-F238E27FC236}">
                <a16:creationId xmlns:a16="http://schemas.microsoft.com/office/drawing/2014/main" id="{5F01B40D-FD38-4CEB-9684-74330F830901}"/>
              </a:ext>
            </a:extLst>
          </p:cNvPr>
          <p:cNvSpPr>
            <a:spLocks xmlns:a="http://schemas.openxmlformats.org/drawingml/2006/main" noGrp="1"/>
          </p:cNvSpPr>
          <p:nvPr/>
        </p:nvSpPr>
        <p:spPr>
          <a:xfrm xmlns:a="http://schemas.openxmlformats.org/drawingml/2006/main">
            <a:off x="628650" y="22383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02B36"/>
                </a:solidFill>
                <a:latin typeface="Helvetica Neue"/>
                <a:ea typeface="Helvetica Neue"/>
                <a:cs typeface="Helvetica Neue"/>
              </a:defRPr>
            </a:defPPr>
            <a:lvl1pPr>
              <a:defRPr sz="3000" b="1">
                <a:solidFill>
                  <a:srgbClr val="102B36"/>
                </a:solidFill>
                <a:latin typeface="Helvetica Neue"/>
                <a:ea typeface="Helvetica Neue"/>
                <a:cs typeface="Helvetica Neue"/>
              </a:defRPr>
            </a:lvl1pPr>
            <a:lvl2pPr>
              <a:defRPr sz="3000" b="1">
                <a:solidFill>
                  <a:srgbClr val="102B36"/>
                </a:solidFill>
                <a:latin typeface="Helvetica Neue"/>
                <a:ea typeface="Helvetica Neue"/>
                <a:cs typeface="Helvetica Neue"/>
              </a:defRPr>
            </a:lvl2pPr>
            <a:lvl3pPr>
              <a:defRPr sz="3000" b="1">
                <a:solidFill>
                  <a:srgbClr val="102B36"/>
                </a:solidFill>
                <a:latin typeface="Helvetica Neue"/>
                <a:ea typeface="Helvetica Neue"/>
                <a:cs typeface="Helvetica Neue"/>
              </a:defRPr>
            </a:lvl3pPr>
            <a:lvl4pPr>
              <a:defRPr sz="3000" b="1">
                <a:solidFill>
                  <a:srgbClr val="102B36"/>
                </a:solidFill>
                <a:latin typeface="Helvetica Neue"/>
                <a:ea typeface="Helvetica Neue"/>
                <a:cs typeface="Helvetica Neue"/>
              </a:defRPr>
            </a:lvl4pPr>
            <a:lvl5pPr>
              <a:defRPr sz="3000" b="1">
                <a:solidFill>
                  <a:srgbClr val="102B36"/>
                </a:solidFill>
                <a:latin typeface="Helvetica Neue"/>
                <a:ea typeface="Helvetica Neue"/>
                <a:cs typeface="Helvetica Neue"/>
              </a:defRPr>
            </a:lvl5pPr>
            <a:lvl6pPr>
              <a:defRPr sz="3000" b="1">
                <a:solidFill>
                  <a:srgbClr val="102B36"/>
                </a:solidFill>
                <a:latin typeface="Helvetica Neue"/>
                <a:ea typeface="Helvetica Neue"/>
                <a:cs typeface="Helvetica Neue"/>
              </a:defRPr>
            </a:lvl6pPr>
            <a:lvl7pPr>
              <a:defRPr sz="3000" b="1">
                <a:solidFill>
                  <a:srgbClr val="102B36"/>
                </a:solidFill>
                <a:latin typeface="Helvetica Neue"/>
                <a:ea typeface="Helvetica Neue"/>
                <a:cs typeface="Helvetica Neue"/>
              </a:defRPr>
            </a:lvl7pPr>
            <a:lvl8pPr>
              <a:defRPr sz="3000" b="1">
                <a:solidFill>
                  <a:srgbClr val="102B36"/>
                </a:solidFill>
                <a:latin typeface="Helvetica Neue"/>
                <a:ea typeface="Helvetica Neue"/>
                <a:cs typeface="Helvetica Neue"/>
              </a:defRPr>
            </a:lvl8pPr>
            <a:lvl9pPr>
              <a:defRPr sz="3000" b="1">
                <a:solidFill>
                  <a:srgbClr val="102B36"/>
                </a:solidFill>
                <a:latin typeface="Helvetica Neue"/>
                <a:ea typeface="Helvetica Neue"/>
                <a:cs typeface="Helvetica Neue"/>
              </a:defRPr>
            </a:lvl9pPr>
          </a:lstStyle>
          <a:p xmlns:a="http://schemas.openxmlformats.org/drawingml/2006/main">
            <a:pPr>
              <a:defRPr sz="3000" b="1">
                <a:solidFill>
                  <a:srgbClr val="102B36"/>
                </a:solidFill>
                <a:latin typeface="Helvetica Neue"/>
                <a:ea typeface="Helvetica Neue"/>
                <a:cs typeface="Helvetica Neue"/>
              </a:defRPr>
            </a:pPr>
            <a:r>
              <a:rPr sz="3000" b="1">
                <a:solidFill>
                  <a:srgbClr val="102B36"/>
                </a:solidFill>
                <a:latin typeface="Helvetica Neue"/>
                <a:ea typeface="Helvetica Neue"/>
                <a:cs typeface="Helvetica Neue"/>
              </a:rPr>
              <a:t>Did the agent complete the task?</a:t>
            </a:r>
          </a:p>
        </p:txBody>
      </p:sp>
      <p:sp>
        <p:nvSpPr>
          <p:cNvPr id="5" name="">
            <a:extLst xmlns:a="http://schemas.openxmlformats.org/drawingml/2006/main">
              <a:ext uri="{FF2B5EF4-FFF2-40B4-BE49-F238E27FC236}">
                <a16:creationId xmlns:a16="http://schemas.microsoft.com/office/drawing/2014/main" id="{11FE9A54-9C16-45F8-9220-A67C49F30559}"/>
              </a:ext>
            </a:extLst>
          </p:cNvPr>
          <p:cNvSpPr>
            <a:spLocks xmlns:a="http://schemas.openxmlformats.org/drawingml/2006/main" noGrp="1"/>
          </p:cNvSpPr>
          <p:nvPr/>
        </p:nvSpPr>
        <p:spPr>
          <a:xfrm xmlns:a="http://schemas.openxmlformats.org/drawingml/2006/main">
            <a:off x="628650" y="28860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0636A"/>
                </a:solidFill>
                <a:latin typeface="Helvetica Neue"/>
                <a:ea typeface="Helvetica Neue"/>
                <a:cs typeface="Helvetica Neue"/>
              </a:defRPr>
            </a:defPPr>
            <a:lvl1pPr>
              <a:defRPr sz="2100" b="0">
                <a:solidFill>
                  <a:srgbClr val="50636A"/>
                </a:solidFill>
                <a:latin typeface="Helvetica Neue"/>
                <a:ea typeface="Helvetica Neue"/>
                <a:cs typeface="Helvetica Neue"/>
              </a:defRPr>
            </a:lvl1pPr>
            <a:lvl2pPr>
              <a:defRPr sz="2100" b="0">
                <a:solidFill>
                  <a:srgbClr val="50636A"/>
                </a:solidFill>
                <a:latin typeface="Helvetica Neue"/>
                <a:ea typeface="Helvetica Neue"/>
                <a:cs typeface="Helvetica Neue"/>
              </a:defRPr>
            </a:lvl2pPr>
            <a:lvl3pPr>
              <a:defRPr sz="2100" b="0">
                <a:solidFill>
                  <a:srgbClr val="50636A"/>
                </a:solidFill>
                <a:latin typeface="Helvetica Neue"/>
                <a:ea typeface="Helvetica Neue"/>
                <a:cs typeface="Helvetica Neue"/>
              </a:defRPr>
            </a:lvl3pPr>
            <a:lvl4pPr>
              <a:defRPr sz="2100" b="0">
                <a:solidFill>
                  <a:srgbClr val="50636A"/>
                </a:solidFill>
                <a:latin typeface="Helvetica Neue"/>
                <a:ea typeface="Helvetica Neue"/>
                <a:cs typeface="Helvetica Neue"/>
              </a:defRPr>
            </a:lvl4pPr>
            <a:lvl5pPr>
              <a:defRPr sz="2100" b="0">
                <a:solidFill>
                  <a:srgbClr val="50636A"/>
                </a:solidFill>
                <a:latin typeface="Helvetica Neue"/>
                <a:ea typeface="Helvetica Neue"/>
                <a:cs typeface="Helvetica Neue"/>
              </a:defRPr>
            </a:lvl5pPr>
            <a:lvl6pPr>
              <a:defRPr sz="2100" b="0">
                <a:solidFill>
                  <a:srgbClr val="50636A"/>
                </a:solidFill>
                <a:latin typeface="Helvetica Neue"/>
                <a:ea typeface="Helvetica Neue"/>
                <a:cs typeface="Helvetica Neue"/>
              </a:defRPr>
            </a:lvl6pPr>
            <a:lvl7pPr>
              <a:defRPr sz="2100" b="0">
                <a:solidFill>
                  <a:srgbClr val="50636A"/>
                </a:solidFill>
                <a:latin typeface="Helvetica Neue"/>
                <a:ea typeface="Helvetica Neue"/>
                <a:cs typeface="Helvetica Neue"/>
              </a:defRPr>
            </a:lvl7pPr>
            <a:lvl8pPr>
              <a:defRPr sz="2100" b="0">
                <a:solidFill>
                  <a:srgbClr val="50636A"/>
                </a:solidFill>
                <a:latin typeface="Helvetica Neue"/>
                <a:ea typeface="Helvetica Neue"/>
                <a:cs typeface="Helvetica Neue"/>
              </a:defRPr>
            </a:lvl8pPr>
            <a:lvl9pPr>
              <a:defRPr sz="2100" b="0">
                <a:solidFill>
                  <a:srgbClr val="50636A"/>
                </a:solidFill>
                <a:latin typeface="Helvetica Neue"/>
                <a:ea typeface="Helvetica Neue"/>
                <a:cs typeface="Helvetica Neue"/>
              </a:defRPr>
            </a:lvl9pPr>
          </a:lstStyle>
          <a:p xmlns:a="http://schemas.openxmlformats.org/drawingml/2006/main">
            <a:pPr>
              <a:defRPr sz="2100" b="0">
                <a:solidFill>
                  <a:srgbClr val="50636A"/>
                </a:solidFill>
                <a:latin typeface="Helvetica Neue"/>
                <a:ea typeface="Helvetica Neue"/>
                <a:cs typeface="Helvetica Neue"/>
              </a:defRPr>
            </a:pPr>
            <a:r>
              <a:rPr sz="2100" b="0">
                <a:solidFill>
                  <a:srgbClr val="50636A"/>
                </a:solidFill>
                <a:latin typeface="Helvetica Neue"/>
                <a:ea typeface="Helvetica Neue"/>
                <a:cs typeface="Helvetica Neue"/>
              </a:rPr>
              <a:t>Check the actual order, refund and inventory state.</a:t>
            </a:r>
          </a:p>
        </p:txBody>
      </p:sp>
      <p:sp>
        <p:nvSpPr>
          <p:cNvPr id="6" name="">
            <a:extLst xmlns:a="http://schemas.openxmlformats.org/drawingml/2006/main">
              <a:ext uri="{FF2B5EF4-FFF2-40B4-BE49-F238E27FC236}">
                <a16:creationId xmlns:a16="http://schemas.microsoft.com/office/drawing/2014/main" id="{45B407AB-0606-493C-BE29-10EF023946B1}"/>
              </a:ext>
            </a:extLst>
          </p:cNvPr>
          <p:cNvSpPr>
            <a:spLocks xmlns:a="http://schemas.openxmlformats.org/drawingml/2006/main" noGrp="1"/>
          </p:cNvSpPr>
          <p:nvPr/>
        </p:nvSpPr>
        <p:spPr>
          <a:xfrm xmlns:a="http://schemas.openxmlformats.org/drawingml/2006/main">
            <a:off x="628650" y="38100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007B78"/>
                </a:solidFill>
                <a:latin typeface="Helvetica Neue"/>
                <a:ea typeface="Helvetica Neue"/>
                <a:cs typeface="Helvetica Neue"/>
              </a:defRPr>
            </a:defPPr>
            <a:lvl1pPr>
              <a:defRPr sz="3000" b="1">
                <a:solidFill>
                  <a:srgbClr val="007B78"/>
                </a:solidFill>
                <a:latin typeface="Helvetica Neue"/>
                <a:ea typeface="Helvetica Neue"/>
                <a:cs typeface="Helvetica Neue"/>
              </a:defRPr>
            </a:lvl1pPr>
            <a:lvl2pPr>
              <a:defRPr sz="3000" b="1">
                <a:solidFill>
                  <a:srgbClr val="007B78"/>
                </a:solidFill>
                <a:latin typeface="Helvetica Neue"/>
                <a:ea typeface="Helvetica Neue"/>
                <a:cs typeface="Helvetica Neue"/>
              </a:defRPr>
            </a:lvl2pPr>
            <a:lvl3pPr>
              <a:defRPr sz="3000" b="1">
                <a:solidFill>
                  <a:srgbClr val="007B78"/>
                </a:solidFill>
                <a:latin typeface="Helvetica Neue"/>
                <a:ea typeface="Helvetica Neue"/>
                <a:cs typeface="Helvetica Neue"/>
              </a:defRPr>
            </a:lvl3pPr>
            <a:lvl4pPr>
              <a:defRPr sz="3000" b="1">
                <a:solidFill>
                  <a:srgbClr val="007B78"/>
                </a:solidFill>
                <a:latin typeface="Helvetica Neue"/>
                <a:ea typeface="Helvetica Neue"/>
                <a:cs typeface="Helvetica Neue"/>
              </a:defRPr>
            </a:lvl4pPr>
            <a:lvl5pPr>
              <a:defRPr sz="3000" b="1">
                <a:solidFill>
                  <a:srgbClr val="007B78"/>
                </a:solidFill>
                <a:latin typeface="Helvetica Neue"/>
                <a:ea typeface="Helvetica Neue"/>
                <a:cs typeface="Helvetica Neue"/>
              </a:defRPr>
            </a:lvl5pPr>
            <a:lvl6pPr>
              <a:defRPr sz="3000" b="1">
                <a:solidFill>
                  <a:srgbClr val="007B78"/>
                </a:solidFill>
                <a:latin typeface="Helvetica Neue"/>
                <a:ea typeface="Helvetica Neue"/>
                <a:cs typeface="Helvetica Neue"/>
              </a:defRPr>
            </a:lvl6pPr>
            <a:lvl7pPr>
              <a:defRPr sz="3000" b="1">
                <a:solidFill>
                  <a:srgbClr val="007B78"/>
                </a:solidFill>
                <a:latin typeface="Helvetica Neue"/>
                <a:ea typeface="Helvetica Neue"/>
                <a:cs typeface="Helvetica Neue"/>
              </a:defRPr>
            </a:lvl7pPr>
            <a:lvl8pPr>
              <a:defRPr sz="3000" b="1">
                <a:solidFill>
                  <a:srgbClr val="007B78"/>
                </a:solidFill>
                <a:latin typeface="Helvetica Neue"/>
                <a:ea typeface="Helvetica Neue"/>
                <a:cs typeface="Helvetica Neue"/>
              </a:defRPr>
            </a:lvl8pPr>
            <a:lvl9pPr>
              <a:defRPr sz="3000" b="1">
                <a:solidFill>
                  <a:srgbClr val="007B78"/>
                </a:solidFill>
                <a:latin typeface="Helvetica Neue"/>
                <a:ea typeface="Helvetica Neue"/>
                <a:cs typeface="Helvetica Neue"/>
              </a:defRPr>
            </a:lvl9pPr>
          </a:lstStyle>
          <a:p xmlns:a="http://schemas.openxmlformats.org/drawingml/2006/main">
            <a:pPr>
              <a:defRPr sz="3000" b="1">
                <a:solidFill>
                  <a:srgbClr val="007B78"/>
                </a:solidFill>
                <a:latin typeface="Helvetica Neue"/>
                <a:ea typeface="Helvetica Neue"/>
                <a:cs typeface="Helvetica Neue"/>
              </a:defRPr>
            </a:pPr>
            <a:r>
              <a:rPr sz="3000" b="1">
                <a:solidFill>
                  <a:srgbClr val="007B78"/>
                </a:solidFill>
                <a:latin typeface="Helvetica Neue"/>
                <a:ea typeface="Helvetica Neue"/>
                <a:cs typeface="Helvetica Neue"/>
              </a:rPr>
              <a:t>Did it act within its authority?</a:t>
            </a:r>
          </a:p>
        </p:txBody>
      </p:sp>
      <p:sp>
        <p:nvSpPr>
          <p:cNvPr id="7" name="">
            <a:extLst xmlns:a="http://schemas.openxmlformats.org/drawingml/2006/main">
              <a:ext uri="{FF2B5EF4-FFF2-40B4-BE49-F238E27FC236}">
                <a16:creationId xmlns:a16="http://schemas.microsoft.com/office/drawing/2014/main" id="{D35690F4-B60B-4652-8A2C-CBA50790EFFF}"/>
              </a:ext>
            </a:extLst>
          </p:cNvPr>
          <p:cNvSpPr>
            <a:spLocks xmlns:a="http://schemas.openxmlformats.org/drawingml/2006/main" noGrp="1"/>
          </p:cNvSpPr>
          <p:nvPr/>
        </p:nvSpPr>
        <p:spPr>
          <a:xfrm xmlns:a="http://schemas.openxmlformats.org/drawingml/2006/main">
            <a:off x="628650" y="44577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0636A"/>
                </a:solidFill>
                <a:latin typeface="Helvetica Neue"/>
                <a:ea typeface="Helvetica Neue"/>
                <a:cs typeface="Helvetica Neue"/>
              </a:defRPr>
            </a:defPPr>
            <a:lvl1pPr>
              <a:defRPr sz="2100" b="0">
                <a:solidFill>
                  <a:srgbClr val="50636A"/>
                </a:solidFill>
                <a:latin typeface="Helvetica Neue"/>
                <a:ea typeface="Helvetica Neue"/>
                <a:cs typeface="Helvetica Neue"/>
              </a:defRPr>
            </a:lvl1pPr>
            <a:lvl2pPr>
              <a:defRPr sz="2100" b="0">
                <a:solidFill>
                  <a:srgbClr val="50636A"/>
                </a:solidFill>
                <a:latin typeface="Helvetica Neue"/>
                <a:ea typeface="Helvetica Neue"/>
                <a:cs typeface="Helvetica Neue"/>
              </a:defRPr>
            </a:lvl2pPr>
            <a:lvl3pPr>
              <a:defRPr sz="2100" b="0">
                <a:solidFill>
                  <a:srgbClr val="50636A"/>
                </a:solidFill>
                <a:latin typeface="Helvetica Neue"/>
                <a:ea typeface="Helvetica Neue"/>
                <a:cs typeface="Helvetica Neue"/>
              </a:defRPr>
            </a:lvl3pPr>
            <a:lvl4pPr>
              <a:defRPr sz="2100" b="0">
                <a:solidFill>
                  <a:srgbClr val="50636A"/>
                </a:solidFill>
                <a:latin typeface="Helvetica Neue"/>
                <a:ea typeface="Helvetica Neue"/>
                <a:cs typeface="Helvetica Neue"/>
              </a:defRPr>
            </a:lvl4pPr>
            <a:lvl5pPr>
              <a:defRPr sz="2100" b="0">
                <a:solidFill>
                  <a:srgbClr val="50636A"/>
                </a:solidFill>
                <a:latin typeface="Helvetica Neue"/>
                <a:ea typeface="Helvetica Neue"/>
                <a:cs typeface="Helvetica Neue"/>
              </a:defRPr>
            </a:lvl5pPr>
            <a:lvl6pPr>
              <a:defRPr sz="2100" b="0">
                <a:solidFill>
                  <a:srgbClr val="50636A"/>
                </a:solidFill>
                <a:latin typeface="Helvetica Neue"/>
                <a:ea typeface="Helvetica Neue"/>
                <a:cs typeface="Helvetica Neue"/>
              </a:defRPr>
            </a:lvl6pPr>
            <a:lvl7pPr>
              <a:defRPr sz="2100" b="0">
                <a:solidFill>
                  <a:srgbClr val="50636A"/>
                </a:solidFill>
                <a:latin typeface="Helvetica Neue"/>
                <a:ea typeface="Helvetica Neue"/>
                <a:cs typeface="Helvetica Neue"/>
              </a:defRPr>
            </a:lvl7pPr>
            <a:lvl8pPr>
              <a:defRPr sz="2100" b="0">
                <a:solidFill>
                  <a:srgbClr val="50636A"/>
                </a:solidFill>
                <a:latin typeface="Helvetica Neue"/>
                <a:ea typeface="Helvetica Neue"/>
                <a:cs typeface="Helvetica Neue"/>
              </a:defRPr>
            </a:lvl8pPr>
            <a:lvl9pPr>
              <a:defRPr sz="2100" b="0">
                <a:solidFill>
                  <a:srgbClr val="50636A"/>
                </a:solidFill>
                <a:latin typeface="Helvetica Neue"/>
                <a:ea typeface="Helvetica Neue"/>
                <a:cs typeface="Helvetica Neue"/>
              </a:defRPr>
            </a:lvl9pPr>
          </a:lstStyle>
          <a:p xmlns:a="http://schemas.openxmlformats.org/drawingml/2006/main">
            <a:pPr>
              <a:defRPr sz="2100" b="0">
                <a:solidFill>
                  <a:srgbClr val="50636A"/>
                </a:solidFill>
                <a:latin typeface="Helvetica Neue"/>
                <a:ea typeface="Helvetica Neue"/>
                <a:cs typeface="Helvetica Neue"/>
              </a:defRPr>
            </a:pPr>
            <a:r>
              <a:rPr sz="2100" b="0">
                <a:solidFill>
                  <a:srgbClr val="50636A"/>
                </a:solidFill>
                <a:latin typeface="Helvetica Neue"/>
                <a:ea typeface="Helvetica Neue"/>
                <a:cs typeface="Helvetica Neue"/>
              </a:rPr>
              <a:t>Check confirmation, policy limits and approval evidence.</a:t>
            </a:r>
          </a:p>
        </p:txBody>
      </p:sp>
      <p:sp>
        <p:nvSpPr>
          <p:cNvPr id="8" name="">
            <a:extLst xmlns:a="http://schemas.openxmlformats.org/drawingml/2006/main">
              <a:ext uri="{FF2B5EF4-FFF2-40B4-BE49-F238E27FC236}">
                <a16:creationId xmlns:a16="http://schemas.microsoft.com/office/drawing/2014/main" id="{6D33E7D1-67CB-4610-BEBB-E3D35B8C32B5}"/>
              </a:ext>
            </a:extLst>
          </p:cNvPr>
          <p:cNvSpPr>
            <a:spLocks xmlns:a="http://schemas.openxmlformats.org/drawingml/2006/main" noGrp="1"/>
          </p:cNvSpPr>
          <p:nvPr/>
        </p:nvSpPr>
        <p:spPr>
          <a:xfrm xmlns:a="http://schemas.openxmlformats.org/drawingml/2006/main">
            <a:off x="628650" y="56959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0636A"/>
                </a:solidFill>
                <a:latin typeface="Helvetica Neue"/>
                <a:ea typeface="Helvetica Neue"/>
                <a:cs typeface="Helvetica Neue"/>
              </a:defRPr>
            </a:defPPr>
            <a:lvl1pPr>
              <a:defRPr sz="1800" b="0">
                <a:solidFill>
                  <a:srgbClr val="50636A"/>
                </a:solidFill>
                <a:latin typeface="Helvetica Neue"/>
                <a:ea typeface="Helvetica Neue"/>
                <a:cs typeface="Helvetica Neue"/>
              </a:defRPr>
            </a:lvl1pPr>
            <a:lvl2pPr>
              <a:defRPr sz="1800" b="0">
                <a:solidFill>
                  <a:srgbClr val="50636A"/>
                </a:solidFill>
                <a:latin typeface="Helvetica Neue"/>
                <a:ea typeface="Helvetica Neue"/>
                <a:cs typeface="Helvetica Neue"/>
              </a:defRPr>
            </a:lvl2pPr>
            <a:lvl3pPr>
              <a:defRPr sz="1800" b="0">
                <a:solidFill>
                  <a:srgbClr val="50636A"/>
                </a:solidFill>
                <a:latin typeface="Helvetica Neue"/>
                <a:ea typeface="Helvetica Neue"/>
                <a:cs typeface="Helvetica Neue"/>
              </a:defRPr>
            </a:lvl3pPr>
            <a:lvl4pPr>
              <a:defRPr sz="1800" b="0">
                <a:solidFill>
                  <a:srgbClr val="50636A"/>
                </a:solidFill>
                <a:latin typeface="Helvetica Neue"/>
                <a:ea typeface="Helvetica Neue"/>
                <a:cs typeface="Helvetica Neue"/>
              </a:defRPr>
            </a:lvl4pPr>
            <a:lvl5pPr>
              <a:defRPr sz="1800" b="0">
                <a:solidFill>
                  <a:srgbClr val="50636A"/>
                </a:solidFill>
                <a:latin typeface="Helvetica Neue"/>
                <a:ea typeface="Helvetica Neue"/>
                <a:cs typeface="Helvetica Neue"/>
              </a:defRPr>
            </a:lvl5pPr>
            <a:lvl6pPr>
              <a:defRPr sz="1800" b="0">
                <a:solidFill>
                  <a:srgbClr val="50636A"/>
                </a:solidFill>
                <a:latin typeface="Helvetica Neue"/>
                <a:ea typeface="Helvetica Neue"/>
                <a:cs typeface="Helvetica Neue"/>
              </a:defRPr>
            </a:lvl6pPr>
            <a:lvl7pPr>
              <a:defRPr sz="1800" b="0">
                <a:solidFill>
                  <a:srgbClr val="50636A"/>
                </a:solidFill>
                <a:latin typeface="Helvetica Neue"/>
                <a:ea typeface="Helvetica Neue"/>
                <a:cs typeface="Helvetica Neue"/>
              </a:defRPr>
            </a:lvl7pPr>
            <a:lvl8pPr>
              <a:defRPr sz="1800" b="0">
                <a:solidFill>
                  <a:srgbClr val="50636A"/>
                </a:solidFill>
                <a:latin typeface="Helvetica Neue"/>
                <a:ea typeface="Helvetica Neue"/>
                <a:cs typeface="Helvetica Neue"/>
              </a:defRPr>
            </a:lvl8pPr>
            <a:lvl9pPr>
              <a:defRPr sz="1800" b="0">
                <a:solidFill>
                  <a:srgbClr val="50636A"/>
                </a:solidFill>
                <a:latin typeface="Helvetica Neue"/>
                <a:ea typeface="Helvetica Neue"/>
                <a:cs typeface="Helvetica Neue"/>
              </a:defRPr>
            </a:lvl9pPr>
          </a:lstStyle>
          <a:p xmlns:a="http://schemas.openxmlformats.org/drawingml/2006/main">
            <a:pPr>
              <a:defRPr sz="1800" b="0">
                <a:solidFill>
                  <a:srgbClr val="50636A"/>
                </a:solidFill>
                <a:latin typeface="Helvetica Neue"/>
                <a:ea typeface="Helvetica Neue"/>
                <a:cs typeface="Helvetica Neue"/>
              </a:defRPr>
            </a:pPr>
            <a:r>
              <a:rPr sz="1800" b="0">
                <a:solidFill>
                  <a:srgbClr val="50636A"/>
                </a:solidFill>
                <a:latin typeface="Helvetica Neue"/>
                <a:ea typeface="Helvetica Neue"/>
                <a:cs typeface="Helvetica Neue"/>
              </a:rPr>
              <a:t>Planned scope: returns, exchanges and coupon rules in a synthetic store.</a:t>
            </a:r>
          </a:p>
        </p:txBody>
      </p:sp>
    </p:spTree>
    <p:extLst>
      <p:ext uri="{BB962C8B-B14F-4D97-AF65-F5344CB8AC3E}">
        <p14:creationId xmlns:p14="http://schemas.microsoft.com/office/powerpoint/2010/main" val="608473162"/>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DD24DA-641E-4036-B165-0DA51DCF9970}"/>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AA200E59-B43A-4AB3-AFF9-21887F98BEEE}"/>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tau2 evaluation architecture</a:t>
            </a:r>
          </a:p>
        </p:txBody>
      </p:sp>
      <p:sp>
        <p:nvSpPr>
          <p:cNvPr id="3" name="">
            <a:extLst xmlns:a="http://schemas.openxmlformats.org/drawingml/2006/main">
              <a:ext uri="{FF2B5EF4-FFF2-40B4-BE49-F238E27FC236}">
                <a16:creationId xmlns:a16="http://schemas.microsoft.com/office/drawing/2014/main" id="{71D08DD7-9354-4AE3-8B88-EE359F16ED02}"/>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A shared environment lets different agent implementations face the same task</a:t>
            </a:r>
          </a:p>
        </p:txBody>
      </p:sp>
      <p:graphicFrame>
        <p:nvGraphicFramePr>
          <p:cNvPr id="4" name="">
            <a:extLst xmlns:a="http://schemas.openxmlformats.org/drawingml/2006/main">
              <a:ext uri="{FF2B5EF4-FFF2-40B4-BE49-F238E27FC236}">
                <a16:creationId xmlns:a16="http://schemas.microsoft.com/office/drawing/2014/main" id="{9A93C606-46E8-409F-9BD3-EF7A0274EA97}"/>
              </a:ext>
            </a:extLst>
          </p:cNvPr>
          <p:cNvGraphicFramePr/>
          <p:nvPr/>
        </p:nvGraphicFramePr>
        <p:xfrm>
          <a:off xmlns:a="http://schemas.openxmlformats.org/drawingml/2006/main" x="609600" y="2152650"/>
          <a:ext xmlns:a="http://schemas.openxmlformats.org/drawingml/2006/main" cx="10972800" cy="3381375"/>
        </p:xfrm>
        <a:graphic xmlns:a="http://schemas.openxmlformats.org/drawingml/2006/main">
          <a:graphicData uri="http://schemas.openxmlformats.org/drawingml/2006/table">
            <a:tbl>
              <a:tblPr/>
              <a:tblGrid>
                <a:gridCol w="3619500"/>
                <a:gridCol w="7353300"/>
              </a:tblGrid>
              <a:tr h="676275">
                <a:tc>
                  <a:txBody>
                    <a:bodyPr lIns="133350" tIns="133350" rIns="133350" bIns="133350"/>
                    <a:lstStyle/>
                    <a:p>
                      <a:r>
                        <a:rPr sz="2025" b="1">
                          <a:solidFill>
                            <a:srgbClr val="FFFFFF"/>
                          </a:solidFill>
                          <a:latin typeface="Helvetica Neue"/>
                          <a:ea typeface="Helvetica Neue"/>
                          <a:cs typeface="Helvetica Neue"/>
                        </a:rPr>
                        <a:t>Component</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Responsibility</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76275">
                <a:tc>
                  <a:txBody>
                    <a:bodyPr lIns="133350" tIns="133350" rIns="133350" bIns="133350"/>
                    <a:lstStyle/>
                    <a:p>
                      <a:r>
                        <a:rPr sz="2025" b="0">
                          <a:solidFill>
                            <a:srgbClr val="102B36"/>
                          </a:solidFill>
                          <a:latin typeface="Helvetica Neue"/>
                          <a:ea typeface="Helvetica Neue"/>
                          <a:cs typeface="Helvetica Neue"/>
                        </a:rPr>
                        <a:t>Task + user simulator</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Define the customer goal and conduct the conversation</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76275">
                <a:tc>
                  <a:txBody>
                    <a:bodyPr lIns="133350" tIns="133350" rIns="133350" bIns="133350"/>
                    <a:lstStyle/>
                    <a:p>
                      <a:r>
                        <a:rPr sz="2025" b="0">
                          <a:solidFill>
                            <a:srgbClr val="102B36"/>
                          </a:solidFill>
                          <a:latin typeface="Helvetica Neue"/>
                          <a:ea typeface="Helvetica Neue"/>
                          <a:cs typeface="Helvetica Neue"/>
                        </a:rPr>
                        <a:t>Agent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Choose a reply or request a tool call</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76275">
                <a:tc>
                  <a:txBody>
                    <a:bodyPr lIns="133350" tIns="133350" rIns="133350" bIns="133350"/>
                    <a:lstStyle/>
                    <a:p>
                      <a:r>
                        <a:rPr sz="2025" b="0">
                          <a:solidFill>
                            <a:srgbClr val="102B36"/>
                          </a:solidFill>
                          <a:latin typeface="Helvetica Neue"/>
                          <a:ea typeface="Helvetica Neue"/>
                          <a:cs typeface="Helvetica Neue"/>
                        </a:rPr>
                        <a:t>Orchestrator + environment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Execute calls, update state and record the trajectory</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76275">
                <a:tc>
                  <a:txBody>
                    <a:bodyPr lIns="133350" tIns="133350" rIns="133350" bIns="133350"/>
                    <a:lstStyle/>
                    <a:p>
                      <a:r>
                        <a:rPr sz="2025" b="0">
                          <a:solidFill>
                            <a:srgbClr val="102B36"/>
                          </a:solidFill>
                          <a:latin typeface="Helvetica Neue"/>
                          <a:ea typeface="Helvetica Neue"/>
                          <a:cs typeface="Helvetica Neue"/>
                        </a:rPr>
                        <a:t>Evaluator</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Check enabled criteria and calculate the task reward</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42E12839-D7DE-4538-88E3-B717BFB2073F}"/>
              </a:ext>
            </a:extLst>
          </p:cNvPr>
          <p:cNvSpPr>
            <a:spLocks xmlns:a="http://schemas.openxmlformats.org/drawingml/2006/main" noGrp="1"/>
          </p:cNvSpPr>
          <p:nvPr/>
        </p:nvSpPr>
        <p:spPr>
          <a:xfrm xmlns:a="http://schemas.openxmlformats.org/drawingml/2006/main">
            <a:off x="628650" y="57816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007B78"/>
                </a:solidFill>
                <a:latin typeface="Helvetica Neue"/>
                <a:ea typeface="Helvetica Neue"/>
                <a:cs typeface="Helvetica Neue"/>
              </a:defRPr>
            </a:defPPr>
            <a:lvl1pPr>
              <a:defRPr sz="1875" b="1">
                <a:solidFill>
                  <a:srgbClr val="007B78"/>
                </a:solidFill>
                <a:latin typeface="Helvetica Neue"/>
                <a:ea typeface="Helvetica Neue"/>
                <a:cs typeface="Helvetica Neue"/>
              </a:defRPr>
            </a:lvl1pPr>
            <a:lvl2pPr>
              <a:defRPr sz="1875" b="1">
                <a:solidFill>
                  <a:srgbClr val="007B78"/>
                </a:solidFill>
                <a:latin typeface="Helvetica Neue"/>
                <a:ea typeface="Helvetica Neue"/>
                <a:cs typeface="Helvetica Neue"/>
              </a:defRPr>
            </a:lvl2pPr>
            <a:lvl3pPr>
              <a:defRPr sz="1875" b="1">
                <a:solidFill>
                  <a:srgbClr val="007B78"/>
                </a:solidFill>
                <a:latin typeface="Helvetica Neue"/>
                <a:ea typeface="Helvetica Neue"/>
                <a:cs typeface="Helvetica Neue"/>
              </a:defRPr>
            </a:lvl3pPr>
            <a:lvl4pPr>
              <a:defRPr sz="1875" b="1">
                <a:solidFill>
                  <a:srgbClr val="007B78"/>
                </a:solidFill>
                <a:latin typeface="Helvetica Neue"/>
                <a:ea typeface="Helvetica Neue"/>
                <a:cs typeface="Helvetica Neue"/>
              </a:defRPr>
            </a:lvl4pPr>
            <a:lvl5pPr>
              <a:defRPr sz="1875" b="1">
                <a:solidFill>
                  <a:srgbClr val="007B78"/>
                </a:solidFill>
                <a:latin typeface="Helvetica Neue"/>
                <a:ea typeface="Helvetica Neue"/>
                <a:cs typeface="Helvetica Neue"/>
              </a:defRPr>
            </a:lvl5pPr>
            <a:lvl6pPr>
              <a:defRPr sz="1875" b="1">
                <a:solidFill>
                  <a:srgbClr val="007B78"/>
                </a:solidFill>
                <a:latin typeface="Helvetica Neue"/>
                <a:ea typeface="Helvetica Neue"/>
                <a:cs typeface="Helvetica Neue"/>
              </a:defRPr>
            </a:lvl6pPr>
            <a:lvl7pPr>
              <a:defRPr sz="1875" b="1">
                <a:solidFill>
                  <a:srgbClr val="007B78"/>
                </a:solidFill>
                <a:latin typeface="Helvetica Neue"/>
                <a:ea typeface="Helvetica Neue"/>
                <a:cs typeface="Helvetica Neue"/>
              </a:defRPr>
            </a:lvl7pPr>
            <a:lvl8pPr>
              <a:defRPr sz="1875" b="1">
                <a:solidFill>
                  <a:srgbClr val="007B78"/>
                </a:solidFill>
                <a:latin typeface="Helvetica Neue"/>
                <a:ea typeface="Helvetica Neue"/>
                <a:cs typeface="Helvetica Neue"/>
              </a:defRPr>
            </a:lvl8pPr>
            <a:lvl9pPr>
              <a:defRPr sz="1875" b="1">
                <a:solidFill>
                  <a:srgbClr val="007B78"/>
                </a:solidFill>
                <a:latin typeface="Helvetica Neue"/>
                <a:ea typeface="Helvetica Neue"/>
                <a:cs typeface="Helvetica Neue"/>
              </a:defRPr>
            </a:lvl9pPr>
          </a:lstStyle>
          <a:p xmlns:a="http://schemas.openxmlformats.org/drawingml/2006/main">
            <a:pPr>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The standard agent interface separates decision-making from tool execution.</a:t>
            </a:r>
          </a:p>
        </p:txBody>
      </p:sp>
    </p:spTree>
    <p:extLst>
      <p:ext uri="{BB962C8B-B14F-4D97-AF65-F5344CB8AC3E}">
        <p14:creationId xmlns:p14="http://schemas.microsoft.com/office/powerpoint/2010/main" val="1459230421"/>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3B4CAE-C4F3-4DAF-BC22-D964779E75BA}"/>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6100827E-20B3-4F74-A75D-0F11053D1196}"/>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concrete retail task</a:t>
            </a:r>
          </a:p>
        </p:txBody>
      </p:sp>
      <p:sp>
        <p:nvSpPr>
          <p:cNvPr id="3" name="">
            <a:extLst xmlns:a="http://schemas.openxmlformats.org/drawingml/2006/main">
              <a:ext uri="{FF2B5EF4-FFF2-40B4-BE49-F238E27FC236}">
                <a16:creationId xmlns:a16="http://schemas.microsoft.com/office/drawing/2014/main" id="{8CACCECE-B33C-43B4-BB33-7325F7CDCB0C}"/>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Base retail task 0: exchange two items in one delivered order</a:t>
            </a:r>
          </a:p>
        </p:txBody>
      </p:sp>
      <p:sp>
        <p:nvSpPr>
          <p:cNvPr id="4" name="">
            <a:extLst xmlns:a="http://schemas.openxmlformats.org/drawingml/2006/main">
              <a:ext uri="{FF2B5EF4-FFF2-40B4-BE49-F238E27FC236}">
                <a16:creationId xmlns:a16="http://schemas.microsoft.com/office/drawing/2014/main" id="{EE06EABE-47E9-4456-B8A7-663364FE60FB}"/>
              </a:ext>
            </a:extLst>
          </p:cNvPr>
          <p:cNvSpPr>
            <a:spLocks xmlns:a="http://schemas.openxmlformats.org/drawingml/2006/main" noGrp="1"/>
          </p:cNvSpPr>
          <p:nvPr/>
        </p:nvSpPr>
        <p:spPr>
          <a:xfrm xmlns:a="http://schemas.openxmlformats.org/drawingml/2006/main">
            <a:off x="628650" y="21907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07B78"/>
                </a:solidFill>
                <a:latin typeface="Helvetica Neue"/>
                <a:ea typeface="Helvetica Neue"/>
                <a:cs typeface="Helvetica Neue"/>
              </a:defRPr>
            </a:defPPr>
            <a:lvl1pPr>
              <a:defRPr sz="2250" b="1">
                <a:solidFill>
                  <a:srgbClr val="007B78"/>
                </a:solidFill>
                <a:latin typeface="Helvetica Neue"/>
                <a:ea typeface="Helvetica Neue"/>
                <a:cs typeface="Helvetica Neue"/>
              </a:defRPr>
            </a:lvl1pPr>
            <a:lvl2pPr>
              <a:defRPr sz="2250" b="1">
                <a:solidFill>
                  <a:srgbClr val="007B78"/>
                </a:solidFill>
                <a:latin typeface="Helvetica Neue"/>
                <a:ea typeface="Helvetica Neue"/>
                <a:cs typeface="Helvetica Neue"/>
              </a:defRPr>
            </a:lvl2pPr>
            <a:lvl3pPr>
              <a:defRPr sz="2250" b="1">
                <a:solidFill>
                  <a:srgbClr val="007B78"/>
                </a:solidFill>
                <a:latin typeface="Helvetica Neue"/>
                <a:ea typeface="Helvetica Neue"/>
                <a:cs typeface="Helvetica Neue"/>
              </a:defRPr>
            </a:lvl3pPr>
            <a:lvl4pPr>
              <a:defRPr sz="2250" b="1">
                <a:solidFill>
                  <a:srgbClr val="007B78"/>
                </a:solidFill>
                <a:latin typeface="Helvetica Neue"/>
                <a:ea typeface="Helvetica Neue"/>
                <a:cs typeface="Helvetica Neue"/>
              </a:defRPr>
            </a:lvl4pPr>
            <a:lvl5pPr>
              <a:defRPr sz="2250" b="1">
                <a:solidFill>
                  <a:srgbClr val="007B78"/>
                </a:solidFill>
                <a:latin typeface="Helvetica Neue"/>
                <a:ea typeface="Helvetica Neue"/>
                <a:cs typeface="Helvetica Neue"/>
              </a:defRPr>
            </a:lvl5pPr>
            <a:lvl6pPr>
              <a:defRPr sz="2250" b="1">
                <a:solidFill>
                  <a:srgbClr val="007B78"/>
                </a:solidFill>
                <a:latin typeface="Helvetica Neue"/>
                <a:ea typeface="Helvetica Neue"/>
                <a:cs typeface="Helvetica Neue"/>
              </a:defRPr>
            </a:lvl6pPr>
            <a:lvl7pPr>
              <a:defRPr sz="2250" b="1">
                <a:solidFill>
                  <a:srgbClr val="007B78"/>
                </a:solidFill>
                <a:latin typeface="Helvetica Neue"/>
                <a:ea typeface="Helvetica Neue"/>
                <a:cs typeface="Helvetica Neue"/>
              </a:defRPr>
            </a:lvl7pPr>
            <a:lvl8pPr>
              <a:defRPr sz="2250" b="1">
                <a:solidFill>
                  <a:srgbClr val="007B78"/>
                </a:solidFill>
                <a:latin typeface="Helvetica Neue"/>
                <a:ea typeface="Helvetica Neue"/>
                <a:cs typeface="Helvetica Neue"/>
              </a:defRPr>
            </a:lvl8pPr>
            <a:lvl9pPr>
              <a:defRPr sz="2250" b="1">
                <a:solidFill>
                  <a:srgbClr val="007B78"/>
                </a:solidFill>
                <a:latin typeface="Helvetica Neue"/>
                <a:ea typeface="Helvetica Neue"/>
                <a:cs typeface="Helvetica Neue"/>
              </a:defRPr>
            </a:lvl9pPr>
          </a:lstStyle>
          <a:p xmlns:a="http://schemas.openxmlformats.org/drawingml/2006/main">
            <a:pPr>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Customer request</a:t>
            </a:r>
          </a:p>
        </p:txBody>
      </p:sp>
      <p:sp>
        <p:nvSpPr>
          <p:cNvPr id="5" name="">
            <a:extLst xmlns:a="http://schemas.openxmlformats.org/drawingml/2006/main">
              <a:ext uri="{FF2B5EF4-FFF2-40B4-BE49-F238E27FC236}">
                <a16:creationId xmlns:a16="http://schemas.microsoft.com/office/drawing/2014/main" id="{5B68C1F9-FC1B-4DBE-A251-7F0031D277BE}"/>
              </a:ext>
            </a:extLst>
          </p:cNvPr>
          <p:cNvSpPr>
            <a:spLocks xmlns:a="http://schemas.openxmlformats.org/drawingml/2006/main" noGrp="1"/>
          </p:cNvSpPr>
          <p:nvPr/>
        </p:nvSpPr>
        <p:spPr>
          <a:xfrm xmlns:a="http://schemas.openxmlformats.org/drawingml/2006/main">
            <a:off x="628650" y="2781300"/>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02B36"/>
                </a:solidFill>
                <a:latin typeface="Helvetica Neue"/>
                <a:ea typeface="Helvetica Neue"/>
                <a:cs typeface="Helvetica Neue"/>
              </a:defRPr>
            </a:defPPr>
            <a:lvl1pPr>
              <a:defRPr sz="2325" b="0">
                <a:solidFill>
                  <a:srgbClr val="102B36"/>
                </a:solidFill>
                <a:latin typeface="Helvetica Neue"/>
                <a:ea typeface="Helvetica Neue"/>
                <a:cs typeface="Helvetica Neue"/>
              </a:defRPr>
            </a:lvl1pPr>
            <a:lvl2pPr>
              <a:defRPr sz="2325" b="0">
                <a:solidFill>
                  <a:srgbClr val="102B36"/>
                </a:solidFill>
                <a:latin typeface="Helvetica Neue"/>
                <a:ea typeface="Helvetica Neue"/>
                <a:cs typeface="Helvetica Neue"/>
              </a:defRPr>
            </a:lvl2pPr>
            <a:lvl3pPr>
              <a:defRPr sz="2325" b="0">
                <a:solidFill>
                  <a:srgbClr val="102B36"/>
                </a:solidFill>
                <a:latin typeface="Helvetica Neue"/>
                <a:ea typeface="Helvetica Neue"/>
                <a:cs typeface="Helvetica Neue"/>
              </a:defRPr>
            </a:lvl3pPr>
            <a:lvl4pPr>
              <a:defRPr sz="2325" b="0">
                <a:solidFill>
                  <a:srgbClr val="102B36"/>
                </a:solidFill>
                <a:latin typeface="Helvetica Neue"/>
                <a:ea typeface="Helvetica Neue"/>
                <a:cs typeface="Helvetica Neue"/>
              </a:defRPr>
            </a:lvl4pPr>
            <a:lvl5pPr>
              <a:defRPr sz="2325" b="0">
                <a:solidFill>
                  <a:srgbClr val="102B36"/>
                </a:solidFill>
                <a:latin typeface="Helvetica Neue"/>
                <a:ea typeface="Helvetica Neue"/>
                <a:cs typeface="Helvetica Neue"/>
              </a:defRPr>
            </a:lvl5pPr>
            <a:lvl6pPr>
              <a:defRPr sz="2325" b="0">
                <a:solidFill>
                  <a:srgbClr val="102B36"/>
                </a:solidFill>
                <a:latin typeface="Helvetica Neue"/>
                <a:ea typeface="Helvetica Neue"/>
                <a:cs typeface="Helvetica Neue"/>
              </a:defRPr>
            </a:lvl6pPr>
            <a:lvl7pPr>
              <a:defRPr sz="2325" b="0">
                <a:solidFill>
                  <a:srgbClr val="102B36"/>
                </a:solidFill>
                <a:latin typeface="Helvetica Neue"/>
                <a:ea typeface="Helvetica Neue"/>
                <a:cs typeface="Helvetica Neue"/>
              </a:defRPr>
            </a:lvl7pPr>
            <a:lvl8pPr>
              <a:defRPr sz="2325" b="0">
                <a:solidFill>
                  <a:srgbClr val="102B36"/>
                </a:solidFill>
                <a:latin typeface="Helvetica Neue"/>
                <a:ea typeface="Helvetica Neue"/>
                <a:cs typeface="Helvetica Neue"/>
              </a:defRPr>
            </a:lvl8pPr>
            <a:lvl9pPr>
              <a:defRPr sz="2325" b="0">
                <a:solidFill>
                  <a:srgbClr val="102B36"/>
                </a:solidFill>
                <a:latin typeface="Helvetica Neue"/>
                <a:ea typeface="Helvetica Neue"/>
                <a:cs typeface="Helvetica Neue"/>
              </a:defRPr>
            </a:lvl9pPr>
          </a:lstStyle>
          <a:p xmlns:a="http://schemas.openxmlformats.org/drawingml/2006/main">
            <a:pPr>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A clicky, full-size keyboard with RGB lighting.</a:t>
            </a:r>
          </a:p>
          <a:p xmlns:a="http://schemas.openxmlformats.org/drawingml/2006/main">
            <a:r>
              <a:t/>
            </a:r>
          </a:p>
          <a:p xmlns:a="http://schemas.openxmlformats.org/drawingml/2006/main">
            <a:pPr>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If unavailable, accept no backlight.</a:t>
            </a:r>
          </a:p>
        </p:txBody>
      </p:sp>
      <p:sp>
        <p:nvSpPr>
          <p:cNvPr id="6" name="">
            <a:extLst xmlns:a="http://schemas.openxmlformats.org/drawingml/2006/main">
              <a:ext uri="{FF2B5EF4-FFF2-40B4-BE49-F238E27FC236}">
                <a16:creationId xmlns:a16="http://schemas.microsoft.com/office/drawing/2014/main" id="{01198B23-F4A5-49DA-B1C8-32BACD3A5E2C}"/>
              </a:ext>
            </a:extLst>
          </p:cNvPr>
          <p:cNvSpPr>
            <a:spLocks xmlns:a="http://schemas.openxmlformats.org/drawingml/2006/main" noGrp="1"/>
          </p:cNvSpPr>
          <p:nvPr/>
        </p:nvSpPr>
        <p:spPr>
          <a:xfrm xmlns:a="http://schemas.openxmlformats.org/drawingml/2006/main">
            <a:off x="6343650" y="2781300"/>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02B36"/>
                </a:solidFill>
                <a:latin typeface="Helvetica Neue"/>
                <a:ea typeface="Helvetica Neue"/>
                <a:cs typeface="Helvetica Neue"/>
              </a:defRPr>
            </a:defPPr>
            <a:lvl1pPr>
              <a:defRPr sz="2325" b="0">
                <a:solidFill>
                  <a:srgbClr val="102B36"/>
                </a:solidFill>
                <a:latin typeface="Helvetica Neue"/>
                <a:ea typeface="Helvetica Neue"/>
                <a:cs typeface="Helvetica Neue"/>
              </a:defRPr>
            </a:lvl1pPr>
            <a:lvl2pPr>
              <a:defRPr sz="2325" b="0">
                <a:solidFill>
                  <a:srgbClr val="102B36"/>
                </a:solidFill>
                <a:latin typeface="Helvetica Neue"/>
                <a:ea typeface="Helvetica Neue"/>
                <a:cs typeface="Helvetica Neue"/>
              </a:defRPr>
            </a:lvl2pPr>
            <a:lvl3pPr>
              <a:defRPr sz="2325" b="0">
                <a:solidFill>
                  <a:srgbClr val="102B36"/>
                </a:solidFill>
                <a:latin typeface="Helvetica Neue"/>
                <a:ea typeface="Helvetica Neue"/>
                <a:cs typeface="Helvetica Neue"/>
              </a:defRPr>
            </a:lvl3pPr>
            <a:lvl4pPr>
              <a:defRPr sz="2325" b="0">
                <a:solidFill>
                  <a:srgbClr val="102B36"/>
                </a:solidFill>
                <a:latin typeface="Helvetica Neue"/>
                <a:ea typeface="Helvetica Neue"/>
                <a:cs typeface="Helvetica Neue"/>
              </a:defRPr>
            </a:lvl4pPr>
            <a:lvl5pPr>
              <a:defRPr sz="2325" b="0">
                <a:solidFill>
                  <a:srgbClr val="102B36"/>
                </a:solidFill>
                <a:latin typeface="Helvetica Neue"/>
                <a:ea typeface="Helvetica Neue"/>
                <a:cs typeface="Helvetica Neue"/>
              </a:defRPr>
            </a:lvl5pPr>
            <a:lvl6pPr>
              <a:defRPr sz="2325" b="0">
                <a:solidFill>
                  <a:srgbClr val="102B36"/>
                </a:solidFill>
                <a:latin typeface="Helvetica Neue"/>
                <a:ea typeface="Helvetica Neue"/>
                <a:cs typeface="Helvetica Neue"/>
              </a:defRPr>
            </a:lvl6pPr>
            <a:lvl7pPr>
              <a:defRPr sz="2325" b="0">
                <a:solidFill>
                  <a:srgbClr val="102B36"/>
                </a:solidFill>
                <a:latin typeface="Helvetica Neue"/>
                <a:ea typeface="Helvetica Neue"/>
                <a:cs typeface="Helvetica Neue"/>
              </a:defRPr>
            </a:lvl7pPr>
            <a:lvl8pPr>
              <a:defRPr sz="2325" b="0">
                <a:solidFill>
                  <a:srgbClr val="102B36"/>
                </a:solidFill>
                <a:latin typeface="Helvetica Neue"/>
                <a:ea typeface="Helvetica Neue"/>
                <a:cs typeface="Helvetica Neue"/>
              </a:defRPr>
            </a:lvl8pPr>
            <a:lvl9pPr>
              <a:defRPr sz="2325" b="0">
                <a:solidFill>
                  <a:srgbClr val="102B36"/>
                </a:solidFill>
                <a:latin typeface="Helvetica Neue"/>
                <a:ea typeface="Helvetica Neue"/>
                <a:cs typeface="Helvetica Neue"/>
              </a:defRPr>
            </a:lvl9pPr>
          </a:lstStyle>
          <a:p xmlns:a="http://schemas.openxmlformats.org/drawingml/2006/main">
            <a:pPr>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A thermostat compatible with Google Home instead of Apple HomeKit.</a:t>
            </a:r>
          </a:p>
        </p:txBody>
      </p:sp>
      <p:sp>
        <p:nvSpPr>
          <p:cNvPr id="7" name="">
            <a:extLst xmlns:a="http://schemas.openxmlformats.org/drawingml/2006/main">
              <a:ext uri="{FF2B5EF4-FFF2-40B4-BE49-F238E27FC236}">
                <a16:creationId xmlns:a16="http://schemas.microsoft.com/office/drawing/2014/main" id="{C2D04665-A9D9-4A08-8F24-39B16AD5067A}"/>
              </a:ext>
            </a:extLst>
          </p:cNvPr>
          <p:cNvSpPr>
            <a:spLocks xmlns:a="http://schemas.openxmlformats.org/drawingml/2006/main" noGrp="1"/>
          </p:cNvSpPr>
          <p:nvPr/>
        </p:nvSpPr>
        <p:spPr>
          <a:xfrm xmlns:a="http://schemas.openxmlformats.org/drawingml/2006/main">
            <a:off x="628650" y="5267325"/>
            <a:ext cx="10525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0636A"/>
                </a:solidFill>
                <a:latin typeface="Helvetica Neue"/>
                <a:ea typeface="Helvetica Neue"/>
                <a:cs typeface="Helvetica Neue"/>
              </a:defRPr>
            </a:defPPr>
            <a:lvl1pPr>
              <a:defRPr sz="2025" b="0">
                <a:solidFill>
                  <a:srgbClr val="50636A"/>
                </a:solidFill>
                <a:latin typeface="Helvetica Neue"/>
                <a:ea typeface="Helvetica Neue"/>
                <a:cs typeface="Helvetica Neue"/>
              </a:defRPr>
            </a:lvl1pPr>
            <a:lvl2pPr>
              <a:defRPr sz="2025" b="0">
                <a:solidFill>
                  <a:srgbClr val="50636A"/>
                </a:solidFill>
                <a:latin typeface="Helvetica Neue"/>
                <a:ea typeface="Helvetica Neue"/>
                <a:cs typeface="Helvetica Neue"/>
              </a:defRPr>
            </a:lvl2pPr>
            <a:lvl3pPr>
              <a:defRPr sz="2025" b="0">
                <a:solidFill>
                  <a:srgbClr val="50636A"/>
                </a:solidFill>
                <a:latin typeface="Helvetica Neue"/>
                <a:ea typeface="Helvetica Neue"/>
                <a:cs typeface="Helvetica Neue"/>
              </a:defRPr>
            </a:lvl3pPr>
            <a:lvl4pPr>
              <a:defRPr sz="2025" b="0">
                <a:solidFill>
                  <a:srgbClr val="50636A"/>
                </a:solidFill>
                <a:latin typeface="Helvetica Neue"/>
                <a:ea typeface="Helvetica Neue"/>
                <a:cs typeface="Helvetica Neue"/>
              </a:defRPr>
            </a:lvl4pPr>
            <a:lvl5pPr>
              <a:defRPr sz="2025" b="0">
                <a:solidFill>
                  <a:srgbClr val="50636A"/>
                </a:solidFill>
                <a:latin typeface="Helvetica Neue"/>
                <a:ea typeface="Helvetica Neue"/>
                <a:cs typeface="Helvetica Neue"/>
              </a:defRPr>
            </a:lvl5pPr>
            <a:lvl6pPr>
              <a:defRPr sz="2025" b="0">
                <a:solidFill>
                  <a:srgbClr val="50636A"/>
                </a:solidFill>
                <a:latin typeface="Helvetica Neue"/>
                <a:ea typeface="Helvetica Neue"/>
                <a:cs typeface="Helvetica Neue"/>
              </a:defRPr>
            </a:lvl6pPr>
            <a:lvl7pPr>
              <a:defRPr sz="2025" b="0">
                <a:solidFill>
                  <a:srgbClr val="50636A"/>
                </a:solidFill>
                <a:latin typeface="Helvetica Neue"/>
                <a:ea typeface="Helvetica Neue"/>
                <a:cs typeface="Helvetica Neue"/>
              </a:defRPr>
            </a:lvl7pPr>
            <a:lvl8pPr>
              <a:defRPr sz="2025" b="0">
                <a:solidFill>
                  <a:srgbClr val="50636A"/>
                </a:solidFill>
                <a:latin typeface="Helvetica Neue"/>
                <a:ea typeface="Helvetica Neue"/>
                <a:cs typeface="Helvetica Neue"/>
              </a:defRPr>
            </a:lvl8pPr>
            <a:lvl9pPr>
              <a:defRPr sz="2025" b="0">
                <a:solidFill>
                  <a:srgbClr val="50636A"/>
                </a:solidFill>
                <a:latin typeface="Helvetica Neue"/>
                <a:ea typeface="Helvetica Neue"/>
                <a:cs typeface="Helvetica Neue"/>
              </a:defRPr>
            </a:lvl9pPr>
          </a:lstStyle>
          <a:p xmlns:a="http://schemas.openxmlformats.org/drawingml/2006/main">
            <a:pPr>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Order #W2378156</a:t>
            </a:r>
          </a:p>
          <a:p xmlns:a="http://schemas.openxmlformats.org/drawingml/2006/main">
            <a:pPr>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Customer knows name and ZIP code, but has forgotten the email address.</a:t>
            </a:r>
          </a:p>
        </p:txBody>
      </p:sp>
    </p:spTree>
    <p:extLst>
      <p:ext uri="{BB962C8B-B14F-4D97-AF65-F5344CB8AC3E}">
        <p14:creationId xmlns:p14="http://schemas.microsoft.com/office/powerpoint/2010/main" val="616492459"/>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464471-B429-437B-BACB-44F862C93462}"/>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DDD17ED9-D8EB-4F35-8E5F-ABD6F6F17AFF}"/>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Task definition and information boundaries</a:t>
            </a:r>
          </a:p>
        </p:txBody>
      </p:sp>
      <p:sp>
        <p:nvSpPr>
          <p:cNvPr id="3" name="">
            <a:extLst xmlns:a="http://schemas.openxmlformats.org/drawingml/2006/main">
              <a:ext uri="{FF2B5EF4-FFF2-40B4-BE49-F238E27FC236}">
                <a16:creationId xmlns:a16="http://schemas.microsoft.com/office/drawing/2014/main" id="{E790C726-662D-4576-8072-391FE8A49877}"/>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customer scenario and the grading reference serve different roles</a:t>
            </a:r>
          </a:p>
        </p:txBody>
      </p:sp>
      <p:graphicFrame>
        <p:nvGraphicFramePr>
          <p:cNvPr id="4" name="">
            <a:extLst xmlns:a="http://schemas.openxmlformats.org/drawingml/2006/main">
              <a:ext uri="{FF2B5EF4-FFF2-40B4-BE49-F238E27FC236}">
                <a16:creationId xmlns:a16="http://schemas.microsoft.com/office/drawing/2014/main" id="{31D8B397-98ED-483B-9185-A480D944BD1D}"/>
              </a:ext>
            </a:extLst>
          </p:cNvPr>
          <p:cNvGraphicFramePr/>
          <p:nvPr/>
        </p:nvGraphicFramePr>
        <p:xfrm>
          <a:off xmlns:a="http://schemas.openxmlformats.org/drawingml/2006/main" x="609600" y="2181225"/>
          <a:ext xmlns:a="http://schemas.openxmlformats.org/drawingml/2006/main" cx="10972800" cy="3333750"/>
        </p:xfrm>
        <a:graphic xmlns:a="http://schemas.openxmlformats.org/drawingml/2006/main">
          <a:graphicData uri="http://schemas.openxmlformats.org/drawingml/2006/table">
            <a:tbl>
              <a:tblPr/>
              <a:tblGrid>
                <a:gridCol w="4095750"/>
                <a:gridCol w="6877050"/>
              </a:tblGrid>
              <a:tr h="666750">
                <a:tc>
                  <a:txBody>
                    <a:bodyPr lIns="133350" tIns="133350" rIns="133350" bIns="133350"/>
                    <a:lstStyle/>
                    <a:p>
                      <a:r>
                        <a:rPr sz="1950" b="1">
                          <a:solidFill>
                            <a:srgbClr val="FFFFFF"/>
                          </a:solidFill>
                          <a:latin typeface="Helvetica Neue"/>
                          <a:ea typeface="Helvetica Neue"/>
                          <a:cs typeface="Helvetica Neue"/>
                        </a:rPr>
                        <a:t>Task field</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Purpose in this example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950" b="0">
                          <a:solidFill>
                            <a:srgbClr val="102B36"/>
                          </a:solidFill>
                          <a:latin typeface="Helvetica Neue"/>
                          <a:ea typeface="Helvetica Neue"/>
                          <a:cs typeface="Helvetica Neue"/>
                        </a:rPr>
                        <a:t>user_scenario</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Customer goal, known identity details and fallback preference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initial_state = null</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Use the domain database without task-specific initialization</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950" b="0">
                          <a:solidFill>
                            <a:srgbClr val="102B36"/>
                          </a:solidFill>
                          <a:latin typeface="Helvetica Neue"/>
                          <a:ea typeface="Helvetica Neue"/>
                          <a:cs typeface="Helvetica Neue"/>
                        </a:rPr>
                        <a:t>evaluation_criteria.actions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A reference sequence that produces the expected final state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reward_basis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DB and NL_ASSERTION for this base task</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3F3122D3-58E9-457F-B687-2AB04A6251DE}"/>
              </a:ext>
            </a:extLst>
          </p:cNvPr>
          <p:cNvSpPr>
            <a:spLocks xmlns:a="http://schemas.openxmlformats.org/drawingml/2006/main" noGrp="1"/>
          </p:cNvSpPr>
          <p:nvPr/>
        </p:nvSpPr>
        <p:spPr>
          <a:xfrm xmlns:a="http://schemas.openxmlformats.org/drawingml/2006/main">
            <a:off x="628650" y="57912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007B78"/>
                </a:solidFill>
                <a:latin typeface="Helvetica Neue"/>
                <a:ea typeface="Helvetica Neue"/>
                <a:cs typeface="Helvetica Neue"/>
              </a:defRPr>
            </a:defPPr>
            <a:lvl1pPr>
              <a:defRPr sz="1875" b="1">
                <a:solidFill>
                  <a:srgbClr val="007B78"/>
                </a:solidFill>
                <a:latin typeface="Helvetica Neue"/>
                <a:ea typeface="Helvetica Neue"/>
                <a:cs typeface="Helvetica Neue"/>
              </a:defRPr>
            </a:lvl1pPr>
            <a:lvl2pPr>
              <a:defRPr sz="1875" b="1">
                <a:solidFill>
                  <a:srgbClr val="007B78"/>
                </a:solidFill>
                <a:latin typeface="Helvetica Neue"/>
                <a:ea typeface="Helvetica Neue"/>
                <a:cs typeface="Helvetica Neue"/>
              </a:defRPr>
            </a:lvl2pPr>
            <a:lvl3pPr>
              <a:defRPr sz="1875" b="1">
                <a:solidFill>
                  <a:srgbClr val="007B78"/>
                </a:solidFill>
                <a:latin typeface="Helvetica Neue"/>
                <a:ea typeface="Helvetica Neue"/>
                <a:cs typeface="Helvetica Neue"/>
              </a:defRPr>
            </a:lvl3pPr>
            <a:lvl4pPr>
              <a:defRPr sz="1875" b="1">
                <a:solidFill>
                  <a:srgbClr val="007B78"/>
                </a:solidFill>
                <a:latin typeface="Helvetica Neue"/>
                <a:ea typeface="Helvetica Neue"/>
                <a:cs typeface="Helvetica Neue"/>
              </a:defRPr>
            </a:lvl4pPr>
            <a:lvl5pPr>
              <a:defRPr sz="1875" b="1">
                <a:solidFill>
                  <a:srgbClr val="007B78"/>
                </a:solidFill>
                <a:latin typeface="Helvetica Neue"/>
                <a:ea typeface="Helvetica Neue"/>
                <a:cs typeface="Helvetica Neue"/>
              </a:defRPr>
            </a:lvl5pPr>
            <a:lvl6pPr>
              <a:defRPr sz="1875" b="1">
                <a:solidFill>
                  <a:srgbClr val="007B78"/>
                </a:solidFill>
                <a:latin typeface="Helvetica Neue"/>
                <a:ea typeface="Helvetica Neue"/>
                <a:cs typeface="Helvetica Neue"/>
              </a:defRPr>
            </a:lvl6pPr>
            <a:lvl7pPr>
              <a:defRPr sz="1875" b="1">
                <a:solidFill>
                  <a:srgbClr val="007B78"/>
                </a:solidFill>
                <a:latin typeface="Helvetica Neue"/>
                <a:ea typeface="Helvetica Neue"/>
                <a:cs typeface="Helvetica Neue"/>
              </a:defRPr>
            </a:lvl7pPr>
            <a:lvl8pPr>
              <a:defRPr sz="1875" b="1">
                <a:solidFill>
                  <a:srgbClr val="007B78"/>
                </a:solidFill>
                <a:latin typeface="Helvetica Neue"/>
                <a:ea typeface="Helvetica Neue"/>
                <a:cs typeface="Helvetica Neue"/>
              </a:defRPr>
            </a:lvl8pPr>
            <a:lvl9pPr>
              <a:defRPr sz="1875" b="1">
                <a:solidFill>
                  <a:srgbClr val="007B78"/>
                </a:solidFill>
                <a:latin typeface="Helvetica Neue"/>
                <a:ea typeface="Helvetica Neue"/>
                <a:cs typeface="Helvetica Neue"/>
              </a:defRPr>
            </a:lvl9pPr>
          </a:lstStyle>
          <a:p xmlns:a="http://schemas.openxmlformats.org/drawingml/2006/main">
            <a:pPr>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A normal tested agent discovers the solution through dialogue and tools.</a:t>
            </a:r>
          </a:p>
        </p:txBody>
      </p:sp>
    </p:spTree>
    <p:extLst>
      <p:ext uri="{BB962C8B-B14F-4D97-AF65-F5344CB8AC3E}">
        <p14:creationId xmlns:p14="http://schemas.microsoft.com/office/powerpoint/2010/main" val="1748432180"/>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EAAC600-5E70-441B-82CB-C09AE569C15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0E5FACFA-0CB6-4C5D-87BB-F86FFB58987A}"/>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interaction loop</a:t>
            </a:r>
          </a:p>
        </p:txBody>
      </p:sp>
      <p:sp>
        <p:nvSpPr>
          <p:cNvPr id="3" name="">
            <a:extLst xmlns:a="http://schemas.openxmlformats.org/drawingml/2006/main">
              <a:ext uri="{FF2B5EF4-FFF2-40B4-BE49-F238E27FC236}">
                <a16:creationId xmlns:a16="http://schemas.microsoft.com/office/drawing/2014/main" id="{5A609B7F-74FA-402E-AE06-5091785F624D}"/>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Each tool result becomes evidence for the next agent decision</a:t>
            </a:r>
          </a:p>
        </p:txBody>
      </p:sp>
      <p:sp>
        <p:nvSpPr>
          <p:cNvPr id="4" name="">
            <a:extLst xmlns:a="http://schemas.openxmlformats.org/drawingml/2006/main">
              <a:ext uri="{FF2B5EF4-FFF2-40B4-BE49-F238E27FC236}">
                <a16:creationId xmlns:a16="http://schemas.microsoft.com/office/drawing/2014/main" id="{D46BEA94-3A21-4FC7-8A6E-560FCFD00DE3}"/>
              </a:ext>
            </a:extLst>
          </p:cNvPr>
          <p:cNvSpPr>
            <a:spLocks xmlns:a="http://schemas.openxmlformats.org/drawingml/2006/main" noGrp="1"/>
          </p:cNvSpPr>
          <p:nvPr/>
        </p:nvSpPr>
        <p:spPr>
          <a:xfrm xmlns:a="http://schemas.openxmlformats.org/drawingml/2006/main">
            <a:off x="609600" y="2133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0068A207-B7D1-4D5A-B031-F6D04B6C7827}"/>
              </a:ext>
            </a:extLst>
          </p:cNvPr>
          <p:cNvSpPr>
            <a:spLocks xmlns:a="http://schemas.openxmlformats.org/drawingml/2006/main" noGrp="1"/>
          </p:cNvSpPr>
          <p:nvPr/>
        </p:nvSpPr>
        <p:spPr>
          <a:xfrm xmlns:a="http://schemas.openxmlformats.org/drawingml/2006/main">
            <a:off x="1352550" y="21336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Receive a customer message</a:t>
            </a:r>
          </a:p>
        </p:txBody>
      </p:sp>
      <p:sp>
        <p:nvSpPr>
          <p:cNvPr id="6" name="">
            <a:extLst xmlns:a="http://schemas.openxmlformats.org/drawingml/2006/main">
              <a:ext uri="{FF2B5EF4-FFF2-40B4-BE49-F238E27FC236}">
                <a16:creationId xmlns:a16="http://schemas.microsoft.com/office/drawing/2014/main" id="{B24AAD4D-0E36-40D4-B1AD-3E6854513EFF}"/>
              </a:ext>
            </a:extLst>
          </p:cNvPr>
          <p:cNvSpPr>
            <a:spLocks xmlns:a="http://schemas.openxmlformats.org/drawingml/2006/main" noGrp="1"/>
          </p:cNvSpPr>
          <p:nvPr/>
        </p:nvSpPr>
        <p:spPr>
          <a:xfrm xmlns:a="http://schemas.openxmlformats.org/drawingml/2006/main">
            <a:off x="1352550" y="26003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agent combines the message with policy, tools and conversation history.</a:t>
            </a:r>
          </a:p>
        </p:txBody>
      </p:sp>
      <p:sp>
        <p:nvSpPr>
          <p:cNvPr id="7" name="">
            <a:extLst xmlns:a="http://schemas.openxmlformats.org/drawingml/2006/main">
              <a:ext uri="{FF2B5EF4-FFF2-40B4-BE49-F238E27FC236}">
                <a16:creationId xmlns:a16="http://schemas.microsoft.com/office/drawing/2014/main" id="{91FE1BD7-A436-46FC-A398-A93BA8709399}"/>
              </a:ext>
            </a:extLst>
          </p:cNvPr>
          <p:cNvSpPr>
            <a:spLocks xmlns:a="http://schemas.openxmlformats.org/drawingml/2006/main" noGrp="1"/>
          </p:cNvSpPr>
          <p:nvPr/>
        </p:nvSpPr>
        <p:spPr>
          <a:xfrm xmlns:a="http://schemas.openxmlformats.org/drawingml/2006/main">
            <a:off x="609600" y="3371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9EB19C0F-3DAA-49A0-8163-A972420823E6}"/>
              </a:ext>
            </a:extLst>
          </p:cNvPr>
          <p:cNvSpPr>
            <a:spLocks xmlns:a="http://schemas.openxmlformats.org/drawingml/2006/main" noGrp="1"/>
          </p:cNvSpPr>
          <p:nvPr/>
        </p:nvSpPr>
        <p:spPr>
          <a:xfrm xmlns:a="http://schemas.openxmlformats.org/drawingml/2006/main">
            <a:off x="1352550" y="337185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Return a reply or a tool request</a:t>
            </a:r>
          </a:p>
        </p:txBody>
      </p:sp>
      <p:sp>
        <p:nvSpPr>
          <p:cNvPr id="9" name="">
            <a:extLst xmlns:a="http://schemas.openxmlformats.org/drawingml/2006/main">
              <a:ext uri="{FF2B5EF4-FFF2-40B4-BE49-F238E27FC236}">
                <a16:creationId xmlns:a16="http://schemas.microsoft.com/office/drawing/2014/main" id="{21DE1546-DB15-4480-A06F-74916989330B}"/>
              </a:ext>
            </a:extLst>
          </p:cNvPr>
          <p:cNvSpPr>
            <a:spLocks xmlns:a="http://schemas.openxmlformats.org/drawingml/2006/main" noGrp="1"/>
          </p:cNvSpPr>
          <p:nvPr/>
        </p:nvSpPr>
        <p:spPr>
          <a:xfrm xmlns:a="http://schemas.openxmlformats.org/drawingml/2006/main">
            <a:off x="1352550" y="38385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model proposes an action. It has not changed the database yet.</a:t>
            </a:r>
          </a:p>
        </p:txBody>
      </p:sp>
      <p:sp>
        <p:nvSpPr>
          <p:cNvPr id="10" name="">
            <a:extLst xmlns:a="http://schemas.openxmlformats.org/drawingml/2006/main">
              <a:ext uri="{FF2B5EF4-FFF2-40B4-BE49-F238E27FC236}">
                <a16:creationId xmlns:a16="http://schemas.microsoft.com/office/drawing/2014/main" id="{808334FB-4A19-4BAC-BF33-B12E929A69B2}"/>
              </a:ext>
            </a:extLst>
          </p:cNvPr>
          <p:cNvSpPr>
            <a:spLocks xmlns:a="http://schemas.openxmlformats.org/drawingml/2006/main" noGrp="1"/>
          </p:cNvSpPr>
          <p:nvPr/>
        </p:nvSpPr>
        <p:spPr>
          <a:xfrm xmlns:a="http://schemas.openxmlformats.org/drawingml/2006/main">
            <a:off x="609600" y="46101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1CAAD5BD-EF8E-4B09-B219-7223F54DA965}"/>
              </a:ext>
            </a:extLst>
          </p:cNvPr>
          <p:cNvSpPr>
            <a:spLocks xmlns:a="http://schemas.openxmlformats.org/drawingml/2006/main" noGrp="1"/>
          </p:cNvSpPr>
          <p:nvPr/>
        </p:nvSpPr>
        <p:spPr>
          <a:xfrm xmlns:a="http://schemas.openxmlformats.org/drawingml/2006/main">
            <a:off x="1352550" y="46101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Execute and record the result</a:t>
            </a:r>
          </a:p>
        </p:txBody>
      </p:sp>
      <p:sp>
        <p:nvSpPr>
          <p:cNvPr id="12" name="">
            <a:extLst xmlns:a="http://schemas.openxmlformats.org/drawingml/2006/main">
              <a:ext uri="{FF2B5EF4-FFF2-40B4-BE49-F238E27FC236}">
                <a16:creationId xmlns:a16="http://schemas.microsoft.com/office/drawing/2014/main" id="{ABCAB983-CD36-46F6-9030-F3017227C1AC}"/>
              </a:ext>
            </a:extLst>
          </p:cNvPr>
          <p:cNvSpPr>
            <a:spLocks xmlns:a="http://schemas.openxmlformats.org/drawingml/2006/main" noGrp="1"/>
          </p:cNvSpPr>
          <p:nvPr/>
        </p:nvSpPr>
        <p:spPr>
          <a:xfrm xmlns:a="http://schemas.openxmlformats.org/drawingml/2006/main">
            <a:off x="1352550" y="50768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orchestrator calls the environment and sends the tool result back.</a:t>
            </a:r>
          </a:p>
        </p:txBody>
      </p:sp>
    </p:spTree>
    <p:extLst>
      <p:ext uri="{BB962C8B-B14F-4D97-AF65-F5344CB8AC3E}">
        <p14:creationId xmlns:p14="http://schemas.microsoft.com/office/powerpoint/2010/main" val="769848514"/>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EBE92B-DCDF-4F68-AEEB-DB48347FE826}"/>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07</a:t>
            </a:r>
          </a:p>
        </p:txBody>
      </p:sp>
      <p:sp>
        <p:nvSpPr>
          <p:cNvPr id="2" name="">
            <a:extLst xmlns:a="http://schemas.openxmlformats.org/drawingml/2006/main">
              <a:ext uri="{FF2B5EF4-FFF2-40B4-BE49-F238E27FC236}">
                <a16:creationId xmlns:a16="http://schemas.microsoft.com/office/drawing/2014/main" id="{A61C4D50-CFB1-4F6B-BACC-E57EBB2BEFD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Product lookup determines the replacement</a:t>
            </a:r>
          </a:p>
        </p:txBody>
      </p:sp>
      <p:sp>
        <p:nvSpPr>
          <p:cNvPr id="3" name="">
            <a:extLst xmlns:a="http://schemas.openxmlformats.org/drawingml/2006/main">
              <a:ext uri="{FF2B5EF4-FFF2-40B4-BE49-F238E27FC236}">
                <a16:creationId xmlns:a16="http://schemas.microsoft.com/office/drawing/2014/main" id="{4374294B-2111-45B1-B2B7-139DDE5EC121}"/>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preferred RGB keyboard exists, but it is unavailable</a:t>
            </a:r>
          </a:p>
        </p:txBody>
      </p:sp>
      <p:graphicFrame>
        <p:nvGraphicFramePr>
          <p:cNvPr id="4" name="">
            <a:extLst xmlns:a="http://schemas.openxmlformats.org/drawingml/2006/main">
              <a:ext uri="{FF2B5EF4-FFF2-40B4-BE49-F238E27FC236}">
                <a16:creationId xmlns:a16="http://schemas.microsoft.com/office/drawing/2014/main" id="{BEF062CF-B634-428A-99EC-2C278ECE9C59}"/>
              </a:ext>
            </a:extLst>
          </p:cNvPr>
          <p:cNvGraphicFramePr/>
          <p:nvPr/>
        </p:nvGraphicFramePr>
        <p:xfrm>
          <a:off xmlns:a="http://schemas.openxmlformats.org/drawingml/2006/main" x="609600" y="2324100"/>
          <a:ext xmlns:a="http://schemas.openxmlformats.org/drawingml/2006/main" cx="10972800" cy="2476500"/>
        </p:xfrm>
        <a:graphic xmlns:a="http://schemas.openxmlformats.org/drawingml/2006/main">
          <a:graphicData uri="http://schemas.openxmlformats.org/drawingml/2006/table">
            <a:tbl>
              <a:tblPr/>
              <a:tblGrid>
                <a:gridCol w="1762125"/>
                <a:gridCol w="2857500"/>
                <a:gridCol w="4095750"/>
                <a:gridCol w="2257425"/>
              </a:tblGrid>
              <a:tr h="825500">
                <a:tc>
                  <a:txBody>
                    <a:bodyPr lIns="133350" tIns="133350" rIns="133350" bIns="133350"/>
                    <a:lstStyle/>
                    <a:p>
                      <a:r>
                        <a:rPr sz="2025" b="1">
                          <a:solidFill>
                            <a:srgbClr val="FFFFFF"/>
                          </a:solidFill>
                          <a:latin typeface="Helvetica Neue"/>
                          <a:ea typeface="Helvetica Neue"/>
                          <a:cs typeface="Helvetica Neue"/>
                        </a:rPr>
                        <a:t>Item</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Original</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Available replacement</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Difference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825500">
                <a:tc>
                  <a:txBody>
                    <a:bodyPr lIns="133350" tIns="133350" rIns="133350" bIns="133350"/>
                    <a:lstStyle/>
                    <a:p>
                      <a:r>
                        <a:rPr sz="2025" b="0">
                          <a:solidFill>
                            <a:srgbClr val="102B36"/>
                          </a:solidFill>
                          <a:latin typeface="Helvetica Neue"/>
                          <a:ea typeface="Helvetica Neue"/>
                          <a:cs typeface="Helvetica Neue"/>
                        </a:rPr>
                        <a:t>Keyboard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Linear, RGB</a:t>
                      </a:r>
                    </a:p>
                    <a:p>
                      <a:r>
                        <a:rPr sz="2025" b="0">
                          <a:solidFill>
                            <a:srgbClr val="102B36"/>
                          </a:solidFill>
                          <a:latin typeface="Helvetica Neue"/>
                          <a:ea typeface="Helvetica Neue"/>
                          <a:cs typeface="Helvetica Neue"/>
                        </a:rPr>
                        <a:t>$272.33</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Clicky, no backlight</a:t>
                      </a:r>
                    </a:p>
                    <a:p>
                      <a:r>
                        <a:rPr sz="2025" b="0">
                          <a:solidFill>
                            <a:srgbClr val="102B36"/>
                          </a:solidFill>
                          <a:latin typeface="Helvetica Neue"/>
                          <a:ea typeface="Helvetica Neue"/>
                          <a:cs typeface="Helvetica Neue"/>
                        </a:rPr>
                        <a:t>$269.16</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−$3.17</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825500">
                <a:tc>
                  <a:txBody>
                    <a:bodyPr lIns="133350" tIns="133350" rIns="133350" bIns="133350"/>
                    <a:lstStyle/>
                    <a:p>
                      <a:r>
                        <a:rPr sz="2025" b="0">
                          <a:solidFill>
                            <a:srgbClr val="102B36"/>
                          </a:solidFill>
                          <a:latin typeface="Helvetica Neue"/>
                          <a:ea typeface="Helvetica Neue"/>
                          <a:cs typeface="Helvetica Neue"/>
                        </a:rPr>
                        <a:t>Thermostat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Apple HomeKit</a:t>
                      </a:r>
                    </a:p>
                    <a:p>
                      <a:r>
                        <a:rPr sz="2025" b="0">
                          <a:solidFill>
                            <a:srgbClr val="102B36"/>
                          </a:solidFill>
                          <a:latin typeface="Helvetica Neue"/>
                          <a:ea typeface="Helvetica Neue"/>
                          <a:cs typeface="Helvetica Neue"/>
                        </a:rPr>
                        <a:t>$262.47</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Google Assistant</a:t>
                      </a:r>
                    </a:p>
                    <a:p>
                      <a:r>
                        <a:rPr sz="2025" b="0">
                          <a:solidFill>
                            <a:srgbClr val="102B36"/>
                          </a:solidFill>
                          <a:latin typeface="Helvetica Neue"/>
                          <a:ea typeface="Helvetica Neue"/>
                          <a:cs typeface="Helvetica Neue"/>
                        </a:rPr>
                        <a:t>$249.01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−$13.46</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ECED62BE-CC1D-49EB-B236-FB0A2B2DA2B2}"/>
              </a:ext>
            </a:extLst>
          </p:cNvPr>
          <p:cNvSpPr>
            <a:spLocks xmlns:a="http://schemas.openxmlformats.org/drawingml/2006/main" noGrp="1"/>
          </p:cNvSpPr>
          <p:nvPr/>
        </p:nvSpPr>
        <p:spPr>
          <a:xfrm xmlns:a="http://schemas.openxmlformats.org/drawingml/2006/main">
            <a:off x="628650" y="52006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07B78"/>
                </a:solidFill>
                <a:latin typeface="Helvetica Neue"/>
                <a:ea typeface="Helvetica Neue"/>
                <a:cs typeface="Helvetica Neue"/>
              </a:defRPr>
            </a:defPPr>
            <a:lvl1pPr>
              <a:defRPr sz="2775" b="1">
                <a:solidFill>
                  <a:srgbClr val="007B78"/>
                </a:solidFill>
                <a:latin typeface="Helvetica Neue"/>
                <a:ea typeface="Helvetica Neue"/>
                <a:cs typeface="Helvetica Neue"/>
              </a:defRPr>
            </a:lvl1pPr>
            <a:lvl2pPr>
              <a:defRPr sz="2775" b="1">
                <a:solidFill>
                  <a:srgbClr val="007B78"/>
                </a:solidFill>
                <a:latin typeface="Helvetica Neue"/>
                <a:ea typeface="Helvetica Neue"/>
                <a:cs typeface="Helvetica Neue"/>
              </a:defRPr>
            </a:lvl2pPr>
            <a:lvl3pPr>
              <a:defRPr sz="2775" b="1">
                <a:solidFill>
                  <a:srgbClr val="007B78"/>
                </a:solidFill>
                <a:latin typeface="Helvetica Neue"/>
                <a:ea typeface="Helvetica Neue"/>
                <a:cs typeface="Helvetica Neue"/>
              </a:defRPr>
            </a:lvl3pPr>
            <a:lvl4pPr>
              <a:defRPr sz="2775" b="1">
                <a:solidFill>
                  <a:srgbClr val="007B78"/>
                </a:solidFill>
                <a:latin typeface="Helvetica Neue"/>
                <a:ea typeface="Helvetica Neue"/>
                <a:cs typeface="Helvetica Neue"/>
              </a:defRPr>
            </a:lvl4pPr>
            <a:lvl5pPr>
              <a:defRPr sz="2775" b="1">
                <a:solidFill>
                  <a:srgbClr val="007B78"/>
                </a:solidFill>
                <a:latin typeface="Helvetica Neue"/>
                <a:ea typeface="Helvetica Neue"/>
                <a:cs typeface="Helvetica Neue"/>
              </a:defRPr>
            </a:lvl5pPr>
            <a:lvl6pPr>
              <a:defRPr sz="2775" b="1">
                <a:solidFill>
                  <a:srgbClr val="007B78"/>
                </a:solidFill>
                <a:latin typeface="Helvetica Neue"/>
                <a:ea typeface="Helvetica Neue"/>
                <a:cs typeface="Helvetica Neue"/>
              </a:defRPr>
            </a:lvl6pPr>
            <a:lvl7pPr>
              <a:defRPr sz="2775" b="1">
                <a:solidFill>
                  <a:srgbClr val="007B78"/>
                </a:solidFill>
                <a:latin typeface="Helvetica Neue"/>
                <a:ea typeface="Helvetica Neue"/>
                <a:cs typeface="Helvetica Neue"/>
              </a:defRPr>
            </a:lvl7pPr>
            <a:lvl8pPr>
              <a:defRPr sz="2775" b="1">
                <a:solidFill>
                  <a:srgbClr val="007B78"/>
                </a:solidFill>
                <a:latin typeface="Helvetica Neue"/>
                <a:ea typeface="Helvetica Neue"/>
                <a:cs typeface="Helvetica Neue"/>
              </a:defRPr>
            </a:lvl8pPr>
            <a:lvl9pPr>
              <a:defRPr sz="2775" b="1">
                <a:solidFill>
                  <a:srgbClr val="007B78"/>
                </a:solidFill>
                <a:latin typeface="Helvetica Neue"/>
                <a:ea typeface="Helvetica Neue"/>
                <a:cs typeface="Helvetica Neue"/>
              </a:defRPr>
            </a:lvl9pPr>
          </a:lstStyle>
          <a:p xmlns:a="http://schemas.openxmlformats.org/drawingml/2006/main">
            <a:pPr>
              <a:defRPr sz="2775" b="1">
                <a:solidFill>
                  <a:srgbClr val="007B78"/>
                </a:solidFill>
                <a:latin typeface="Helvetica Neue"/>
                <a:ea typeface="Helvetica Neue"/>
                <a:cs typeface="Helvetica Neue"/>
              </a:defRPr>
            </a:pPr>
            <a:r>
              <a:rPr sz="2775" b="1">
                <a:solidFill>
                  <a:srgbClr val="007B78"/>
                </a:solidFill>
                <a:latin typeface="Helvetica Neue"/>
                <a:ea typeface="Helvetica Neue"/>
                <a:cs typeface="Helvetica Neue"/>
              </a:rPr>
              <a:t>Combined price difference: −$16.63</a:t>
            </a:r>
          </a:p>
        </p:txBody>
      </p:sp>
      <p:sp>
        <p:nvSpPr>
          <p:cNvPr id="6" name="">
            <a:extLst xmlns:a="http://schemas.openxmlformats.org/drawingml/2006/main">
              <a:ext uri="{FF2B5EF4-FFF2-40B4-BE49-F238E27FC236}">
                <a16:creationId xmlns:a16="http://schemas.microsoft.com/office/drawing/2014/main" id="{FBF271D0-5FB0-48CA-8272-0B448EAA7B63}"/>
              </a:ext>
            </a:extLst>
          </p:cNvPr>
          <p:cNvSpPr>
            <a:spLocks xmlns:a="http://schemas.openxmlformats.org/drawingml/2006/main" noGrp="1"/>
          </p:cNvSpPr>
          <p:nvPr/>
        </p:nvSpPr>
        <p:spPr>
          <a:xfrm xmlns:a="http://schemas.openxmlformats.org/drawingml/2006/main">
            <a:off x="628650" y="5857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0636A"/>
                </a:solidFill>
                <a:latin typeface="Helvetica Neue"/>
                <a:ea typeface="Helvetica Neue"/>
                <a:cs typeface="Helvetica Neue"/>
              </a:defRPr>
            </a:defPPr>
            <a:lvl1pPr>
              <a:defRPr sz="1800" b="0">
                <a:solidFill>
                  <a:srgbClr val="50636A"/>
                </a:solidFill>
                <a:latin typeface="Helvetica Neue"/>
                <a:ea typeface="Helvetica Neue"/>
                <a:cs typeface="Helvetica Neue"/>
              </a:defRPr>
            </a:lvl1pPr>
            <a:lvl2pPr>
              <a:defRPr sz="1800" b="0">
                <a:solidFill>
                  <a:srgbClr val="50636A"/>
                </a:solidFill>
                <a:latin typeface="Helvetica Neue"/>
                <a:ea typeface="Helvetica Neue"/>
                <a:cs typeface="Helvetica Neue"/>
              </a:defRPr>
            </a:lvl2pPr>
            <a:lvl3pPr>
              <a:defRPr sz="1800" b="0">
                <a:solidFill>
                  <a:srgbClr val="50636A"/>
                </a:solidFill>
                <a:latin typeface="Helvetica Neue"/>
                <a:ea typeface="Helvetica Neue"/>
                <a:cs typeface="Helvetica Neue"/>
              </a:defRPr>
            </a:lvl3pPr>
            <a:lvl4pPr>
              <a:defRPr sz="1800" b="0">
                <a:solidFill>
                  <a:srgbClr val="50636A"/>
                </a:solidFill>
                <a:latin typeface="Helvetica Neue"/>
                <a:ea typeface="Helvetica Neue"/>
                <a:cs typeface="Helvetica Neue"/>
              </a:defRPr>
            </a:lvl4pPr>
            <a:lvl5pPr>
              <a:defRPr sz="1800" b="0">
                <a:solidFill>
                  <a:srgbClr val="50636A"/>
                </a:solidFill>
                <a:latin typeface="Helvetica Neue"/>
                <a:ea typeface="Helvetica Neue"/>
                <a:cs typeface="Helvetica Neue"/>
              </a:defRPr>
            </a:lvl5pPr>
            <a:lvl6pPr>
              <a:defRPr sz="1800" b="0">
                <a:solidFill>
                  <a:srgbClr val="50636A"/>
                </a:solidFill>
                <a:latin typeface="Helvetica Neue"/>
                <a:ea typeface="Helvetica Neue"/>
                <a:cs typeface="Helvetica Neue"/>
              </a:defRPr>
            </a:lvl6pPr>
            <a:lvl7pPr>
              <a:defRPr sz="1800" b="0">
                <a:solidFill>
                  <a:srgbClr val="50636A"/>
                </a:solidFill>
                <a:latin typeface="Helvetica Neue"/>
                <a:ea typeface="Helvetica Neue"/>
                <a:cs typeface="Helvetica Neue"/>
              </a:defRPr>
            </a:lvl7pPr>
            <a:lvl8pPr>
              <a:defRPr sz="1800" b="0">
                <a:solidFill>
                  <a:srgbClr val="50636A"/>
                </a:solidFill>
                <a:latin typeface="Helvetica Neue"/>
                <a:ea typeface="Helvetica Neue"/>
                <a:cs typeface="Helvetica Neue"/>
              </a:defRPr>
            </a:lvl8pPr>
            <a:lvl9pPr>
              <a:defRPr sz="1800" b="0">
                <a:solidFill>
                  <a:srgbClr val="50636A"/>
                </a:solidFill>
                <a:latin typeface="Helvetica Neue"/>
                <a:ea typeface="Helvetica Neue"/>
                <a:cs typeface="Helvetica Neue"/>
              </a:defRPr>
            </a:lvl9pPr>
          </a:lstStyle>
          <a:p xmlns:a="http://schemas.openxmlformats.org/drawingml/2006/main">
            <a:pPr>
              <a:defRPr sz="1800" b="0">
                <a:solidFill>
                  <a:srgbClr val="50636A"/>
                </a:solidFill>
                <a:latin typeface="Helvetica Neue"/>
                <a:ea typeface="Helvetica Neue"/>
                <a:cs typeface="Helvetica Neue"/>
              </a:defRPr>
            </a:pPr>
            <a:r>
              <a:rPr sz="1800" b="0">
                <a:solidFill>
                  <a:srgbClr val="50636A"/>
                </a:solidFill>
                <a:latin typeface="Helvetica Neue"/>
                <a:ea typeface="Helvetica Neue"/>
                <a:cs typeface="Helvetica Neue"/>
              </a:rPr>
              <a:t>The agent should explain both replacements and obtain confirmation.</a:t>
            </a:r>
          </a:p>
        </p:txBody>
      </p:sp>
    </p:spTree>
    <p:extLst>
      <p:ext uri="{BB962C8B-B14F-4D97-AF65-F5344CB8AC3E}">
        <p14:creationId xmlns:p14="http://schemas.microsoft.com/office/powerpoint/2010/main" val="1506592055"/>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3CA9E7-9E2F-4B0E-89F3-3AF918FDBEB5}"/>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08</a:t>
            </a:r>
          </a:p>
        </p:txBody>
      </p:sp>
      <p:sp>
        <p:nvSpPr>
          <p:cNvPr id="2" name="">
            <a:extLst xmlns:a="http://schemas.openxmlformats.org/drawingml/2006/main">
              <a:ext uri="{FF2B5EF4-FFF2-40B4-BE49-F238E27FC236}">
                <a16:creationId xmlns:a16="http://schemas.microsoft.com/office/drawing/2014/main" id="{20D8FB50-A897-4779-A8A0-A00AA76E089B}"/>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exchange tool call</a:t>
            </a:r>
          </a:p>
        </p:txBody>
      </p:sp>
      <p:sp>
        <p:nvSpPr>
          <p:cNvPr id="3" name="">
            <a:extLst xmlns:a="http://schemas.openxmlformats.org/drawingml/2006/main">
              <a:ext uri="{FF2B5EF4-FFF2-40B4-BE49-F238E27FC236}">
                <a16:creationId xmlns:a16="http://schemas.microsoft.com/office/drawing/2014/main" id="{932C13E6-C09A-4660-87AF-D574722EE94C}"/>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One request includes both items and their corresponding replacements</a:t>
            </a:r>
          </a:p>
        </p:txBody>
      </p:sp>
      <p:sp>
        <p:nvSpPr>
          <p:cNvPr id="4" name="">
            <a:extLst xmlns:a="http://schemas.openxmlformats.org/drawingml/2006/main">
              <a:ext uri="{FF2B5EF4-FFF2-40B4-BE49-F238E27FC236}">
                <a16:creationId xmlns:a16="http://schemas.microsoft.com/office/drawing/2014/main" id="{C1E7D1AD-F191-464C-8A77-971571543D13}"/>
              </a:ext>
            </a:extLst>
          </p:cNvPr>
          <p:cNvSpPr>
            <a:spLocks xmlns:a="http://schemas.openxmlformats.org/drawingml/2006/main" noGrp="1"/>
          </p:cNvSpPr>
          <p:nvPr/>
        </p:nvSpPr>
        <p:spPr>
          <a:xfrm xmlns:a="http://schemas.openxmlformats.org/drawingml/2006/main">
            <a:off x="628650" y="22002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07B78"/>
                </a:solidFill>
                <a:latin typeface="Helvetica Neue"/>
                <a:ea typeface="Helvetica Neue"/>
                <a:cs typeface="Helvetica Neue"/>
              </a:defRPr>
            </a:defPPr>
            <a:lvl1pPr>
              <a:defRPr sz="2700" b="1">
                <a:solidFill>
                  <a:srgbClr val="007B78"/>
                </a:solidFill>
                <a:latin typeface="Helvetica Neue"/>
                <a:ea typeface="Helvetica Neue"/>
                <a:cs typeface="Helvetica Neue"/>
              </a:defRPr>
            </a:lvl1pPr>
            <a:lvl2pPr>
              <a:defRPr sz="2700" b="1">
                <a:solidFill>
                  <a:srgbClr val="007B78"/>
                </a:solidFill>
                <a:latin typeface="Helvetica Neue"/>
                <a:ea typeface="Helvetica Neue"/>
                <a:cs typeface="Helvetica Neue"/>
              </a:defRPr>
            </a:lvl2pPr>
            <a:lvl3pPr>
              <a:defRPr sz="2700" b="1">
                <a:solidFill>
                  <a:srgbClr val="007B78"/>
                </a:solidFill>
                <a:latin typeface="Helvetica Neue"/>
                <a:ea typeface="Helvetica Neue"/>
                <a:cs typeface="Helvetica Neue"/>
              </a:defRPr>
            </a:lvl3pPr>
            <a:lvl4pPr>
              <a:defRPr sz="2700" b="1">
                <a:solidFill>
                  <a:srgbClr val="007B78"/>
                </a:solidFill>
                <a:latin typeface="Helvetica Neue"/>
                <a:ea typeface="Helvetica Neue"/>
                <a:cs typeface="Helvetica Neue"/>
              </a:defRPr>
            </a:lvl4pPr>
            <a:lvl5pPr>
              <a:defRPr sz="2700" b="1">
                <a:solidFill>
                  <a:srgbClr val="007B78"/>
                </a:solidFill>
                <a:latin typeface="Helvetica Neue"/>
                <a:ea typeface="Helvetica Neue"/>
                <a:cs typeface="Helvetica Neue"/>
              </a:defRPr>
            </a:lvl5pPr>
            <a:lvl6pPr>
              <a:defRPr sz="2700" b="1">
                <a:solidFill>
                  <a:srgbClr val="007B78"/>
                </a:solidFill>
                <a:latin typeface="Helvetica Neue"/>
                <a:ea typeface="Helvetica Neue"/>
                <a:cs typeface="Helvetica Neue"/>
              </a:defRPr>
            </a:lvl6pPr>
            <a:lvl7pPr>
              <a:defRPr sz="2700" b="1">
                <a:solidFill>
                  <a:srgbClr val="007B78"/>
                </a:solidFill>
                <a:latin typeface="Helvetica Neue"/>
                <a:ea typeface="Helvetica Neue"/>
                <a:cs typeface="Helvetica Neue"/>
              </a:defRPr>
            </a:lvl7pPr>
            <a:lvl8pPr>
              <a:defRPr sz="2700" b="1">
                <a:solidFill>
                  <a:srgbClr val="007B78"/>
                </a:solidFill>
                <a:latin typeface="Helvetica Neue"/>
                <a:ea typeface="Helvetica Neue"/>
                <a:cs typeface="Helvetica Neue"/>
              </a:defRPr>
            </a:lvl8pPr>
            <a:lvl9pPr>
              <a:defRPr sz="2700" b="1">
                <a:solidFill>
                  <a:srgbClr val="007B78"/>
                </a:solidFill>
                <a:latin typeface="Helvetica Neue"/>
                <a:ea typeface="Helvetica Neue"/>
                <a:cs typeface="Helvetica Neue"/>
              </a:defRPr>
            </a:lvl9pPr>
          </a:lstStyle>
          <a:p xmlns:a="http://schemas.openxmlformats.org/drawingml/2006/main">
            <a:pPr>
              <a:defRPr sz="2700" b="1">
                <a:solidFill>
                  <a:srgbClr val="007B78"/>
                </a:solidFill>
                <a:latin typeface="Helvetica Neue"/>
                <a:ea typeface="Helvetica Neue"/>
                <a:cs typeface="Helvetica Neue"/>
              </a:defRPr>
            </a:pPr>
            <a:r>
              <a:rPr sz="2700" b="1">
                <a:solidFill>
                  <a:srgbClr val="007B78"/>
                </a:solidFill>
                <a:latin typeface="Helvetica Neue"/>
                <a:ea typeface="Helvetica Neue"/>
                <a:cs typeface="Helvetica Neue"/>
              </a:rPr>
              <a:t>exchange_delivered_order_items</a:t>
            </a:r>
          </a:p>
        </p:txBody>
      </p:sp>
      <p:sp>
        <p:nvSpPr>
          <p:cNvPr id="5" name="">
            <a:extLst xmlns:a="http://schemas.openxmlformats.org/drawingml/2006/main">
              <a:ext uri="{FF2B5EF4-FFF2-40B4-BE49-F238E27FC236}">
                <a16:creationId xmlns:a16="http://schemas.microsoft.com/office/drawing/2014/main" id="{D8962D18-3269-41B0-976B-155CF9031543}"/>
              </a:ext>
            </a:extLst>
          </p:cNvPr>
          <p:cNvSpPr>
            <a:spLocks xmlns:a="http://schemas.openxmlformats.org/drawingml/2006/main" noGrp="1"/>
          </p:cNvSpPr>
          <p:nvPr/>
        </p:nvSpPr>
        <p:spPr>
          <a:xfrm xmlns:a="http://schemas.openxmlformats.org/drawingml/2006/main">
            <a:off x="628650" y="2962275"/>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02B36"/>
                </a:solidFill>
                <a:latin typeface="Helvetica Neue"/>
                <a:ea typeface="Helvetica Neue"/>
                <a:cs typeface="Helvetica Neue"/>
              </a:defRPr>
            </a:defPPr>
            <a:lvl1pPr>
              <a:defRPr sz="2250" b="0">
                <a:solidFill>
                  <a:srgbClr val="102B36"/>
                </a:solidFill>
                <a:latin typeface="Helvetica Neue"/>
                <a:ea typeface="Helvetica Neue"/>
                <a:cs typeface="Helvetica Neue"/>
              </a:defRPr>
            </a:lvl1pPr>
            <a:lvl2pPr>
              <a:defRPr sz="2250" b="0">
                <a:solidFill>
                  <a:srgbClr val="102B36"/>
                </a:solidFill>
                <a:latin typeface="Helvetica Neue"/>
                <a:ea typeface="Helvetica Neue"/>
                <a:cs typeface="Helvetica Neue"/>
              </a:defRPr>
            </a:lvl2pPr>
            <a:lvl3pPr>
              <a:defRPr sz="2250" b="0">
                <a:solidFill>
                  <a:srgbClr val="102B36"/>
                </a:solidFill>
                <a:latin typeface="Helvetica Neue"/>
                <a:ea typeface="Helvetica Neue"/>
                <a:cs typeface="Helvetica Neue"/>
              </a:defRPr>
            </a:lvl3pPr>
            <a:lvl4pPr>
              <a:defRPr sz="2250" b="0">
                <a:solidFill>
                  <a:srgbClr val="102B36"/>
                </a:solidFill>
                <a:latin typeface="Helvetica Neue"/>
                <a:ea typeface="Helvetica Neue"/>
                <a:cs typeface="Helvetica Neue"/>
              </a:defRPr>
            </a:lvl4pPr>
            <a:lvl5pPr>
              <a:defRPr sz="2250" b="0">
                <a:solidFill>
                  <a:srgbClr val="102B36"/>
                </a:solidFill>
                <a:latin typeface="Helvetica Neue"/>
                <a:ea typeface="Helvetica Neue"/>
                <a:cs typeface="Helvetica Neue"/>
              </a:defRPr>
            </a:lvl5pPr>
            <a:lvl6pPr>
              <a:defRPr sz="2250" b="0">
                <a:solidFill>
                  <a:srgbClr val="102B36"/>
                </a:solidFill>
                <a:latin typeface="Helvetica Neue"/>
                <a:ea typeface="Helvetica Neue"/>
                <a:cs typeface="Helvetica Neue"/>
              </a:defRPr>
            </a:lvl6pPr>
            <a:lvl7pPr>
              <a:defRPr sz="2250" b="0">
                <a:solidFill>
                  <a:srgbClr val="102B36"/>
                </a:solidFill>
                <a:latin typeface="Helvetica Neue"/>
                <a:ea typeface="Helvetica Neue"/>
                <a:cs typeface="Helvetica Neue"/>
              </a:defRPr>
            </a:lvl7pPr>
            <a:lvl8pPr>
              <a:defRPr sz="2250" b="0">
                <a:solidFill>
                  <a:srgbClr val="102B36"/>
                </a:solidFill>
                <a:latin typeface="Helvetica Neue"/>
                <a:ea typeface="Helvetica Neue"/>
                <a:cs typeface="Helvetica Neue"/>
              </a:defRPr>
            </a:lvl8pPr>
            <a:lvl9pPr>
              <a:defRPr sz="2250" b="0">
                <a:solidFill>
                  <a:srgbClr val="102B36"/>
                </a:solidFill>
                <a:latin typeface="Helvetica Neue"/>
                <a:ea typeface="Helvetica Neue"/>
                <a:cs typeface="Helvetica Neue"/>
              </a:defRPr>
            </a:lvl9pPr>
          </a:lstStyle>
          <a:p xmlns:a="http://schemas.openxmlformats.org/drawingml/2006/main">
            <a:pPr>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order_id:  #W2378156</a:t>
            </a:r>
          </a:p>
          <a:p xmlns:a="http://schemas.openxmlformats.org/drawingml/2006/main">
            <a:pPr>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item_ids:  [1151293680, 4983901480]</a:t>
            </a:r>
          </a:p>
          <a:p xmlns:a="http://schemas.openxmlformats.org/drawingml/2006/main">
            <a:pPr>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new_item_ids:  [7706410293, 7747408585]</a:t>
            </a:r>
          </a:p>
          <a:p xmlns:a="http://schemas.openxmlformats.org/drawingml/2006/main">
            <a:pPr>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payment_method_id:  credit_card_9513926</a:t>
            </a:r>
          </a:p>
        </p:txBody>
      </p:sp>
      <p:sp>
        <p:nvSpPr>
          <p:cNvPr id="6" name="">
            <a:extLst xmlns:a="http://schemas.openxmlformats.org/drawingml/2006/main">
              <a:ext uri="{FF2B5EF4-FFF2-40B4-BE49-F238E27FC236}">
                <a16:creationId xmlns:a16="http://schemas.microsoft.com/office/drawing/2014/main" id="{6BB06233-3C63-45E6-AB63-20731F0DA298}"/>
              </a:ext>
            </a:extLst>
          </p:cNvPr>
          <p:cNvSpPr>
            <a:spLocks xmlns:a="http://schemas.openxmlformats.org/drawingml/2006/main" noGrp="1"/>
          </p:cNvSpPr>
          <p:nvPr/>
        </p:nvSpPr>
        <p:spPr>
          <a:xfrm xmlns:a="http://schemas.openxmlformats.org/drawingml/2006/main">
            <a:off x="628650" y="5286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0636A"/>
                </a:solidFill>
                <a:latin typeface="Helvetica Neue"/>
                <a:ea typeface="Helvetica Neue"/>
                <a:cs typeface="Helvetica Neue"/>
              </a:defRPr>
            </a:defPPr>
            <a:lvl1pPr>
              <a:defRPr sz="2025" b="0">
                <a:solidFill>
                  <a:srgbClr val="50636A"/>
                </a:solidFill>
                <a:latin typeface="Helvetica Neue"/>
                <a:ea typeface="Helvetica Neue"/>
                <a:cs typeface="Helvetica Neue"/>
              </a:defRPr>
            </a:lvl1pPr>
            <a:lvl2pPr>
              <a:defRPr sz="2025" b="0">
                <a:solidFill>
                  <a:srgbClr val="50636A"/>
                </a:solidFill>
                <a:latin typeface="Helvetica Neue"/>
                <a:ea typeface="Helvetica Neue"/>
                <a:cs typeface="Helvetica Neue"/>
              </a:defRPr>
            </a:lvl2pPr>
            <a:lvl3pPr>
              <a:defRPr sz="2025" b="0">
                <a:solidFill>
                  <a:srgbClr val="50636A"/>
                </a:solidFill>
                <a:latin typeface="Helvetica Neue"/>
                <a:ea typeface="Helvetica Neue"/>
                <a:cs typeface="Helvetica Neue"/>
              </a:defRPr>
            </a:lvl3pPr>
            <a:lvl4pPr>
              <a:defRPr sz="2025" b="0">
                <a:solidFill>
                  <a:srgbClr val="50636A"/>
                </a:solidFill>
                <a:latin typeface="Helvetica Neue"/>
                <a:ea typeface="Helvetica Neue"/>
                <a:cs typeface="Helvetica Neue"/>
              </a:defRPr>
            </a:lvl4pPr>
            <a:lvl5pPr>
              <a:defRPr sz="2025" b="0">
                <a:solidFill>
                  <a:srgbClr val="50636A"/>
                </a:solidFill>
                <a:latin typeface="Helvetica Neue"/>
                <a:ea typeface="Helvetica Neue"/>
                <a:cs typeface="Helvetica Neue"/>
              </a:defRPr>
            </a:lvl5pPr>
            <a:lvl6pPr>
              <a:defRPr sz="2025" b="0">
                <a:solidFill>
                  <a:srgbClr val="50636A"/>
                </a:solidFill>
                <a:latin typeface="Helvetica Neue"/>
                <a:ea typeface="Helvetica Neue"/>
                <a:cs typeface="Helvetica Neue"/>
              </a:defRPr>
            </a:lvl6pPr>
            <a:lvl7pPr>
              <a:defRPr sz="2025" b="0">
                <a:solidFill>
                  <a:srgbClr val="50636A"/>
                </a:solidFill>
                <a:latin typeface="Helvetica Neue"/>
                <a:ea typeface="Helvetica Neue"/>
                <a:cs typeface="Helvetica Neue"/>
              </a:defRPr>
            </a:lvl7pPr>
            <a:lvl8pPr>
              <a:defRPr sz="2025" b="0">
                <a:solidFill>
                  <a:srgbClr val="50636A"/>
                </a:solidFill>
                <a:latin typeface="Helvetica Neue"/>
                <a:ea typeface="Helvetica Neue"/>
                <a:cs typeface="Helvetica Neue"/>
              </a:defRPr>
            </a:lvl8pPr>
            <a:lvl9pPr>
              <a:defRPr sz="2025" b="0">
                <a:solidFill>
                  <a:srgbClr val="50636A"/>
                </a:solidFill>
                <a:latin typeface="Helvetica Neue"/>
                <a:ea typeface="Helvetica Neue"/>
                <a:cs typeface="Helvetica Neue"/>
              </a:defRPr>
            </a:lvl9pPr>
          </a:lstStyle>
          <a:p xmlns:a="http://schemas.openxmlformats.org/drawingml/2006/main">
            <a:pPr>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The tool checks order status, item membership, replacement availability</a:t>
            </a:r>
          </a:p>
          <a:p xmlns:a="http://schemas.openxmlformats.org/drawingml/2006/main">
            <a:pPr>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and the payment method before changing state.</a:t>
            </a:r>
          </a:p>
        </p:txBody>
      </p:sp>
    </p:spTree>
    <p:extLst>
      <p:ext uri="{BB962C8B-B14F-4D97-AF65-F5344CB8AC3E}">
        <p14:creationId xmlns:p14="http://schemas.microsoft.com/office/powerpoint/2010/main" val="1033077138"/>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8938C1-400D-4771-841B-886EE9989788}"/>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09</a:t>
            </a:r>
          </a:p>
        </p:txBody>
      </p:sp>
      <p:sp>
        <p:nvSpPr>
          <p:cNvPr id="2" name="">
            <a:extLst xmlns:a="http://schemas.openxmlformats.org/drawingml/2006/main">
              <a:ext uri="{FF2B5EF4-FFF2-40B4-BE49-F238E27FC236}">
                <a16:creationId xmlns:a16="http://schemas.microsoft.com/office/drawing/2014/main" id="{D33824DC-5429-43C1-B08E-7BDA613E4293}"/>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environment records an exchange request</a:t>
            </a:r>
          </a:p>
        </p:txBody>
      </p:sp>
      <p:sp>
        <p:nvSpPr>
          <p:cNvPr id="3" name="">
            <a:extLst xmlns:a="http://schemas.openxmlformats.org/drawingml/2006/main">
              <a:ext uri="{FF2B5EF4-FFF2-40B4-BE49-F238E27FC236}">
                <a16:creationId xmlns:a16="http://schemas.microsoft.com/office/drawing/2014/main" id="{C8B5F3C6-021D-49A1-8A19-998AF325F6F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write changes order fields rather than completing fulfillment</a:t>
            </a:r>
          </a:p>
        </p:txBody>
      </p:sp>
      <p:graphicFrame>
        <p:nvGraphicFramePr>
          <p:cNvPr id="4" name="">
            <a:extLst xmlns:a="http://schemas.openxmlformats.org/drawingml/2006/main">
              <a:ext uri="{FF2B5EF4-FFF2-40B4-BE49-F238E27FC236}">
                <a16:creationId xmlns:a16="http://schemas.microsoft.com/office/drawing/2014/main" id="{729DDCCB-779A-413E-8AF1-0523F3DDE28A}"/>
              </a:ext>
            </a:extLst>
          </p:cNvPr>
          <p:cNvGraphicFramePr/>
          <p:nvPr/>
        </p:nvGraphicFramePr>
        <p:xfrm>
          <a:off xmlns:a="http://schemas.openxmlformats.org/drawingml/2006/main" x="609600" y="2133600"/>
          <a:ext xmlns:a="http://schemas.openxmlformats.org/drawingml/2006/main" cx="10972800" cy="3333750"/>
        </p:xfrm>
        <a:graphic xmlns:a="http://schemas.openxmlformats.org/drawingml/2006/main">
          <a:graphicData uri="http://schemas.openxmlformats.org/drawingml/2006/table">
            <a:tbl>
              <a:tblPr/>
              <a:tblGrid>
                <a:gridCol w="4286250"/>
                <a:gridCol w="2190750"/>
                <a:gridCol w="4495800"/>
              </a:tblGrid>
              <a:tr h="666750">
                <a:tc>
                  <a:txBody>
                    <a:bodyPr lIns="133350" tIns="133350" rIns="133350" bIns="133350"/>
                    <a:lstStyle/>
                    <a:p>
                      <a:r>
                        <a:rPr sz="1875" b="1">
                          <a:solidFill>
                            <a:srgbClr val="FFFFFF"/>
                          </a:solidFill>
                          <a:latin typeface="Helvetica Neue"/>
                          <a:ea typeface="Helvetica Neue"/>
                          <a:cs typeface="Helvetica Neue"/>
                        </a:rPr>
                        <a:t>Field</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875" b="1">
                          <a:solidFill>
                            <a:srgbClr val="FFFFFF"/>
                          </a:solidFill>
                          <a:latin typeface="Helvetica Neue"/>
                          <a:ea typeface="Helvetica Neue"/>
                          <a:cs typeface="Helvetica Neue"/>
                        </a:rPr>
                        <a:t>Before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875" b="1">
                          <a:solidFill>
                            <a:srgbClr val="FFFFFF"/>
                          </a:solidFill>
                          <a:latin typeface="Helvetica Neue"/>
                          <a:ea typeface="Helvetica Neue"/>
                          <a:cs typeface="Helvetica Neue"/>
                        </a:rPr>
                        <a:t>After</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875" b="0">
                          <a:solidFill>
                            <a:srgbClr val="102B36"/>
                          </a:solidFill>
                          <a:latin typeface="Helvetica Neue"/>
                          <a:ea typeface="Helvetica Neue"/>
                          <a:cs typeface="Helvetica Neue"/>
                        </a:rPr>
                        <a:t>status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delivered</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exchange requested</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875" b="0">
                          <a:solidFill>
                            <a:srgbClr val="102B36"/>
                          </a:solidFill>
                          <a:latin typeface="Helvetica Neue"/>
                          <a:ea typeface="Helvetica Neue"/>
                          <a:cs typeface="Helvetica Neue"/>
                        </a:rPr>
                        <a:t>exchange_items / new_items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Both original and replacement item IDs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875" b="0">
                          <a:solidFill>
                            <a:srgbClr val="102B36"/>
                          </a:solidFill>
                          <a:latin typeface="Helvetica Neue"/>
                          <a:ea typeface="Helvetica Neue"/>
                          <a:cs typeface="Helvetica Neue"/>
                        </a:rPr>
                        <a:t>exchange_payment_method_id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credit_card_9513926</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875" b="0">
                          <a:solidFill>
                            <a:srgbClr val="102B36"/>
                          </a:solidFill>
                          <a:latin typeface="Helvetica Neue"/>
                          <a:ea typeface="Helvetica Neue"/>
                          <a:cs typeface="Helvetica Neue"/>
                        </a:rPr>
                        <a:t>exchange_price_difference</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−16.63</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D5B87C8D-5B10-4BD6-8F9A-A4711F502E8B}"/>
              </a:ext>
            </a:extLst>
          </p:cNvPr>
          <p:cNvSpPr>
            <a:spLocks xmlns:a="http://schemas.openxmlformats.org/drawingml/2006/main" noGrp="1"/>
          </p:cNvSpPr>
          <p:nvPr/>
        </p:nvSpPr>
        <p:spPr>
          <a:xfrm xmlns:a="http://schemas.openxmlformats.org/drawingml/2006/main">
            <a:off x="62865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B78"/>
                </a:solidFill>
                <a:latin typeface="Helvetica Neue"/>
                <a:ea typeface="Helvetica Neue"/>
                <a:cs typeface="Helvetica Neue"/>
              </a:defRPr>
            </a:defPPr>
            <a:lvl1pPr>
              <a:defRPr sz="2175" b="1">
                <a:solidFill>
                  <a:srgbClr val="007B78"/>
                </a:solidFill>
                <a:latin typeface="Helvetica Neue"/>
                <a:ea typeface="Helvetica Neue"/>
                <a:cs typeface="Helvetica Neue"/>
              </a:defRPr>
            </a:lvl1pPr>
            <a:lvl2pPr>
              <a:defRPr sz="2175" b="1">
                <a:solidFill>
                  <a:srgbClr val="007B78"/>
                </a:solidFill>
                <a:latin typeface="Helvetica Neue"/>
                <a:ea typeface="Helvetica Neue"/>
                <a:cs typeface="Helvetica Neue"/>
              </a:defRPr>
            </a:lvl2pPr>
            <a:lvl3pPr>
              <a:defRPr sz="2175" b="1">
                <a:solidFill>
                  <a:srgbClr val="007B78"/>
                </a:solidFill>
                <a:latin typeface="Helvetica Neue"/>
                <a:ea typeface="Helvetica Neue"/>
                <a:cs typeface="Helvetica Neue"/>
              </a:defRPr>
            </a:lvl3pPr>
            <a:lvl4pPr>
              <a:defRPr sz="2175" b="1">
                <a:solidFill>
                  <a:srgbClr val="007B78"/>
                </a:solidFill>
                <a:latin typeface="Helvetica Neue"/>
                <a:ea typeface="Helvetica Neue"/>
                <a:cs typeface="Helvetica Neue"/>
              </a:defRPr>
            </a:lvl4pPr>
            <a:lvl5pPr>
              <a:defRPr sz="2175" b="1">
                <a:solidFill>
                  <a:srgbClr val="007B78"/>
                </a:solidFill>
                <a:latin typeface="Helvetica Neue"/>
                <a:ea typeface="Helvetica Neue"/>
                <a:cs typeface="Helvetica Neue"/>
              </a:defRPr>
            </a:lvl5pPr>
            <a:lvl6pPr>
              <a:defRPr sz="2175" b="1">
                <a:solidFill>
                  <a:srgbClr val="007B78"/>
                </a:solidFill>
                <a:latin typeface="Helvetica Neue"/>
                <a:ea typeface="Helvetica Neue"/>
                <a:cs typeface="Helvetica Neue"/>
              </a:defRPr>
            </a:lvl6pPr>
            <a:lvl7pPr>
              <a:defRPr sz="2175" b="1">
                <a:solidFill>
                  <a:srgbClr val="007B78"/>
                </a:solidFill>
                <a:latin typeface="Helvetica Neue"/>
                <a:ea typeface="Helvetica Neue"/>
                <a:cs typeface="Helvetica Neue"/>
              </a:defRPr>
            </a:lvl7pPr>
            <a:lvl8pPr>
              <a:defRPr sz="2175" b="1">
                <a:solidFill>
                  <a:srgbClr val="007B78"/>
                </a:solidFill>
                <a:latin typeface="Helvetica Neue"/>
                <a:ea typeface="Helvetica Neue"/>
                <a:cs typeface="Helvetica Neue"/>
              </a:defRPr>
            </a:lvl8pPr>
            <a:lvl9pPr>
              <a:defRPr sz="2175" b="1">
                <a:solidFill>
                  <a:srgbClr val="007B78"/>
                </a:solidFill>
                <a:latin typeface="Helvetica Neue"/>
                <a:ea typeface="Helvetica Neue"/>
                <a:cs typeface="Helvetica Neue"/>
              </a:defRPr>
            </a:lvl9pPr>
          </a:lstStyle>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A second exchange call fails the delivered-status check.</a:t>
            </a:r>
          </a:p>
        </p:txBody>
      </p:sp>
    </p:spTree>
    <p:extLst>
      <p:ext uri="{BB962C8B-B14F-4D97-AF65-F5344CB8AC3E}">
        <p14:creationId xmlns:p14="http://schemas.microsoft.com/office/powerpoint/2010/main" val="1775077402"/>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881E42-D15E-4B38-918E-B9C932883B35}"/>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10</a:t>
            </a:r>
          </a:p>
        </p:txBody>
      </p:sp>
      <p:sp>
        <p:nvSpPr>
          <p:cNvPr id="2" name="">
            <a:extLst xmlns:a="http://schemas.openxmlformats.org/drawingml/2006/main">
              <a:ext uri="{FF2B5EF4-FFF2-40B4-BE49-F238E27FC236}">
                <a16:creationId xmlns:a16="http://schemas.microsoft.com/office/drawing/2014/main" id="{B665A199-D27E-4E9E-BDD8-89496AE770B6}"/>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Final-state scoring</a:t>
            </a:r>
          </a:p>
        </p:txBody>
      </p:sp>
      <p:sp>
        <p:nvSpPr>
          <p:cNvPr id="3" name="">
            <a:extLst xmlns:a="http://schemas.openxmlformats.org/drawingml/2006/main">
              <a:ext uri="{FF2B5EF4-FFF2-40B4-BE49-F238E27FC236}">
                <a16:creationId xmlns:a16="http://schemas.microsoft.com/office/drawing/2014/main" id="{F37009B6-604F-4D90-A953-A6EC9A3F5094}"/>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evaluator builds an actual state and a reference state independently</a:t>
            </a:r>
          </a:p>
        </p:txBody>
      </p:sp>
      <p:sp>
        <p:nvSpPr>
          <p:cNvPr id="4" name="">
            <a:extLst xmlns:a="http://schemas.openxmlformats.org/drawingml/2006/main">
              <a:ext uri="{FF2B5EF4-FFF2-40B4-BE49-F238E27FC236}">
                <a16:creationId xmlns:a16="http://schemas.microsoft.com/office/drawing/2014/main" id="{109F1E1B-6C3B-4206-87FA-05D79CA17E0A}"/>
              </a:ext>
            </a:extLst>
          </p:cNvPr>
          <p:cNvSpPr>
            <a:spLocks xmlns:a="http://schemas.openxmlformats.org/drawingml/2006/main" noGrp="1"/>
          </p:cNvSpPr>
          <p:nvPr/>
        </p:nvSpPr>
        <p:spPr>
          <a:xfrm xmlns:a="http://schemas.openxmlformats.org/drawingml/2006/main">
            <a:off x="609600" y="2133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235195F9-BF6C-4536-80E1-6334603D1004}"/>
              </a:ext>
            </a:extLst>
          </p:cNvPr>
          <p:cNvSpPr>
            <a:spLocks xmlns:a="http://schemas.openxmlformats.org/drawingml/2006/main" noGrp="1"/>
          </p:cNvSpPr>
          <p:nvPr/>
        </p:nvSpPr>
        <p:spPr>
          <a:xfrm xmlns:a="http://schemas.openxmlformats.org/drawingml/2006/main">
            <a:off x="1352550" y="21336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Reconstruct the actual state</a:t>
            </a:r>
          </a:p>
        </p:txBody>
      </p:sp>
      <p:sp>
        <p:nvSpPr>
          <p:cNvPr id="6" name="">
            <a:extLst xmlns:a="http://schemas.openxmlformats.org/drawingml/2006/main">
              <a:ext uri="{FF2B5EF4-FFF2-40B4-BE49-F238E27FC236}">
                <a16:creationId xmlns:a16="http://schemas.microsoft.com/office/drawing/2014/main" id="{61629714-6444-4777-8915-C8749AE4BAF8}"/>
              </a:ext>
            </a:extLst>
          </p:cNvPr>
          <p:cNvSpPr>
            <a:spLocks xmlns:a="http://schemas.openxmlformats.org/drawingml/2006/main" noGrp="1"/>
          </p:cNvSpPr>
          <p:nvPr/>
        </p:nvSpPr>
        <p:spPr>
          <a:xfrm xmlns:a="http://schemas.openxmlformats.org/drawingml/2006/main">
            <a:off x="1352550" y="26003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Create a fresh environment and replay recorded state-changing calls.</a:t>
            </a:r>
          </a:p>
        </p:txBody>
      </p:sp>
      <p:sp>
        <p:nvSpPr>
          <p:cNvPr id="7" name="">
            <a:extLst xmlns:a="http://schemas.openxmlformats.org/drawingml/2006/main">
              <a:ext uri="{FF2B5EF4-FFF2-40B4-BE49-F238E27FC236}">
                <a16:creationId xmlns:a16="http://schemas.microsoft.com/office/drawing/2014/main" id="{3393D7EA-F014-4C2F-BCA1-8B6F9812AECA}"/>
              </a:ext>
            </a:extLst>
          </p:cNvPr>
          <p:cNvSpPr>
            <a:spLocks xmlns:a="http://schemas.openxmlformats.org/drawingml/2006/main" noGrp="1"/>
          </p:cNvSpPr>
          <p:nvPr/>
        </p:nvSpPr>
        <p:spPr>
          <a:xfrm xmlns:a="http://schemas.openxmlformats.org/drawingml/2006/main">
            <a:off x="609600" y="3371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083C9B58-9E14-45F9-A1EF-1103F7F6232C}"/>
              </a:ext>
            </a:extLst>
          </p:cNvPr>
          <p:cNvSpPr>
            <a:spLocks xmlns:a="http://schemas.openxmlformats.org/drawingml/2006/main" noGrp="1"/>
          </p:cNvSpPr>
          <p:nvPr/>
        </p:nvSpPr>
        <p:spPr>
          <a:xfrm xmlns:a="http://schemas.openxmlformats.org/drawingml/2006/main">
            <a:off x="1352550" y="337185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Construct the reference state</a:t>
            </a:r>
          </a:p>
        </p:txBody>
      </p:sp>
      <p:sp>
        <p:nvSpPr>
          <p:cNvPr id="9" name="">
            <a:extLst xmlns:a="http://schemas.openxmlformats.org/drawingml/2006/main">
              <a:ext uri="{FF2B5EF4-FFF2-40B4-BE49-F238E27FC236}">
                <a16:creationId xmlns:a16="http://schemas.microsoft.com/office/drawing/2014/main" id="{C58725C4-67F9-4AB2-8602-8F2BAB780141}"/>
              </a:ext>
            </a:extLst>
          </p:cNvPr>
          <p:cNvSpPr>
            <a:spLocks xmlns:a="http://schemas.openxmlformats.org/drawingml/2006/main" noGrp="1"/>
          </p:cNvSpPr>
          <p:nvPr/>
        </p:nvSpPr>
        <p:spPr>
          <a:xfrm xmlns:a="http://schemas.openxmlformats.org/drawingml/2006/main">
            <a:off x="1352550" y="38385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Create another fresh environment and execute the reference actions.</a:t>
            </a:r>
          </a:p>
        </p:txBody>
      </p:sp>
      <p:sp>
        <p:nvSpPr>
          <p:cNvPr id="10" name="">
            <a:extLst xmlns:a="http://schemas.openxmlformats.org/drawingml/2006/main">
              <a:ext uri="{FF2B5EF4-FFF2-40B4-BE49-F238E27FC236}">
                <a16:creationId xmlns:a16="http://schemas.microsoft.com/office/drawing/2014/main" id="{4CC5DCD8-B0B3-45E2-A947-69496C4D8F24}"/>
              </a:ext>
            </a:extLst>
          </p:cNvPr>
          <p:cNvSpPr>
            <a:spLocks xmlns:a="http://schemas.openxmlformats.org/drawingml/2006/main" noGrp="1"/>
          </p:cNvSpPr>
          <p:nvPr/>
        </p:nvSpPr>
        <p:spPr>
          <a:xfrm xmlns:a="http://schemas.openxmlformats.org/drawingml/2006/main">
            <a:off x="609600" y="46101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63A423EE-EF07-4FAC-B213-EB1AB4552312}"/>
              </a:ext>
            </a:extLst>
          </p:cNvPr>
          <p:cNvSpPr>
            <a:spLocks xmlns:a="http://schemas.openxmlformats.org/drawingml/2006/main" noGrp="1"/>
          </p:cNvSpPr>
          <p:nvPr/>
        </p:nvSpPr>
        <p:spPr>
          <a:xfrm xmlns:a="http://schemas.openxmlformats.org/drawingml/2006/main">
            <a:off x="1352550" y="46101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Compare database hashes</a:t>
            </a:r>
          </a:p>
        </p:txBody>
      </p:sp>
      <p:sp>
        <p:nvSpPr>
          <p:cNvPr id="12" name="">
            <a:extLst xmlns:a="http://schemas.openxmlformats.org/drawingml/2006/main">
              <a:ext uri="{FF2B5EF4-FFF2-40B4-BE49-F238E27FC236}">
                <a16:creationId xmlns:a16="http://schemas.microsoft.com/office/drawing/2014/main" id="{EB374199-EFC4-422B-B0CD-540133193720}"/>
              </a:ext>
            </a:extLst>
          </p:cNvPr>
          <p:cNvSpPr>
            <a:spLocks xmlns:a="http://schemas.openxmlformats.org/drawingml/2006/main" noGrp="1"/>
          </p:cNvSpPr>
          <p:nvPr/>
        </p:nvSpPr>
        <p:spPr>
          <a:xfrm xmlns:a="http://schemas.openxmlformats.org/drawingml/2006/main">
            <a:off x="1352550" y="50768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For task 0, empty NL assertions contribute 1. Normal completion leaves DB as the deciding score.</a:t>
            </a:r>
          </a:p>
        </p:txBody>
      </p:sp>
    </p:spTree>
    <p:extLst>
      <p:ext uri="{BB962C8B-B14F-4D97-AF65-F5344CB8AC3E}">
        <p14:creationId xmlns:p14="http://schemas.microsoft.com/office/powerpoint/2010/main" val="1356097800"/>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EC7500-EFC7-44BF-A82E-073268867F39}"/>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11</a:t>
            </a:r>
          </a:p>
        </p:txBody>
      </p:sp>
      <p:sp>
        <p:nvSpPr>
          <p:cNvPr id="2" name="">
            <a:extLst xmlns:a="http://schemas.openxmlformats.org/drawingml/2006/main">
              <a:ext uri="{FF2B5EF4-FFF2-40B4-BE49-F238E27FC236}">
                <a16:creationId xmlns:a16="http://schemas.microsoft.com/office/drawing/2014/main" id="{691CB644-50AB-4519-A777-5F1CED4530A4}"/>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correct final state can hide a process violation</a:t>
            </a:r>
          </a:p>
        </p:txBody>
      </p:sp>
      <p:sp>
        <p:nvSpPr>
          <p:cNvPr id="3" name="">
            <a:extLst xmlns:a="http://schemas.openxmlformats.org/drawingml/2006/main">
              <a:ext uri="{FF2B5EF4-FFF2-40B4-BE49-F238E27FC236}">
                <a16:creationId xmlns:a16="http://schemas.microsoft.com/office/drawing/2014/main" id="{36B37FD2-876C-483D-BFF9-C023893F9943}"/>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Task 0 does not encode an explicit confirmation check in its active criteria</a:t>
            </a:r>
          </a:p>
        </p:txBody>
      </p:sp>
      <p:graphicFrame>
        <p:nvGraphicFramePr>
          <p:cNvPr id="4" name="">
            <a:extLst xmlns:a="http://schemas.openxmlformats.org/drawingml/2006/main">
              <a:ext uri="{FF2B5EF4-FFF2-40B4-BE49-F238E27FC236}">
                <a16:creationId xmlns:a16="http://schemas.microsoft.com/office/drawing/2014/main" id="{84432082-20DD-40D6-A5CD-FADA8F2B69E7}"/>
              </a:ext>
            </a:extLst>
          </p:cNvPr>
          <p:cNvGraphicFramePr/>
          <p:nvPr/>
        </p:nvGraphicFramePr>
        <p:xfrm>
          <a:off xmlns:a="http://schemas.openxmlformats.org/drawingml/2006/main" x="609600" y="2162175"/>
          <a:ext xmlns:a="http://schemas.openxmlformats.org/drawingml/2006/main" cx="10972800" cy="3333750"/>
        </p:xfrm>
        <a:graphic xmlns:a="http://schemas.openxmlformats.org/drawingml/2006/main">
          <a:graphicData uri="http://schemas.openxmlformats.org/drawingml/2006/table">
            <a:tbl>
              <a:tblPr/>
              <a:tblGrid>
                <a:gridCol w="6096000"/>
                <a:gridCol w="2438400"/>
                <a:gridCol w="2438400"/>
              </a:tblGrid>
              <a:tr h="666750">
                <a:tc>
                  <a:txBody>
                    <a:bodyPr lIns="133350" tIns="133350" rIns="133350" bIns="133350"/>
                    <a:lstStyle/>
                    <a:p>
                      <a:r>
                        <a:rPr sz="2025" b="1">
                          <a:solidFill>
                            <a:srgbClr val="FFFFFF"/>
                          </a:solidFill>
                          <a:latin typeface="Helvetica Neue"/>
                          <a:ea typeface="Helvetica Neue"/>
                          <a:cs typeface="Helvetica Neue"/>
                        </a:rPr>
                        <a:t>Evidence</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Agent A</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Agent B</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2025" b="0">
                          <a:solidFill>
                            <a:srgbClr val="102B36"/>
                          </a:solidFill>
                          <a:latin typeface="Helvetica Neue"/>
                          <a:ea typeface="Helvetica Neue"/>
                          <a:cs typeface="Helvetica Neue"/>
                        </a:rPr>
                        <a:t>Correct exchange request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2025" b="0">
                          <a:solidFill>
                            <a:srgbClr val="102B36"/>
                          </a:solidFill>
                          <a:latin typeface="Helvetica Neue"/>
                          <a:ea typeface="Helvetica Neue"/>
                          <a:cs typeface="Helvetica Neue"/>
                        </a:rPr>
                        <a:t>Explicit customer confirmation</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Skipped</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2025" b="0">
                          <a:solidFill>
                            <a:srgbClr val="102B36"/>
                          </a:solidFill>
                          <a:latin typeface="Helvetica Neue"/>
                          <a:ea typeface="Helvetica Neue"/>
                          <a:cs typeface="Helvetica Neue"/>
                        </a:rPr>
                        <a:t>Final database matches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2025" b="0">
                          <a:solidFill>
                            <a:srgbClr val="102B36"/>
                          </a:solidFill>
                          <a:latin typeface="Helvetica Neue"/>
                          <a:ea typeface="Helvetica Neue"/>
                          <a:cs typeface="Helvetica Neue"/>
                        </a:rPr>
                        <a:t>Task 0 reward, if normally completed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49E2ED32-6944-4958-A7F5-E14B1580C4AB}"/>
              </a:ext>
            </a:extLst>
          </p:cNvPr>
          <p:cNvSpPr>
            <a:spLocks xmlns:a="http://schemas.openxmlformats.org/drawingml/2006/main" noGrp="1"/>
          </p:cNvSpPr>
          <p:nvPr/>
        </p:nvSpPr>
        <p:spPr>
          <a:xfrm xmlns:a="http://schemas.openxmlformats.org/drawingml/2006/main">
            <a:off x="628650" y="57912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B78"/>
                </a:solidFill>
                <a:latin typeface="Helvetica Neue"/>
                <a:ea typeface="Helvetica Neue"/>
                <a:cs typeface="Helvetica Neue"/>
              </a:defRPr>
            </a:defPPr>
            <a:lvl1pPr>
              <a:defRPr sz="2025" b="1">
                <a:solidFill>
                  <a:srgbClr val="007B78"/>
                </a:solidFill>
                <a:latin typeface="Helvetica Neue"/>
                <a:ea typeface="Helvetica Neue"/>
                <a:cs typeface="Helvetica Neue"/>
              </a:defRPr>
            </a:lvl1pPr>
            <a:lvl2pPr>
              <a:defRPr sz="2025" b="1">
                <a:solidFill>
                  <a:srgbClr val="007B78"/>
                </a:solidFill>
                <a:latin typeface="Helvetica Neue"/>
                <a:ea typeface="Helvetica Neue"/>
                <a:cs typeface="Helvetica Neue"/>
              </a:defRPr>
            </a:lvl2pPr>
            <a:lvl3pPr>
              <a:defRPr sz="2025" b="1">
                <a:solidFill>
                  <a:srgbClr val="007B78"/>
                </a:solidFill>
                <a:latin typeface="Helvetica Neue"/>
                <a:ea typeface="Helvetica Neue"/>
                <a:cs typeface="Helvetica Neue"/>
              </a:defRPr>
            </a:lvl3pPr>
            <a:lvl4pPr>
              <a:defRPr sz="2025" b="1">
                <a:solidFill>
                  <a:srgbClr val="007B78"/>
                </a:solidFill>
                <a:latin typeface="Helvetica Neue"/>
                <a:ea typeface="Helvetica Neue"/>
                <a:cs typeface="Helvetica Neue"/>
              </a:defRPr>
            </a:lvl4pPr>
            <a:lvl5pPr>
              <a:defRPr sz="2025" b="1">
                <a:solidFill>
                  <a:srgbClr val="007B78"/>
                </a:solidFill>
                <a:latin typeface="Helvetica Neue"/>
                <a:ea typeface="Helvetica Neue"/>
                <a:cs typeface="Helvetica Neue"/>
              </a:defRPr>
            </a:lvl5pPr>
            <a:lvl6pPr>
              <a:defRPr sz="2025" b="1">
                <a:solidFill>
                  <a:srgbClr val="007B78"/>
                </a:solidFill>
                <a:latin typeface="Helvetica Neue"/>
                <a:ea typeface="Helvetica Neue"/>
                <a:cs typeface="Helvetica Neue"/>
              </a:defRPr>
            </a:lvl6pPr>
            <a:lvl7pPr>
              <a:defRPr sz="2025" b="1">
                <a:solidFill>
                  <a:srgbClr val="007B78"/>
                </a:solidFill>
                <a:latin typeface="Helvetica Neue"/>
                <a:ea typeface="Helvetica Neue"/>
                <a:cs typeface="Helvetica Neue"/>
              </a:defRPr>
            </a:lvl7pPr>
            <a:lvl8pPr>
              <a:defRPr sz="2025" b="1">
                <a:solidFill>
                  <a:srgbClr val="007B78"/>
                </a:solidFill>
                <a:latin typeface="Helvetica Neue"/>
                <a:ea typeface="Helvetica Neue"/>
                <a:cs typeface="Helvetica Neue"/>
              </a:defRPr>
            </a:lvl8pPr>
            <a:lvl9pPr>
              <a:defRPr sz="2025" b="1">
                <a:solidFill>
                  <a:srgbClr val="007B78"/>
                </a:solidFill>
                <a:latin typeface="Helvetica Neue"/>
                <a:ea typeface="Helvetica Neue"/>
                <a:cs typeface="Helvetica Neue"/>
              </a:defRPr>
            </a:lvl9pPr>
          </a:lstStyle>
          <a:p xmlns:a="http://schemas.openxmlformats.org/drawingml/2006/main">
            <a:pPr>
              <a:defRPr sz="2025" b="1">
                <a:solidFill>
                  <a:srgbClr val="007B78"/>
                </a:solidFill>
                <a:latin typeface="Helvetica Neue"/>
                <a:ea typeface="Helvetica Neue"/>
                <a:cs typeface="Helvetica Neue"/>
              </a:defRPr>
            </a:pPr>
            <a:r>
              <a:rPr sz="2025" b="1">
                <a:solidFill>
                  <a:srgbClr val="007B78"/>
                </a:solidFill>
                <a:latin typeface="Helvetica Neue"/>
                <a:ea typeface="Helvetica Neue"/>
                <a:cs typeface="Helvetica Neue"/>
              </a:rPr>
              <a:t>Proposed addition: verify a trusted confirmation event before the write.</a:t>
            </a:r>
          </a:p>
        </p:txBody>
      </p:sp>
    </p:spTree>
    <p:extLst>
      <p:ext uri="{BB962C8B-B14F-4D97-AF65-F5344CB8AC3E}">
        <p14:creationId xmlns:p14="http://schemas.microsoft.com/office/powerpoint/2010/main" val="569321009"/>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99E152-30D4-4BB7-B500-024CD9715AFF}"/>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12</a:t>
            </a:r>
          </a:p>
        </p:txBody>
      </p:sp>
      <p:sp>
        <p:nvSpPr>
          <p:cNvPr id="2" name="">
            <a:extLst xmlns:a="http://schemas.openxmlformats.org/drawingml/2006/main">
              <a:ext uri="{FF2B5EF4-FFF2-40B4-BE49-F238E27FC236}">
                <a16:creationId xmlns:a16="http://schemas.microsoft.com/office/drawing/2014/main" id="{E0399862-3F20-4438-B3A6-24BD8FEBF023}"/>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Proposed commerce evaluation system</a:t>
            </a:r>
          </a:p>
        </p:txBody>
      </p:sp>
      <p:sp>
        <p:nvSpPr>
          <p:cNvPr id="3" name="">
            <a:extLst xmlns:a="http://schemas.openxmlformats.org/drawingml/2006/main">
              <a:ext uri="{FF2B5EF4-FFF2-40B4-BE49-F238E27FC236}">
                <a16:creationId xmlns:a16="http://schemas.microsoft.com/office/drawing/2014/main" id="{B723AE9D-FB4B-41EC-B976-4344C887D800}"/>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Reuse tau2 concepts and add domain-specific evidence checks</a:t>
            </a:r>
          </a:p>
        </p:txBody>
      </p:sp>
      <p:graphicFrame>
        <p:nvGraphicFramePr>
          <p:cNvPr id="4" name="">
            <a:extLst xmlns:a="http://schemas.openxmlformats.org/drawingml/2006/main">
              <a:ext uri="{FF2B5EF4-FFF2-40B4-BE49-F238E27FC236}">
                <a16:creationId xmlns:a16="http://schemas.microsoft.com/office/drawing/2014/main" id="{52E023CF-5810-4F85-92BD-FCEBCB907A14}"/>
              </a:ext>
            </a:extLst>
          </p:cNvPr>
          <p:cNvGraphicFramePr/>
          <p:nvPr/>
        </p:nvGraphicFramePr>
        <p:xfrm>
          <a:off xmlns:a="http://schemas.openxmlformats.org/drawingml/2006/main" x="609600" y="2124075"/>
          <a:ext xmlns:a="http://schemas.openxmlformats.org/drawingml/2006/main" cx="10972800" cy="3333750"/>
        </p:xfrm>
        <a:graphic xmlns:a="http://schemas.openxmlformats.org/drawingml/2006/main">
          <a:graphicData uri="http://schemas.openxmlformats.org/drawingml/2006/table">
            <a:tbl>
              <a:tblPr/>
              <a:tblGrid>
                <a:gridCol w="3810000"/>
                <a:gridCol w="7162800"/>
              </a:tblGrid>
              <a:tr h="666750">
                <a:tc>
                  <a:txBody>
                    <a:bodyPr lIns="133350" tIns="133350" rIns="133350" bIns="133350"/>
                    <a:lstStyle/>
                    <a:p>
                      <a:r>
                        <a:rPr sz="1950" b="1">
                          <a:solidFill>
                            <a:srgbClr val="FFFFFF"/>
                          </a:solidFill>
                          <a:latin typeface="Helvetica Neue"/>
                          <a:ea typeface="Helvetica Neue"/>
                          <a:cs typeface="Helvetica Neue"/>
                        </a:rPr>
                        <a:t>Layer</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Planned responsibility</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950" b="0">
                          <a:solidFill>
                            <a:srgbClr val="102B36"/>
                          </a:solidFill>
                          <a:latin typeface="Helvetica Neue"/>
                          <a:ea typeface="Helvetica Neue"/>
                          <a:cs typeface="Helvetica Neue"/>
                        </a:rPr>
                        <a:t>Agent adapter</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Normalize decisions from scripts, LLMs or LangGraph</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Tool gateway + optional guard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Control writes and record attempted, blocked and executed actions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950" b="0">
                          <a:solidFill>
                            <a:srgbClr val="102B36"/>
                          </a:solidFill>
                          <a:latin typeface="Helvetica Neue"/>
                          <a:ea typeface="Helvetica Neue"/>
                          <a:cs typeface="Helvetica Neue"/>
                        </a:rPr>
                        <a:t>Commerce environment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Model return windows, coupon rules and idempotent operations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Independent verifier</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Check task completion, event order and rule violations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09C8395A-1337-425F-95E5-91A5FEDA4EE8}"/>
              </a:ext>
            </a:extLst>
          </p:cNvPr>
          <p:cNvSpPr>
            <a:spLocks xmlns:a="http://schemas.openxmlformats.org/drawingml/2006/main" noGrp="1"/>
          </p:cNvSpPr>
          <p:nvPr/>
        </p:nvSpPr>
        <p:spPr>
          <a:xfrm xmlns:a="http://schemas.openxmlformats.org/drawingml/2006/main">
            <a:off x="628650" y="57912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B78"/>
                </a:solidFill>
                <a:latin typeface="Helvetica Neue"/>
                <a:ea typeface="Helvetica Neue"/>
                <a:cs typeface="Helvetica Neue"/>
              </a:defRPr>
            </a:defPPr>
            <a:lvl1pPr>
              <a:defRPr sz="2025" b="1">
                <a:solidFill>
                  <a:srgbClr val="007B78"/>
                </a:solidFill>
                <a:latin typeface="Helvetica Neue"/>
                <a:ea typeface="Helvetica Neue"/>
                <a:cs typeface="Helvetica Neue"/>
              </a:defRPr>
            </a:lvl1pPr>
            <a:lvl2pPr>
              <a:defRPr sz="2025" b="1">
                <a:solidFill>
                  <a:srgbClr val="007B78"/>
                </a:solidFill>
                <a:latin typeface="Helvetica Neue"/>
                <a:ea typeface="Helvetica Neue"/>
                <a:cs typeface="Helvetica Neue"/>
              </a:defRPr>
            </a:lvl2pPr>
            <a:lvl3pPr>
              <a:defRPr sz="2025" b="1">
                <a:solidFill>
                  <a:srgbClr val="007B78"/>
                </a:solidFill>
                <a:latin typeface="Helvetica Neue"/>
                <a:ea typeface="Helvetica Neue"/>
                <a:cs typeface="Helvetica Neue"/>
              </a:defRPr>
            </a:lvl3pPr>
            <a:lvl4pPr>
              <a:defRPr sz="2025" b="1">
                <a:solidFill>
                  <a:srgbClr val="007B78"/>
                </a:solidFill>
                <a:latin typeface="Helvetica Neue"/>
                <a:ea typeface="Helvetica Neue"/>
                <a:cs typeface="Helvetica Neue"/>
              </a:defRPr>
            </a:lvl4pPr>
            <a:lvl5pPr>
              <a:defRPr sz="2025" b="1">
                <a:solidFill>
                  <a:srgbClr val="007B78"/>
                </a:solidFill>
                <a:latin typeface="Helvetica Neue"/>
                <a:ea typeface="Helvetica Neue"/>
                <a:cs typeface="Helvetica Neue"/>
              </a:defRPr>
            </a:lvl5pPr>
            <a:lvl6pPr>
              <a:defRPr sz="2025" b="1">
                <a:solidFill>
                  <a:srgbClr val="007B78"/>
                </a:solidFill>
                <a:latin typeface="Helvetica Neue"/>
                <a:ea typeface="Helvetica Neue"/>
                <a:cs typeface="Helvetica Neue"/>
              </a:defRPr>
            </a:lvl6pPr>
            <a:lvl7pPr>
              <a:defRPr sz="2025" b="1">
                <a:solidFill>
                  <a:srgbClr val="007B78"/>
                </a:solidFill>
                <a:latin typeface="Helvetica Neue"/>
                <a:ea typeface="Helvetica Neue"/>
                <a:cs typeface="Helvetica Neue"/>
              </a:defRPr>
            </a:lvl7pPr>
            <a:lvl8pPr>
              <a:defRPr sz="2025" b="1">
                <a:solidFill>
                  <a:srgbClr val="007B78"/>
                </a:solidFill>
                <a:latin typeface="Helvetica Neue"/>
                <a:ea typeface="Helvetica Neue"/>
                <a:cs typeface="Helvetica Neue"/>
              </a:defRPr>
            </a:lvl8pPr>
            <a:lvl9pPr>
              <a:defRPr sz="2025" b="1">
                <a:solidFill>
                  <a:srgbClr val="007B78"/>
                </a:solidFill>
                <a:latin typeface="Helvetica Neue"/>
                <a:ea typeface="Helvetica Neue"/>
                <a:cs typeface="Helvetica Neue"/>
              </a:defRPr>
            </a:lvl9pPr>
          </a:lstStyle>
          <a:p xmlns:a="http://schemas.openxmlformats.org/drawingml/2006/main">
            <a:pPr>
              <a:defRPr sz="2025" b="1">
                <a:solidFill>
                  <a:srgbClr val="007B78"/>
                </a:solidFill>
                <a:latin typeface="Helvetica Neue"/>
                <a:ea typeface="Helvetica Neue"/>
                <a:cs typeface="Helvetica Neue"/>
              </a:defRPr>
            </a:pPr>
            <a:r>
              <a:rPr sz="2025" b="1">
                <a:solidFill>
                  <a:srgbClr val="007B78"/>
                </a:solidFill>
                <a:latin typeface="Helvetica Neue"/>
                <a:ea typeface="Helvetica Neue"/>
                <a:cs typeface="Helvetica Neue"/>
              </a:rPr>
              <a:t>Report agent violations separately from violations the guard prevents.</a:t>
            </a:r>
          </a:p>
        </p:txBody>
      </p:sp>
    </p:spTree>
    <p:extLst>
      <p:ext uri="{BB962C8B-B14F-4D97-AF65-F5344CB8AC3E}">
        <p14:creationId xmlns:p14="http://schemas.microsoft.com/office/powerpoint/2010/main" val="1677814057"/>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B1167A-7E6A-4A67-9041-9EC590B8C1F0}"/>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13</a:t>
            </a:r>
          </a:p>
        </p:txBody>
      </p:sp>
      <p:sp>
        <p:nvSpPr>
          <p:cNvPr id="2" name="">
            <a:extLst xmlns:a="http://schemas.openxmlformats.org/drawingml/2006/main">
              <a:ext uri="{FF2B5EF4-FFF2-40B4-BE49-F238E27FC236}">
                <a16:creationId xmlns:a16="http://schemas.microsoft.com/office/drawing/2014/main" id="{64580ABF-49D3-49B6-9867-697868DA9FC9}"/>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Agent comparison and evaluation plan</a:t>
            </a:r>
          </a:p>
        </p:txBody>
      </p:sp>
      <p:sp>
        <p:nvSpPr>
          <p:cNvPr id="3" name="">
            <a:extLst xmlns:a="http://schemas.openxmlformats.org/drawingml/2006/main">
              <a:ext uri="{FF2B5EF4-FFF2-40B4-BE49-F238E27FC236}">
                <a16:creationId xmlns:a16="http://schemas.microsoft.com/office/drawing/2014/main" id="{3D29A0BE-1973-4F03-8937-36C8643217A0}"/>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Planned conditions share tasks, tools and scoring rules</a:t>
            </a:r>
          </a:p>
        </p:txBody>
      </p:sp>
      <p:graphicFrame>
        <p:nvGraphicFramePr>
          <p:cNvPr id="4" name="">
            <a:extLst xmlns:a="http://schemas.openxmlformats.org/drawingml/2006/main">
              <a:ext uri="{FF2B5EF4-FFF2-40B4-BE49-F238E27FC236}">
                <a16:creationId xmlns:a16="http://schemas.microsoft.com/office/drawing/2014/main" id="{98742CFA-8395-4887-BFC6-63DFCAC100D7}"/>
              </a:ext>
            </a:extLst>
          </p:cNvPr>
          <p:cNvGraphicFramePr/>
          <p:nvPr/>
        </p:nvGraphicFramePr>
        <p:xfrm>
          <a:off xmlns:a="http://schemas.openxmlformats.org/drawingml/2006/main" x="609600" y="2124075"/>
          <a:ext xmlns:a="http://schemas.openxmlformats.org/drawingml/2006/main" cx="10972800" cy="2857500"/>
        </p:xfrm>
        <a:graphic xmlns:a="http://schemas.openxmlformats.org/drawingml/2006/main">
          <a:graphicData uri="http://schemas.openxmlformats.org/drawingml/2006/table">
            <a:tbl>
              <a:tblPr/>
              <a:tblGrid>
                <a:gridCol w="6000750"/>
                <a:gridCol w="4972050"/>
              </a:tblGrid>
              <a:tr h="571500">
                <a:tc>
                  <a:txBody>
                    <a:bodyPr lIns="133350" tIns="133350" rIns="133350" bIns="133350"/>
                    <a:lstStyle/>
                    <a:p>
                      <a:r>
                        <a:rPr sz="1950" b="1">
                          <a:solidFill>
                            <a:srgbClr val="FFFFFF"/>
                          </a:solidFill>
                          <a:latin typeface="Helvetica Neue"/>
                          <a:ea typeface="Helvetica Neue"/>
                          <a:cs typeface="Helvetica Neue"/>
                        </a:rPr>
                        <a:t>Condition</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What changes</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571500">
                <a:tc>
                  <a:txBody>
                    <a:bodyPr lIns="133350" tIns="133350" rIns="133350" bIns="133350"/>
                    <a:lstStyle/>
                    <a:p>
                      <a:r>
                        <a:rPr sz="1950" b="0">
                          <a:solidFill>
                            <a:srgbClr val="102B36"/>
                          </a:solidFill>
                          <a:latin typeface="Helvetica Neue"/>
                          <a:ea typeface="Helvetica Neue"/>
                          <a:cs typeface="Helvetica Neue"/>
                        </a:rPr>
                        <a:t>Small model + handwritten prompt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Baseline behavior</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571500">
                <a:tc>
                  <a:txBody>
                    <a:bodyPr lIns="133350" tIns="133350" rIns="133350" bIns="133350"/>
                    <a:lstStyle/>
                    <a:p>
                      <a:r>
                        <a:rPr sz="1950" b="0">
                          <a:solidFill>
                            <a:srgbClr val="102B36"/>
                          </a:solidFill>
                          <a:latin typeface="Helvetica Neue"/>
                          <a:ea typeface="Helvetica Neue"/>
                          <a:cs typeface="Helvetica Neue"/>
                        </a:rPr>
                        <a:t>Small model + GEPA / MIPROv2</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Two prompt-optimization conditions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571500">
                <a:tc>
                  <a:txBody>
                    <a:bodyPr lIns="133350" tIns="133350" rIns="133350" bIns="133350"/>
                    <a:lstStyle/>
                    <a:p>
                      <a:r>
                        <a:rPr sz="1950" b="0">
                          <a:solidFill>
                            <a:srgbClr val="102B36"/>
                          </a:solidFill>
                          <a:latin typeface="Helvetica Neue"/>
                          <a:ea typeface="Helvetica Neue"/>
                          <a:cs typeface="Helvetica Neue"/>
                        </a:rPr>
                        <a:t>Small model + GRPO</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Decision policy learned from verifiable rewards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571500">
                <a:tc>
                  <a:txBody>
                    <a:bodyPr lIns="133350" tIns="133350" rIns="133350" bIns="133350"/>
                    <a:lstStyle/>
                    <a:p>
                      <a:r>
                        <a:rPr sz="1950" b="0">
                          <a:solidFill>
                            <a:srgbClr val="102B36"/>
                          </a:solidFill>
                          <a:latin typeface="Helvetica Neue"/>
                          <a:ea typeface="Helvetica Neue"/>
                          <a:cs typeface="Helvetica Neue"/>
                        </a:rPr>
                        <a:t>Frontier model</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Reference condition using a stronger model</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8A1BDB38-820A-4A62-A16D-F902036EBB7A}"/>
              </a:ext>
            </a:extLst>
          </p:cNvPr>
          <p:cNvSpPr>
            <a:spLocks xmlns:a="http://schemas.openxmlformats.org/drawingml/2006/main" noGrp="1"/>
          </p:cNvSpPr>
          <p:nvPr/>
        </p:nvSpPr>
        <p:spPr>
          <a:xfrm xmlns:a="http://schemas.openxmlformats.org/drawingml/2006/main">
            <a:off x="628650" y="5305425"/>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07B78"/>
                </a:solidFill>
                <a:latin typeface="Helvetica Neue"/>
                <a:ea typeface="Helvetica Neue"/>
                <a:cs typeface="Helvetica Neue"/>
              </a:defRPr>
            </a:defPPr>
            <a:lvl1pPr>
              <a:defRPr sz="2250" b="1">
                <a:solidFill>
                  <a:srgbClr val="007B78"/>
                </a:solidFill>
                <a:latin typeface="Helvetica Neue"/>
                <a:ea typeface="Helvetica Neue"/>
                <a:cs typeface="Helvetica Neue"/>
              </a:defRPr>
            </a:lvl1pPr>
            <a:lvl2pPr>
              <a:defRPr sz="2250" b="1">
                <a:solidFill>
                  <a:srgbClr val="007B78"/>
                </a:solidFill>
                <a:latin typeface="Helvetica Neue"/>
                <a:ea typeface="Helvetica Neue"/>
                <a:cs typeface="Helvetica Neue"/>
              </a:defRPr>
            </a:lvl2pPr>
            <a:lvl3pPr>
              <a:defRPr sz="2250" b="1">
                <a:solidFill>
                  <a:srgbClr val="007B78"/>
                </a:solidFill>
                <a:latin typeface="Helvetica Neue"/>
                <a:ea typeface="Helvetica Neue"/>
                <a:cs typeface="Helvetica Neue"/>
              </a:defRPr>
            </a:lvl3pPr>
            <a:lvl4pPr>
              <a:defRPr sz="2250" b="1">
                <a:solidFill>
                  <a:srgbClr val="007B78"/>
                </a:solidFill>
                <a:latin typeface="Helvetica Neue"/>
                <a:ea typeface="Helvetica Neue"/>
                <a:cs typeface="Helvetica Neue"/>
              </a:defRPr>
            </a:lvl4pPr>
            <a:lvl5pPr>
              <a:defRPr sz="2250" b="1">
                <a:solidFill>
                  <a:srgbClr val="007B78"/>
                </a:solidFill>
                <a:latin typeface="Helvetica Neue"/>
                <a:ea typeface="Helvetica Neue"/>
                <a:cs typeface="Helvetica Neue"/>
              </a:defRPr>
            </a:lvl5pPr>
            <a:lvl6pPr>
              <a:defRPr sz="2250" b="1">
                <a:solidFill>
                  <a:srgbClr val="007B78"/>
                </a:solidFill>
                <a:latin typeface="Helvetica Neue"/>
                <a:ea typeface="Helvetica Neue"/>
                <a:cs typeface="Helvetica Neue"/>
              </a:defRPr>
            </a:lvl6pPr>
            <a:lvl7pPr>
              <a:defRPr sz="2250" b="1">
                <a:solidFill>
                  <a:srgbClr val="007B78"/>
                </a:solidFill>
                <a:latin typeface="Helvetica Neue"/>
                <a:ea typeface="Helvetica Neue"/>
                <a:cs typeface="Helvetica Neue"/>
              </a:defRPr>
            </a:lvl7pPr>
            <a:lvl8pPr>
              <a:defRPr sz="2250" b="1">
                <a:solidFill>
                  <a:srgbClr val="007B78"/>
                </a:solidFill>
                <a:latin typeface="Helvetica Neue"/>
                <a:ea typeface="Helvetica Neue"/>
                <a:cs typeface="Helvetica Neue"/>
              </a:defRPr>
            </a:lvl8pPr>
            <a:lvl9pPr>
              <a:defRPr sz="2250" b="1">
                <a:solidFill>
                  <a:srgbClr val="007B78"/>
                </a:solidFill>
                <a:latin typeface="Helvetica Neue"/>
                <a:ea typeface="Helvetica Neue"/>
                <a:cs typeface="Helvetica Neue"/>
              </a:defRPr>
            </a:lvl9pPr>
          </a:lstStyle>
          <a:p xmlns:a="http://schemas.openxmlformats.org/drawingml/2006/main">
            <a:pPr>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150 held-out decision points</a:t>
            </a:r>
          </a:p>
          <a:p xmlns:a="http://schemas.openxmlformats.org/drawingml/2006/main">
            <a:pPr>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30 complete tasks, 4 trials each</a:t>
            </a:r>
          </a:p>
        </p:txBody>
      </p:sp>
      <p:sp>
        <p:nvSpPr>
          <p:cNvPr id="6" name="">
            <a:extLst xmlns:a="http://schemas.openxmlformats.org/drawingml/2006/main">
              <a:ext uri="{FF2B5EF4-FFF2-40B4-BE49-F238E27FC236}">
                <a16:creationId xmlns:a16="http://schemas.microsoft.com/office/drawing/2014/main" id="{C8874412-B176-4159-AC12-D5589A3CB23F}"/>
              </a:ext>
            </a:extLst>
          </p:cNvPr>
          <p:cNvSpPr>
            <a:spLocks xmlns:a="http://schemas.openxmlformats.org/drawingml/2006/main" noGrp="1"/>
          </p:cNvSpPr>
          <p:nvPr/>
        </p:nvSpPr>
        <p:spPr>
          <a:xfrm xmlns:a="http://schemas.openxmlformats.org/drawingml/2006/main">
            <a:off x="6762750" y="5305425"/>
            <a:ext cx="4857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0636A"/>
                </a:solidFill>
                <a:latin typeface="Helvetica Neue"/>
                <a:ea typeface="Helvetica Neue"/>
                <a:cs typeface="Helvetica Neue"/>
              </a:defRPr>
            </a:defPPr>
            <a:lvl1pPr>
              <a:defRPr sz="1950" b="0">
                <a:solidFill>
                  <a:srgbClr val="50636A"/>
                </a:solidFill>
                <a:latin typeface="Helvetica Neue"/>
                <a:ea typeface="Helvetica Neue"/>
                <a:cs typeface="Helvetica Neue"/>
              </a:defRPr>
            </a:lvl1pPr>
            <a:lvl2pPr>
              <a:defRPr sz="1950" b="0">
                <a:solidFill>
                  <a:srgbClr val="50636A"/>
                </a:solidFill>
                <a:latin typeface="Helvetica Neue"/>
                <a:ea typeface="Helvetica Neue"/>
                <a:cs typeface="Helvetica Neue"/>
              </a:defRPr>
            </a:lvl2pPr>
            <a:lvl3pPr>
              <a:defRPr sz="1950" b="0">
                <a:solidFill>
                  <a:srgbClr val="50636A"/>
                </a:solidFill>
                <a:latin typeface="Helvetica Neue"/>
                <a:ea typeface="Helvetica Neue"/>
                <a:cs typeface="Helvetica Neue"/>
              </a:defRPr>
            </a:lvl3pPr>
            <a:lvl4pPr>
              <a:defRPr sz="1950" b="0">
                <a:solidFill>
                  <a:srgbClr val="50636A"/>
                </a:solidFill>
                <a:latin typeface="Helvetica Neue"/>
                <a:ea typeface="Helvetica Neue"/>
                <a:cs typeface="Helvetica Neue"/>
              </a:defRPr>
            </a:lvl4pPr>
            <a:lvl5pPr>
              <a:defRPr sz="1950" b="0">
                <a:solidFill>
                  <a:srgbClr val="50636A"/>
                </a:solidFill>
                <a:latin typeface="Helvetica Neue"/>
                <a:ea typeface="Helvetica Neue"/>
                <a:cs typeface="Helvetica Neue"/>
              </a:defRPr>
            </a:lvl5pPr>
            <a:lvl6pPr>
              <a:defRPr sz="1950" b="0">
                <a:solidFill>
                  <a:srgbClr val="50636A"/>
                </a:solidFill>
                <a:latin typeface="Helvetica Neue"/>
                <a:ea typeface="Helvetica Neue"/>
                <a:cs typeface="Helvetica Neue"/>
              </a:defRPr>
            </a:lvl6pPr>
            <a:lvl7pPr>
              <a:defRPr sz="1950" b="0">
                <a:solidFill>
                  <a:srgbClr val="50636A"/>
                </a:solidFill>
                <a:latin typeface="Helvetica Neue"/>
                <a:ea typeface="Helvetica Neue"/>
                <a:cs typeface="Helvetica Neue"/>
              </a:defRPr>
            </a:lvl7pPr>
            <a:lvl8pPr>
              <a:defRPr sz="1950" b="0">
                <a:solidFill>
                  <a:srgbClr val="50636A"/>
                </a:solidFill>
                <a:latin typeface="Helvetica Neue"/>
                <a:ea typeface="Helvetica Neue"/>
                <a:cs typeface="Helvetica Neue"/>
              </a:defRPr>
            </a:lvl8pPr>
            <a:lvl9pPr>
              <a:defRPr sz="1950" b="0">
                <a:solidFill>
                  <a:srgbClr val="50636A"/>
                </a:solidFill>
                <a:latin typeface="Helvetica Neue"/>
                <a:ea typeface="Helvetica Neue"/>
                <a:cs typeface="Helvetica Neue"/>
              </a:defRPr>
            </a:lvl9pPr>
          </a:lstStyle>
          <a:p xmlns:a="http://schemas.openxmlformats.org/drawingml/2006/main">
            <a:pPr>
              <a:defRPr sz="1950" b="0">
                <a:solidFill>
                  <a:srgbClr val="50636A"/>
                </a:solidFill>
                <a:latin typeface="Helvetica Neue"/>
                <a:ea typeface="Helvetica Neue"/>
                <a:cs typeface="Helvetica Neue"/>
              </a:defRPr>
            </a:pPr>
            <a:r>
              <a:rPr sz="1950" b="0">
                <a:solidFill>
                  <a:srgbClr val="50636A"/>
                </a:solidFill>
                <a:latin typeface="Helvetica Neue"/>
                <a:ea typeface="Helvetica Neue"/>
                <a:cs typeface="Helvetica Neue"/>
              </a:rPr>
              <a:t>Report completion, violations, cost,</a:t>
            </a:r>
          </a:p>
          <a:p xmlns:a="http://schemas.openxmlformats.org/drawingml/2006/main">
            <a:pPr>
              <a:defRPr sz="1950" b="0">
                <a:solidFill>
                  <a:srgbClr val="50636A"/>
                </a:solidFill>
                <a:latin typeface="Helvetica Neue"/>
                <a:ea typeface="Helvetica Neue"/>
                <a:cs typeface="Helvetica Neue"/>
              </a:defRPr>
            </a:pPr>
            <a:r>
              <a:rPr sz="1950" b="0">
                <a:solidFill>
                  <a:srgbClr val="50636A"/>
                </a:solidFill>
                <a:latin typeface="Helvetica Neue"/>
                <a:ea typeface="Helvetica Neue"/>
                <a:cs typeface="Helvetica Neue"/>
              </a:rPr>
              <a:t>latency and pass^1 through pass^4.</a:t>
            </a:r>
          </a:p>
        </p:txBody>
      </p:sp>
    </p:spTree>
    <p:extLst>
      <p:ext uri="{BB962C8B-B14F-4D97-AF65-F5344CB8AC3E}">
        <p14:creationId xmlns:p14="http://schemas.microsoft.com/office/powerpoint/2010/main" val="106363015"/>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766CF8F-D109-4F29-A530-A3FDEFE69685}"/>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14</a:t>
            </a:r>
          </a:p>
        </p:txBody>
      </p:sp>
      <p:sp>
        <p:nvSpPr>
          <p:cNvPr id="2" name="">
            <a:extLst xmlns:a="http://schemas.openxmlformats.org/drawingml/2006/main">
              <a:ext uri="{FF2B5EF4-FFF2-40B4-BE49-F238E27FC236}">
                <a16:creationId xmlns:a16="http://schemas.microsoft.com/office/drawing/2014/main" id="{FCA6464B-12BD-4299-A7F5-46B7753F47BB}"/>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Implementation milestones</a:t>
            </a:r>
          </a:p>
        </p:txBody>
      </p:sp>
      <p:sp>
        <p:nvSpPr>
          <p:cNvPr id="3" name="">
            <a:extLst xmlns:a="http://schemas.openxmlformats.org/drawingml/2006/main">
              <a:ext uri="{FF2B5EF4-FFF2-40B4-BE49-F238E27FC236}">
                <a16:creationId xmlns:a16="http://schemas.microsoft.com/office/drawing/2014/main" id="{316AB09E-C8BD-4DA0-99D1-29D1D99C173B}"/>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first deliverable is a verified task loop</a:t>
            </a:r>
          </a:p>
        </p:txBody>
      </p:sp>
      <p:sp>
        <p:nvSpPr>
          <p:cNvPr id="4" name="">
            <a:extLst xmlns:a="http://schemas.openxmlformats.org/drawingml/2006/main">
              <a:ext uri="{FF2B5EF4-FFF2-40B4-BE49-F238E27FC236}">
                <a16:creationId xmlns:a16="http://schemas.microsoft.com/office/drawing/2014/main" id="{EC4BABD1-D1D5-4F0F-9E39-DC4C8C085EBF}"/>
              </a:ext>
            </a:extLst>
          </p:cNvPr>
          <p:cNvSpPr>
            <a:spLocks xmlns:a="http://schemas.openxmlformats.org/drawingml/2006/main" noGrp="1"/>
          </p:cNvSpPr>
          <p:nvPr/>
        </p:nvSpPr>
        <p:spPr>
          <a:xfrm xmlns:a="http://schemas.openxmlformats.org/drawingml/2006/main">
            <a:off x="609600" y="2133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BC19D935-9C0D-4067-985F-C2EF1157A32E}"/>
              </a:ext>
            </a:extLst>
          </p:cNvPr>
          <p:cNvSpPr>
            <a:spLocks xmlns:a="http://schemas.openxmlformats.org/drawingml/2006/main" noGrp="1"/>
          </p:cNvSpPr>
          <p:nvPr/>
        </p:nvSpPr>
        <p:spPr>
          <a:xfrm xmlns:a="http://schemas.openxmlformats.org/drawingml/2006/main">
            <a:off x="1352550" y="21336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One rule and three hand-checked tasks</a:t>
            </a:r>
          </a:p>
        </p:txBody>
      </p:sp>
      <p:sp>
        <p:nvSpPr>
          <p:cNvPr id="6" name="">
            <a:extLst xmlns:a="http://schemas.openxmlformats.org/drawingml/2006/main">
              <a:ext uri="{FF2B5EF4-FFF2-40B4-BE49-F238E27FC236}">
                <a16:creationId xmlns:a16="http://schemas.microsoft.com/office/drawing/2014/main" id="{261E46C1-4FD1-4A41-992C-DD1C32C475EF}"/>
              </a:ext>
            </a:extLst>
          </p:cNvPr>
          <p:cNvSpPr>
            <a:spLocks xmlns:a="http://schemas.openxmlformats.org/drawingml/2006/main" noGrp="1"/>
          </p:cNvSpPr>
          <p:nvPr/>
        </p:nvSpPr>
        <p:spPr>
          <a:xfrm xmlns:a="http://schemas.openxmlformats.org/drawingml/2006/main">
            <a:off x="1352550" y="26003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Use a fixed date, isolated state and a scripted agent.</a:t>
            </a:r>
          </a:p>
        </p:txBody>
      </p:sp>
      <p:sp>
        <p:nvSpPr>
          <p:cNvPr id="7" name="">
            <a:extLst xmlns:a="http://schemas.openxmlformats.org/drawingml/2006/main">
              <a:ext uri="{FF2B5EF4-FFF2-40B4-BE49-F238E27FC236}">
                <a16:creationId xmlns:a16="http://schemas.microsoft.com/office/drawing/2014/main" id="{0501980D-B303-4100-9EFD-472FA400BAFE}"/>
              </a:ext>
            </a:extLst>
          </p:cNvPr>
          <p:cNvSpPr>
            <a:spLocks xmlns:a="http://schemas.openxmlformats.org/drawingml/2006/main" noGrp="1"/>
          </p:cNvSpPr>
          <p:nvPr/>
        </p:nvSpPr>
        <p:spPr>
          <a:xfrm xmlns:a="http://schemas.openxmlformats.org/drawingml/2006/main">
            <a:off x="609600" y="3371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97EB7A66-E32B-433F-9B85-DBC8F16824B8}"/>
              </a:ext>
            </a:extLst>
          </p:cNvPr>
          <p:cNvSpPr>
            <a:spLocks xmlns:a="http://schemas.openxmlformats.org/drawingml/2006/main" noGrp="1"/>
          </p:cNvSpPr>
          <p:nvPr/>
        </p:nvSpPr>
        <p:spPr>
          <a:xfrm xmlns:a="http://schemas.openxmlformats.org/drawingml/2006/main">
            <a:off x="1352550" y="337185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Outcome checks and process checks</a:t>
            </a:r>
          </a:p>
        </p:txBody>
      </p:sp>
      <p:sp>
        <p:nvSpPr>
          <p:cNvPr id="9" name="">
            <a:extLst xmlns:a="http://schemas.openxmlformats.org/drawingml/2006/main">
              <a:ext uri="{FF2B5EF4-FFF2-40B4-BE49-F238E27FC236}">
                <a16:creationId xmlns:a16="http://schemas.microsoft.com/office/drawing/2014/main" id="{9274A4CC-296E-4D0E-AA69-3EC6CCBDEC43}"/>
              </a:ext>
            </a:extLst>
          </p:cNvPr>
          <p:cNvSpPr>
            <a:spLocks xmlns:a="http://schemas.openxmlformats.org/drawingml/2006/main" noGrp="1"/>
          </p:cNvSpPr>
          <p:nvPr/>
        </p:nvSpPr>
        <p:spPr>
          <a:xfrm xmlns:a="http://schemas.openxmlformats.org/drawingml/2006/main">
            <a:off x="1352550" y="38385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Test missing confirmation, repeated writes and inappropriate refusal.</a:t>
            </a:r>
          </a:p>
        </p:txBody>
      </p:sp>
      <p:sp>
        <p:nvSpPr>
          <p:cNvPr id="10" name="">
            <a:extLst xmlns:a="http://schemas.openxmlformats.org/drawingml/2006/main">
              <a:ext uri="{FF2B5EF4-FFF2-40B4-BE49-F238E27FC236}">
                <a16:creationId xmlns:a16="http://schemas.microsoft.com/office/drawing/2014/main" id="{476A5A80-CB19-421A-B49E-55F86F06C463}"/>
              </a:ext>
            </a:extLst>
          </p:cNvPr>
          <p:cNvSpPr>
            <a:spLocks xmlns:a="http://schemas.openxmlformats.org/drawingml/2006/main" noGrp="1"/>
          </p:cNvSpPr>
          <p:nvPr/>
        </p:nvSpPr>
        <p:spPr>
          <a:xfrm xmlns:a="http://schemas.openxmlformats.org/drawingml/2006/main">
            <a:off x="609600" y="46101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ECE506AE-E36B-46E6-9096-23F1E595F397}"/>
              </a:ext>
            </a:extLst>
          </p:cNvPr>
          <p:cNvSpPr>
            <a:spLocks xmlns:a="http://schemas.openxmlformats.org/drawingml/2006/main" noGrp="1"/>
          </p:cNvSpPr>
          <p:nvPr/>
        </p:nvSpPr>
        <p:spPr>
          <a:xfrm xmlns:a="http://schemas.openxmlformats.org/drawingml/2006/main">
            <a:off x="1352550" y="46101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Model comparison and optimization</a:t>
            </a:r>
          </a:p>
        </p:txBody>
      </p:sp>
      <p:sp>
        <p:nvSpPr>
          <p:cNvPr id="12" name="">
            <a:extLst xmlns:a="http://schemas.openxmlformats.org/drawingml/2006/main">
              <a:ext uri="{FF2B5EF4-FFF2-40B4-BE49-F238E27FC236}">
                <a16:creationId xmlns:a16="http://schemas.microsoft.com/office/drawing/2014/main" id="{3B7534E5-FCA1-42A6-B034-4EBB1F6D37BF}"/>
              </a:ext>
            </a:extLst>
          </p:cNvPr>
          <p:cNvSpPr>
            <a:spLocks xmlns:a="http://schemas.openxmlformats.org/drawingml/2006/main" noGrp="1"/>
          </p:cNvSpPr>
          <p:nvPr/>
        </p:nvSpPr>
        <p:spPr>
          <a:xfrm xmlns:a="http://schemas.openxmlformats.org/drawingml/2006/main">
            <a:off x="1352550" y="50768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Freeze test cases before adding prompt optimization or GRPO.</a:t>
            </a:r>
          </a:p>
        </p:txBody>
      </p:sp>
    </p:spTree>
    <p:extLst>
      <p:ext uri="{BB962C8B-B14F-4D97-AF65-F5344CB8AC3E}">
        <p14:creationId xmlns:p14="http://schemas.microsoft.com/office/powerpoint/2010/main" val="995366321"/>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9C3097-C27D-495D-B3FB-47D8D8F350C1}"/>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15</a:t>
            </a:r>
          </a:p>
        </p:txBody>
      </p:sp>
      <p:sp>
        <p:nvSpPr>
          <p:cNvPr id="2" name="">
            <a:extLst xmlns:a="http://schemas.openxmlformats.org/drawingml/2006/main">
              <a:ext uri="{FF2B5EF4-FFF2-40B4-BE49-F238E27FC236}">
                <a16:creationId xmlns:a16="http://schemas.microsoft.com/office/drawing/2014/main" id="{F57726B5-D09C-497F-8915-051231702ECA}"/>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Sources and project status</a:t>
            </a:r>
          </a:p>
        </p:txBody>
      </p:sp>
      <p:sp>
        <p:nvSpPr>
          <p:cNvPr id="3" name="">
            <a:extLst xmlns:a="http://schemas.openxmlformats.org/drawingml/2006/main">
              <a:ext uri="{FF2B5EF4-FFF2-40B4-BE49-F238E27FC236}">
                <a16:creationId xmlns:a16="http://schemas.microsoft.com/office/drawing/2014/main" id="{69647D08-FE30-4245-B8B3-3D288EA0F2CB}"/>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Source review at commit 122e2432b82d740e8f313f46f0a071729c404f39</a:t>
            </a:r>
          </a:p>
        </p:txBody>
      </p:sp>
      <p:sp>
        <p:nvSpPr>
          <p:cNvPr id="4" name="">
            <a:extLst xmlns:a="http://schemas.openxmlformats.org/drawingml/2006/main">
              <a:ext uri="{FF2B5EF4-FFF2-40B4-BE49-F238E27FC236}">
                <a16:creationId xmlns:a16="http://schemas.microsoft.com/office/drawing/2014/main" id="{A43B8752-B369-4225-A207-886D416C12E2}"/>
              </a:ext>
            </a:extLst>
          </p:cNvPr>
          <p:cNvSpPr>
            <a:spLocks xmlns:a="http://schemas.openxmlformats.org/drawingml/2006/main" noGrp="1"/>
          </p:cNvSpPr>
          <p:nvPr/>
        </p:nvSpPr>
        <p:spPr>
          <a:xfrm xmlns:a="http://schemas.openxmlformats.org/drawingml/2006/main">
            <a:off x="628650" y="2200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07B78"/>
                </a:solidFill>
                <a:latin typeface="Helvetica Neue"/>
                <a:ea typeface="Helvetica Neue"/>
                <a:cs typeface="Helvetica Neue"/>
              </a:defRPr>
            </a:defPPr>
            <a:lvl1pPr>
              <a:defRPr sz="2325" b="1">
                <a:solidFill>
                  <a:srgbClr val="007B78"/>
                </a:solidFill>
                <a:latin typeface="Helvetica Neue"/>
                <a:ea typeface="Helvetica Neue"/>
                <a:cs typeface="Helvetica Neue"/>
              </a:defRPr>
            </a:lvl1pPr>
            <a:lvl2pPr>
              <a:defRPr sz="2325" b="1">
                <a:solidFill>
                  <a:srgbClr val="007B78"/>
                </a:solidFill>
                <a:latin typeface="Helvetica Neue"/>
                <a:ea typeface="Helvetica Neue"/>
                <a:cs typeface="Helvetica Neue"/>
              </a:defRPr>
            </a:lvl2pPr>
            <a:lvl3pPr>
              <a:defRPr sz="2325" b="1">
                <a:solidFill>
                  <a:srgbClr val="007B78"/>
                </a:solidFill>
                <a:latin typeface="Helvetica Neue"/>
                <a:ea typeface="Helvetica Neue"/>
                <a:cs typeface="Helvetica Neue"/>
              </a:defRPr>
            </a:lvl3pPr>
            <a:lvl4pPr>
              <a:defRPr sz="2325" b="1">
                <a:solidFill>
                  <a:srgbClr val="007B78"/>
                </a:solidFill>
                <a:latin typeface="Helvetica Neue"/>
                <a:ea typeface="Helvetica Neue"/>
                <a:cs typeface="Helvetica Neue"/>
              </a:defRPr>
            </a:lvl4pPr>
            <a:lvl5pPr>
              <a:defRPr sz="2325" b="1">
                <a:solidFill>
                  <a:srgbClr val="007B78"/>
                </a:solidFill>
                <a:latin typeface="Helvetica Neue"/>
                <a:ea typeface="Helvetica Neue"/>
                <a:cs typeface="Helvetica Neue"/>
              </a:defRPr>
            </a:lvl5pPr>
            <a:lvl6pPr>
              <a:defRPr sz="2325" b="1">
                <a:solidFill>
                  <a:srgbClr val="007B78"/>
                </a:solidFill>
                <a:latin typeface="Helvetica Neue"/>
                <a:ea typeface="Helvetica Neue"/>
                <a:cs typeface="Helvetica Neue"/>
              </a:defRPr>
            </a:lvl6pPr>
            <a:lvl7pPr>
              <a:defRPr sz="2325" b="1">
                <a:solidFill>
                  <a:srgbClr val="007B78"/>
                </a:solidFill>
                <a:latin typeface="Helvetica Neue"/>
                <a:ea typeface="Helvetica Neue"/>
                <a:cs typeface="Helvetica Neue"/>
              </a:defRPr>
            </a:lvl7pPr>
            <a:lvl8pPr>
              <a:defRPr sz="2325" b="1">
                <a:solidFill>
                  <a:srgbClr val="007B78"/>
                </a:solidFill>
                <a:latin typeface="Helvetica Neue"/>
                <a:ea typeface="Helvetica Neue"/>
                <a:cs typeface="Helvetica Neue"/>
              </a:defRPr>
            </a:lvl8pPr>
            <a:lvl9pPr>
              <a:defRPr sz="2325" b="1">
                <a:solidFill>
                  <a:srgbClr val="007B78"/>
                </a:solidFill>
                <a:latin typeface="Helvetica Neue"/>
                <a:ea typeface="Helvetica Neue"/>
                <a:cs typeface="Helvetica Neue"/>
              </a:defRPr>
            </a:lvl9pPr>
          </a:lstStyle>
          <a:p xmlns:a="http://schemas.openxmlformats.org/drawingml/2006/main">
            <a:pPr>
              <a:defRPr sz="2325" b="1">
                <a:solidFill>
                  <a:srgbClr val="007B78"/>
                </a:solidFill>
                <a:latin typeface="Helvetica Neue"/>
                <a:ea typeface="Helvetica Neue"/>
                <a:cs typeface="Helvetica Neue"/>
              </a:defRPr>
            </a:pPr>
            <a:r>
              <a:rPr sz="2325" b="1">
                <a:solidFill>
                  <a:srgbClr val="007B78"/>
                </a:solidFill>
                <a:latin typeface="Helvetica Neue"/>
                <a:ea typeface="Helvetica Neue"/>
                <a:cs typeface="Helvetica Neue"/>
              </a:rPr>
              <a:t>tau2-bench</a:t>
            </a:r>
          </a:p>
        </p:txBody>
      </p:sp>
      <p:sp>
        <p:nvSpPr>
          <p:cNvPr id="5" name="">
            <a:extLst xmlns:a="http://schemas.openxmlformats.org/drawingml/2006/main">
              <a:ext uri="{FF2B5EF4-FFF2-40B4-BE49-F238E27FC236}">
                <a16:creationId xmlns:a16="http://schemas.microsoft.com/office/drawing/2014/main" id="{CB046C8D-0566-4B0F-A61E-8DA300F29FDB}"/>
              </a:ext>
            </a:extLst>
          </p:cNvPr>
          <p:cNvSpPr>
            <a:spLocks xmlns:a="http://schemas.openxmlformats.org/drawingml/2006/main" noGrp="1"/>
          </p:cNvSpPr>
          <p:nvPr/>
        </p:nvSpPr>
        <p:spPr>
          <a:xfrm xmlns:a="http://schemas.openxmlformats.org/drawingml/2006/main">
            <a:off x="628650" y="278130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02B36"/>
                </a:solidFill>
                <a:latin typeface="Helvetica Neue"/>
                <a:ea typeface="Helvetica Neue"/>
                <a:cs typeface="Helvetica Neue"/>
              </a:defRPr>
            </a:defPPr>
            <a:lvl1pPr>
              <a:defRPr sz="2100" b="0">
                <a:solidFill>
                  <a:srgbClr val="102B36"/>
                </a:solidFill>
                <a:latin typeface="Helvetica Neue"/>
                <a:ea typeface="Helvetica Neue"/>
                <a:cs typeface="Helvetica Neue"/>
              </a:defRPr>
            </a:lvl1pPr>
            <a:lvl2pPr>
              <a:defRPr sz="2100" b="0">
                <a:solidFill>
                  <a:srgbClr val="102B36"/>
                </a:solidFill>
                <a:latin typeface="Helvetica Neue"/>
                <a:ea typeface="Helvetica Neue"/>
                <a:cs typeface="Helvetica Neue"/>
              </a:defRPr>
            </a:lvl2pPr>
            <a:lvl3pPr>
              <a:defRPr sz="2100" b="0">
                <a:solidFill>
                  <a:srgbClr val="102B36"/>
                </a:solidFill>
                <a:latin typeface="Helvetica Neue"/>
                <a:ea typeface="Helvetica Neue"/>
                <a:cs typeface="Helvetica Neue"/>
              </a:defRPr>
            </a:lvl3pPr>
            <a:lvl4pPr>
              <a:defRPr sz="2100" b="0">
                <a:solidFill>
                  <a:srgbClr val="102B36"/>
                </a:solidFill>
                <a:latin typeface="Helvetica Neue"/>
                <a:ea typeface="Helvetica Neue"/>
                <a:cs typeface="Helvetica Neue"/>
              </a:defRPr>
            </a:lvl4pPr>
            <a:lvl5pPr>
              <a:defRPr sz="2100" b="0">
                <a:solidFill>
                  <a:srgbClr val="102B36"/>
                </a:solidFill>
                <a:latin typeface="Helvetica Neue"/>
                <a:ea typeface="Helvetica Neue"/>
                <a:cs typeface="Helvetica Neue"/>
              </a:defRPr>
            </a:lvl5pPr>
            <a:lvl6pPr>
              <a:defRPr sz="2100" b="0">
                <a:solidFill>
                  <a:srgbClr val="102B36"/>
                </a:solidFill>
                <a:latin typeface="Helvetica Neue"/>
                <a:ea typeface="Helvetica Neue"/>
                <a:cs typeface="Helvetica Neue"/>
              </a:defRPr>
            </a:lvl6pPr>
            <a:lvl7pPr>
              <a:defRPr sz="2100" b="0">
                <a:solidFill>
                  <a:srgbClr val="102B36"/>
                </a:solidFill>
                <a:latin typeface="Helvetica Neue"/>
                <a:ea typeface="Helvetica Neue"/>
                <a:cs typeface="Helvetica Neue"/>
              </a:defRPr>
            </a:lvl7pPr>
            <a:lvl8pPr>
              <a:defRPr sz="2100" b="0">
                <a:solidFill>
                  <a:srgbClr val="102B36"/>
                </a:solidFill>
                <a:latin typeface="Helvetica Neue"/>
                <a:ea typeface="Helvetica Neue"/>
                <a:cs typeface="Helvetica Neue"/>
              </a:defRPr>
            </a:lvl8pPr>
            <a:lvl9pPr>
              <a:defRPr sz="2100" b="0">
                <a:solidFill>
                  <a:srgbClr val="102B36"/>
                </a:solidFill>
                <a:latin typeface="Helvetica Neue"/>
                <a:ea typeface="Helvetica Neue"/>
                <a:cs typeface="Helvetica Neue"/>
              </a:defRPr>
            </a:lvl9pPr>
          </a:lstStyle>
          <a:p xmlns:a="http://schemas.openxmlformats.org/drawingml/2006/main">
            <a:pPr>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Retail task 0 and database</a:t>
            </a:r>
          </a:p>
          <a:p xmlns:a="http://schemas.openxmlformats.org/drawingml/2006/main">
            <a:pPr>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Agent interface and orchestrator</a:t>
            </a:r>
          </a:p>
          <a:p xmlns:a="http://schemas.openxmlformats.org/drawingml/2006/main">
            <a:pPr>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Retail tools, replay and evaluators</a:t>
            </a:r>
          </a:p>
        </p:txBody>
      </p:sp>
      <p:sp>
        <p:nvSpPr>
          <p:cNvPr id="6" name="">
            <a:extLst xmlns:a="http://schemas.openxmlformats.org/drawingml/2006/main">
              <a:ext uri="{FF2B5EF4-FFF2-40B4-BE49-F238E27FC236}">
                <a16:creationId xmlns:a16="http://schemas.microsoft.com/office/drawing/2014/main" id="{01B71723-203D-4A34-B30F-DF3680C066D7}"/>
              </a:ext>
            </a:extLst>
          </p:cNvPr>
          <p:cNvSpPr>
            <a:spLocks xmlns:a="http://schemas.openxmlformats.org/drawingml/2006/main" noGrp="1"/>
          </p:cNvSpPr>
          <p:nvPr/>
        </p:nvSpPr>
        <p:spPr>
          <a:xfrm xmlns:a="http://schemas.openxmlformats.org/drawingml/2006/main">
            <a:off x="628650" y="43243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07B78"/>
                </a:solidFill>
                <a:latin typeface="Helvetica Neue"/>
                <a:ea typeface="Helvetica Neue"/>
                <a:cs typeface="Helvetica Neue"/>
              </a:defRPr>
            </a:defPPr>
            <a:lvl1pPr>
              <a:defRPr sz="1950" b="0">
                <a:solidFill>
                  <a:srgbClr val="007B78"/>
                </a:solidFill>
                <a:latin typeface="Helvetica Neue"/>
                <a:ea typeface="Helvetica Neue"/>
                <a:cs typeface="Helvetica Neue"/>
              </a:defRPr>
            </a:lvl1pPr>
            <a:lvl2pPr>
              <a:defRPr sz="1950" b="0">
                <a:solidFill>
                  <a:srgbClr val="007B78"/>
                </a:solidFill>
                <a:latin typeface="Helvetica Neue"/>
                <a:ea typeface="Helvetica Neue"/>
                <a:cs typeface="Helvetica Neue"/>
              </a:defRPr>
            </a:lvl2pPr>
            <a:lvl3pPr>
              <a:defRPr sz="1950" b="0">
                <a:solidFill>
                  <a:srgbClr val="007B78"/>
                </a:solidFill>
                <a:latin typeface="Helvetica Neue"/>
                <a:ea typeface="Helvetica Neue"/>
                <a:cs typeface="Helvetica Neue"/>
              </a:defRPr>
            </a:lvl3pPr>
            <a:lvl4pPr>
              <a:defRPr sz="1950" b="0">
                <a:solidFill>
                  <a:srgbClr val="007B78"/>
                </a:solidFill>
                <a:latin typeface="Helvetica Neue"/>
                <a:ea typeface="Helvetica Neue"/>
                <a:cs typeface="Helvetica Neue"/>
              </a:defRPr>
            </a:lvl4pPr>
            <a:lvl5pPr>
              <a:defRPr sz="1950" b="0">
                <a:solidFill>
                  <a:srgbClr val="007B78"/>
                </a:solidFill>
                <a:latin typeface="Helvetica Neue"/>
                <a:ea typeface="Helvetica Neue"/>
                <a:cs typeface="Helvetica Neue"/>
              </a:defRPr>
            </a:lvl5pPr>
            <a:lvl6pPr>
              <a:defRPr sz="1950" b="0">
                <a:solidFill>
                  <a:srgbClr val="007B78"/>
                </a:solidFill>
                <a:latin typeface="Helvetica Neue"/>
                <a:ea typeface="Helvetica Neue"/>
                <a:cs typeface="Helvetica Neue"/>
              </a:defRPr>
            </a:lvl6pPr>
            <a:lvl7pPr>
              <a:defRPr sz="1950" b="0">
                <a:solidFill>
                  <a:srgbClr val="007B78"/>
                </a:solidFill>
                <a:latin typeface="Helvetica Neue"/>
                <a:ea typeface="Helvetica Neue"/>
                <a:cs typeface="Helvetica Neue"/>
              </a:defRPr>
            </a:lvl7pPr>
            <a:lvl8pPr>
              <a:defRPr sz="1950" b="0">
                <a:solidFill>
                  <a:srgbClr val="007B78"/>
                </a:solidFill>
                <a:latin typeface="Helvetica Neue"/>
                <a:ea typeface="Helvetica Neue"/>
                <a:cs typeface="Helvetica Neue"/>
              </a:defRPr>
            </a:lvl8pPr>
            <a:lvl9pPr>
              <a:defRPr sz="1950" b="0">
                <a:solidFill>
                  <a:srgbClr val="007B78"/>
                </a:solidFill>
                <a:latin typeface="Helvetica Neue"/>
                <a:ea typeface="Helvetica Neue"/>
                <a:cs typeface="Helvetica Neue"/>
              </a:defRPr>
            </a:lvl9pPr>
          </a:lstStyle>
          <a:p xmlns:a="http://schemas.openxmlformats.org/drawingml/2006/main">
            <a:pPr>
              <a:defRPr sz="1950" b="0">
                <a:solidFill>
                  <a:srgbClr val="007B78"/>
                </a:solidFill>
                <a:latin typeface="Helvetica Neue"/>
                <a:ea typeface="Helvetica Neue"/>
                <a:cs typeface="Helvetica Neue"/>
              </a:defRPr>
            </a:pPr>
            <a:r>
              <a:rPr sz="1950" b="0">
                <a:solidFill>
                  <a:srgbClr val="007B78"/>
                </a:solidFill>
                <a:latin typeface="Helvetica Neue"/>
                <a:ea typeface="Helvetica Neue"/>
                <a:cs typeface="Helvetica Neue"/>
                <a:hlinkClick xmlns:r="http://schemas.openxmlformats.org/officeDocument/2006/relationships" r:id="Rf01bdd82a5a64c69"/>
              </a:rPr>
              <a:t>github.com/sierra-research/tau2-bench</a:t>
            </a:r>
          </a:p>
        </p:txBody>
      </p:sp>
      <p:sp>
        <p:nvSpPr>
          <p:cNvPr id="7" name="">
            <a:extLst xmlns:a="http://schemas.openxmlformats.org/drawingml/2006/main">
              <a:ext uri="{FF2B5EF4-FFF2-40B4-BE49-F238E27FC236}">
                <a16:creationId xmlns:a16="http://schemas.microsoft.com/office/drawing/2014/main" id="{F1012E03-0ED9-454C-8F9A-7FAF8A38DC08}"/>
              </a:ext>
            </a:extLst>
          </p:cNvPr>
          <p:cNvSpPr>
            <a:spLocks xmlns:a="http://schemas.openxmlformats.org/drawingml/2006/main" noGrp="1"/>
          </p:cNvSpPr>
          <p:nvPr/>
        </p:nvSpPr>
        <p:spPr>
          <a:xfrm xmlns:a="http://schemas.openxmlformats.org/drawingml/2006/main">
            <a:off x="628650" y="52673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Capstone design: Proposal v2, October 24, 2026</a:t>
            </a:r>
          </a:p>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Status: source review and prototype material. Integration and model experiments remain planned.</a:t>
            </a:r>
          </a:p>
        </p:txBody>
      </p:sp>
    </p:spTree>
    <p:extLst>
      <p:ext uri="{BB962C8B-B14F-4D97-AF65-F5344CB8AC3E}">
        <p14:creationId xmlns:p14="http://schemas.microsoft.com/office/powerpoint/2010/main" val="1137713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2026-10-29T02:14:56.2080000Z</dcterms:created>
  <dcterms:modified xsi:type="dcterms:W3CDTF">2026-10-29T02:14:56.2090000Z</dcterms:modified>
</coreProperties>
</file>