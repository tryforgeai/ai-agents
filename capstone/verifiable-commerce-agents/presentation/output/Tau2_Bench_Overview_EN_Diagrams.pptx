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3224b03cb24453" /><Relationship Type="http://schemas.openxmlformats.org/officeDocument/2006/relationships/extended-properties" Target="/docProps/app.xml" Id="R2ef4e98615634f0c" /><Relationship Type="http://schemas.openxmlformats.org/officeDocument/2006/relationships/officeDocument" Target="/ppt/presentation.xml" Id="R7e3ca44b2a3c473f" /></Relationships>
</file>

<file path=ppt/presentation.xml><?xml version="1.0" encoding="utf-8"?>
<p:presentation xmlns:p="http://schemas.openxmlformats.org/presentationml/2006/main">
  <p:sldMasterIdLst>
    <p:sldMasterId xmlns:r="http://schemas.openxmlformats.org/officeDocument/2006/relationships" id="2147483648" r:id="R9b57522f7ae644e5"/>
  </p:sldMasterIdLst>
  <p:notesMasterIdLst>
    <p:notesMasterId xmlns:r="http://schemas.openxmlformats.org/officeDocument/2006/relationships" r:id="Rb2efe7615c0142cf"/>
  </p:notesMasterIdLst>
  <p:sldIdLst>
    <p:sldId xmlns:r="http://schemas.openxmlformats.org/officeDocument/2006/relationships" id="256" r:id="R42e4b0b9d78c464b"/>
    <p:sldId xmlns:r="http://schemas.openxmlformats.org/officeDocument/2006/relationships" id="257" r:id="R9f5a91c35c2d4929"/>
    <p:sldId xmlns:r="http://schemas.openxmlformats.org/officeDocument/2006/relationships" id="258" r:id="R39201d34cc6a4a8e"/>
    <p:sldId xmlns:r="http://schemas.openxmlformats.org/officeDocument/2006/relationships" id="259" r:id="Rbcf576387ce24b13"/>
    <p:sldId xmlns:r="http://schemas.openxmlformats.org/officeDocument/2006/relationships" id="260" r:id="R6302a4b1954547e3"/>
    <p:sldId xmlns:r="http://schemas.openxmlformats.org/officeDocument/2006/relationships" id="261" r:id="Rf7f46f8de4224130"/>
    <p:sldId xmlns:r="http://schemas.openxmlformats.org/officeDocument/2006/relationships" id="262" r:id="R62b394bdae804400"/>
    <p:sldId xmlns:r="http://schemas.openxmlformats.org/officeDocument/2006/relationships" id="263" r:id="Rd0bf31286e3f4f71"/>
    <p:sldId xmlns:r="http://schemas.openxmlformats.org/officeDocument/2006/relationships" id="264" r:id="Rf84a3c999fd74273"/>
    <p:sldId xmlns:r="http://schemas.openxmlformats.org/officeDocument/2006/relationships" id="265" r:id="Raaaa3caaee324358"/>
    <p:sldId xmlns:r="http://schemas.openxmlformats.org/officeDocument/2006/relationships" id="266" r:id="Redd9450250fa4e24"/>
    <p:sldId xmlns:r="http://schemas.openxmlformats.org/officeDocument/2006/relationships" id="267" r:id="Rfbaa6700f2a848b8"/>
    <p:sldId xmlns:r="http://schemas.openxmlformats.org/officeDocument/2006/relationships" id="268" r:id="R3ffea3dcff2d4e10"/>
    <p:sldId xmlns:r="http://schemas.openxmlformats.org/officeDocument/2006/relationships" id="269" r:id="Rae4dc822ebfc4192"/>
    <p:sldId xmlns:r="http://schemas.openxmlformats.org/officeDocument/2006/relationships" id="270" r:id="Rd9ddc44349db4d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ce584092304650" /><Relationship Type="http://schemas.openxmlformats.org/officeDocument/2006/relationships/slideMaster" Target="/ppt/slideMasters/slideMaster1.xml" Id="R9b57522f7ae644e5" /><Relationship Type="http://schemas.openxmlformats.org/officeDocument/2006/relationships/notesMaster" Target="/ppt/notesMasters/notesMaster1.xml" Id="Rb2efe7615c0142cf" /><Relationship Type="http://schemas.openxmlformats.org/officeDocument/2006/relationships/presProps" Target="/ppt/presProps.xml" Id="R6c0d6983d1c543b5" /><Relationship Type="http://schemas.openxmlformats.org/officeDocument/2006/relationships/tableStyles" Target="/ppt/tableStyles.xml" Id="Re89fb91dff7347ba" /><Relationship Type="http://schemas.openxmlformats.org/officeDocument/2006/relationships/slide" Target="/ppt/slides/slide1.xml" Id="R42e4b0b9d78c464b" /><Relationship Type="http://schemas.openxmlformats.org/officeDocument/2006/relationships/slide" Target="/ppt/slides/slide2.xml" Id="R9f5a91c35c2d4929" /><Relationship Type="http://schemas.openxmlformats.org/officeDocument/2006/relationships/slide" Target="/ppt/slides/slide3.xml" Id="R39201d34cc6a4a8e" /><Relationship Type="http://schemas.openxmlformats.org/officeDocument/2006/relationships/slide" Target="/ppt/slides/slide4.xml" Id="Rbcf576387ce24b13" /><Relationship Type="http://schemas.openxmlformats.org/officeDocument/2006/relationships/slide" Target="/ppt/slides/slide5.xml" Id="R6302a4b1954547e3" /><Relationship Type="http://schemas.openxmlformats.org/officeDocument/2006/relationships/slide" Target="/ppt/slides/slide6.xml" Id="Rf7f46f8de4224130" /><Relationship Type="http://schemas.openxmlformats.org/officeDocument/2006/relationships/slide" Target="/ppt/slides/slide7.xml" Id="R62b394bdae804400" /><Relationship Type="http://schemas.openxmlformats.org/officeDocument/2006/relationships/slide" Target="/ppt/slides/slide8.xml" Id="Rd0bf31286e3f4f71" /><Relationship Type="http://schemas.openxmlformats.org/officeDocument/2006/relationships/slide" Target="/ppt/slides/slide9.xml" Id="Rf84a3c999fd74273" /><Relationship Type="http://schemas.openxmlformats.org/officeDocument/2006/relationships/slide" Target="/ppt/slides/slide10.xml" Id="Raaaa3caaee324358" /><Relationship Type="http://schemas.openxmlformats.org/officeDocument/2006/relationships/slide" Target="/ppt/slides/slide11.xml" Id="Redd9450250fa4e24" /><Relationship Type="http://schemas.openxmlformats.org/officeDocument/2006/relationships/slide" Target="/ppt/slides/slide12.xml" Id="Rfbaa6700f2a848b8" /><Relationship Type="http://schemas.openxmlformats.org/officeDocument/2006/relationships/slide" Target="/ppt/slides/slide13.xml" Id="R3ffea3dcff2d4e10" /><Relationship Type="http://schemas.openxmlformats.org/officeDocument/2006/relationships/slide" Target="/ppt/slides/slide14.xml" Id="Rae4dc822ebfc4192" /><Relationship Type="http://schemas.openxmlformats.org/officeDocument/2006/relationships/slide" Target="/ppt/slides/slide15.xml" Id="Rd9ddc44349db4d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5b31f964dd4b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e18676ca2546f0" /><Relationship Type="http://schemas.openxmlformats.org/officeDocument/2006/relationships/notesMaster" Target="/ppt/notesMasters/notesMaster1.xml" Id="Rbc130101cd4a4c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147005d6ef4fcb" /><Relationship Type="http://schemas.openxmlformats.org/officeDocument/2006/relationships/notesMaster" Target="/ppt/notesMasters/notesMaster1.xml" Id="R08196dd28e2b40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28e19c42334a81" /><Relationship Type="http://schemas.openxmlformats.org/officeDocument/2006/relationships/notesMaster" Target="/ppt/notesMasters/notesMaster1.xml" Id="Rfaaf27724d354b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b5339359034a24" /><Relationship Type="http://schemas.openxmlformats.org/officeDocument/2006/relationships/notesMaster" Target="/ppt/notesMasters/notesMaster1.xml" Id="Rdde5293d33294a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6a7056e56a415b" /><Relationship Type="http://schemas.openxmlformats.org/officeDocument/2006/relationships/notesMaster" Target="/ppt/notesMasters/notesMaster1.xml" Id="R9b33c0af31dc42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470a6a8c504022" /><Relationship Type="http://schemas.openxmlformats.org/officeDocument/2006/relationships/notesMaster" Target="/ppt/notesMasters/notesMaster1.xml" Id="Rff4f62ef052e4e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35539da0674323" /><Relationship Type="http://schemas.openxmlformats.org/officeDocument/2006/relationships/notesMaster" Target="/ppt/notesMasters/notesMaster1.xml" Id="R6df9e7c298f444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f4d88b7f144664" /><Relationship Type="http://schemas.openxmlformats.org/officeDocument/2006/relationships/notesMaster" Target="/ppt/notesMasters/notesMaster1.xml" Id="R43569cdf8a954f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7d0e9536184442" /><Relationship Type="http://schemas.openxmlformats.org/officeDocument/2006/relationships/notesMaster" Target="/ppt/notesMasters/notesMaster1.xml" Id="R2dc7d5ee2d3a4e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d9a4176100436c" /><Relationship Type="http://schemas.openxmlformats.org/officeDocument/2006/relationships/notesMaster" Target="/ppt/notesMasters/notesMaster1.xml" Id="Rd54c9ea2817640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02722d6eac4426" /><Relationship Type="http://schemas.openxmlformats.org/officeDocument/2006/relationships/notesMaster" Target="/ppt/notesMasters/notesMaster1.xml" Id="R70b7574f8c2440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57dcc08ef24e68" /><Relationship Type="http://schemas.openxmlformats.org/officeDocument/2006/relationships/notesMaster" Target="/ppt/notesMasters/notesMaster1.xml" Id="Ra75596497f4540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156a0638324367" /><Relationship Type="http://schemas.openxmlformats.org/officeDocument/2006/relationships/notesMaster" Target="/ppt/notesMasters/notesMaster1.xml" Id="Rf11de69a474c4b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9c478909b748da" /><Relationship Type="http://schemas.openxmlformats.org/officeDocument/2006/relationships/notesMaster" Target="/ppt/notesMasters/notesMaster1.xml" Id="Rdf98c7ca510a4a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11b984193e4ebf" /><Relationship Type="http://schemas.openxmlformats.org/officeDocument/2006/relationships/notesMaster" Target="/ppt/notesMasters/notesMaster1.xml" Id="R23ef97a9f341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introduction to the tau2-bench repository and a concrete retail task. Technical details use commit 122e2432b82d740e8f313f46f0a071729c404f39. The walkthrough reconstructs source-code behavior, not a recorded model run. The repository has evolved beyond the original tau2 release. This deck focuses on the text-based interaction loop.</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tau2-bench evaluates conversational customer-service agents in simulated domains with policies, tools, databases and user scenarios. The repository supports text half-duplex and voice full-duplex modes, as well as additional domains such as banking_knowledge and intake. This presentation uses the retail text loop to make the design concrete. A task reward measures the configured criteria rather than every possible property of real-world service quality.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https://github.com/sierra-research/tau2-bench/blob/122e2432b82d740e8f313f46f0a071729c404f39/src/tau2/domains/retail/environment.py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Solid bidirectional arrows show runtime message exchanges. The orchestrator routes customer dialogue to the agent and sends tool calls to the environment. The tool environment holds mutable domain state. The orchestrator records the trajectory. The dashed arrow shows post-run evaluation, not an online decision maker. The evaluator also uses task criteria and fresh environments to reconstruct actual and reference states. The evaluation/replay diagram later makes those inputs explicit.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https://github.com/sierra-research/tau2-bench/blob/122e2432b82d740e8f313f46f0a071729c404f39/src/tau2/evaluator/evaluator.py</a:t>
            </a:r>
          </a:p>
          <a:p xmlns:a="http://schemas.openxmlformats.org/drawingml/2006/main">
            <a:r>
              <a:t>https://github.com/sierra-research/tau2-bench/blob/122e2432b82d740e8f313f46f0a071729c404f39/src/tau2/evaluator/evaluator_env.py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Rossi, ZIP 19122, wants a keyboard and thermostat exchange. The task asks the simulated customer to address everything in one go. The order is delivered. The customer requests Google Home compatibility, while the product data labels the target variant Google Assistant. This distinction is preserved in later slides.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actions are not a mandatory script. They identify the user, read the order, read two products and request one combined exchange. Normal LLMAgent behavior does not use the reference solution as its prompt. Ground-truth/debug agents are a separate condition and must not be presented as an ordinary baseline. Task 0 has null natural-language assertions.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https://github.com/sierra-research/tau2-bench/blob/122e2432b82d740e8f313f46f0a071729c404f39/src/tau2/agent/llm_agent.py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downward in time. This illustrative cycle shows an order lookup, not a measured run. The agent may request further tools instead of replying after step 6, so the tool-use cycle can repeat. User and agent do not exchange messages directly. All arrows pass through the orchestrator. The environment changes state only for mutating calls; get_order_details is read-only. All messages and tool results enter the trajectory for later evaluation.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https://github.com/sierra-research/tau2-bench/blob/122e2432b82d740e8f313f46f0a071729c404f39/src/tau2/orchestrator/orchestrator.py#L847</a:t>
            </a:r>
          </a:p>
          <a:p xmlns:a="http://schemas.openxmlformats.org/drawingml/2006/main">
            <a:r>
              <a:t>https://github.com/sierra-research/tau2-bench/blob/122e2432b82d740e8f313f46f0a071729c404f39/src/tau2/agent/llm_agent.py#L115</a:t>
            </a:r>
          </a:p>
          <a:p xmlns:a="http://schemas.openxmlformats.org/drawingml/2006/main">
            <a:r>
              <a:t>https://github.com/sierra-research/tau2-bench/blob/122e2432b82d740e8f313f46f0a071729c404f39/src/tau2/domains/retail/tools.py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Keyboard old item 1151293680 maps to new item 7706410293. Thermostat old item 4983901480 maps to new item 7747408585. The clicky RGB full-size keyboard has available=false. The accepted fallback is clicky, no backlight, full-size. Arithmetic: 269.16 - 272.33 + 249.01 - 262.47 = -16.63. The negative difference records the exchange price difference, not completed bank settlement.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https://github.com/sierra-research/tau2-bench/blob/122e2432b82d740e8f313f46f0a071729c404f39/data/tau2/domains/retail/policy.md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abbreviated tool-call payload. Actual identifiers are strings, including item IDs. The function requires delivered status, checks item multiplicities and matching list lengths, resolves each new variant within the old product, checks availability and validates payment. A gift-card payment must cover a positive price difference. The function does not receive a user-confirmation token.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https://github.com/sierra-research/tau2-bench/blob/122e2432b82d740e8f313f46f0a071729c404f39/data/tau2/domains/retail/tasks.json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mutates the in-memory Order model in the retail environment. It records sorted item lists, payment method and the price difference. It does not replace order.items, ship products or settle a bank refund in this function. Since status becomes exchange requested, splitting the two exchanges into separate calls would cause the later call to fail the delivered-status requirement.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evaluator coordinates both lanes. Both environments apply task initialization. Predicted state comes from the recorded trajectory; reference state comes from initial history plus reference actions. Current replay skips non-mutating and rejected calls and validates mutating tool outputs in strict mode. EnvironmentEvaluator compares agent and user database hashes. Other reward components depend on reward_basis. In base retail task 0, NL assertions are empty and contribute a neutral 1. Premature termination gives zero before this comparison.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https://github.com/sierra-research/tau2-bench/blob/122e2432b82d740e8f313f46f0a071729c404f39/src/tau2/environment/environment.py#L293</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hypothetical source-based counterexample, not a measured result. Assume identical valid exchange calls and normal termination. The exchange tool lacks a confirmation credential argument, DB comparison cannot prove dialogue order, and base task 0 has no nonempty NL assertion. Other tasks can enable dialogue checks. The example shows why a benchmark result must be interpreted together with its active criteria.</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https://github.com/sierra-research/tau2-bench/blob/122e2432b82d740e8f313f46f0a071729c404f39/src/tau2/evaluator/evaluator_nl_assertions.py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text agent subclasses HalfDuplexAgent and implements get_init_state and generate_next_message. Inputs can include UserMessage, ToolMessage or MultiToolMessage. A registered factory supplies tools and domain policy. Registry changes must load in the runner process. Gym offers reset/step control, while the experimental agentify_tau_bench bridge exchanges A2A messages with a JSON action convention. These are integration options, not zero-adaptation support for every external agent. In-process tools do not provide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https://github.com/sierra-research/tau2-bench/blob/122e2432b82d740e8f313f46f0a071729c404f39/examples/agents/minimal_text_agent.py</a:t>
            </a:r>
          </a:p>
          <a:p xmlns:a="http://schemas.openxmlformats.org/drawingml/2006/main">
            <a:r>
              <a:t>https://github.com/sierra-research/tau2-bench/blob/122e2432b82d740e8f313f46f0a071729c404f39/src/tau2/registry.py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https://github.com/sierra-research/tau2-bench/blob/122e2432b82d740e8f313f46f0a071729c404f39/src/experiments/agentify_tau_bench/src/agentify_tau_bench/green_agent/agent.py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calculated illustration, not a benchmark result. n is the number of trials, c the number of successes, and k the number sampled without replacement. The implementation raises when n &lt; k. pass^k measures repeated success while pass@k measures at least one success. A high score applies to the chosen task and simulator distribution and does not alone establish production readiness.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https://github.com/sierra-research/tau2-bench/blob/122e2432b82d740e8f313f46f0a071729c404f39/src/tau2/metrics/agent_metrics.py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framework provides extension points rather than a universal correctness definition. Retail models query, cancellation, modification and return/exchange requests. Its current order schema lacks delivery-date fields and its toolkit lacks a coupon or full checkout flow. Custom domains can add them. Standard Gym returns zero before completion and does not automatically supply dense per-step rewards. External side effects must be observable and replayable, or evaluated through another trustworthy state path.</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https://github.com/sierra-research/tau2-bench/blob/122e2432b82d740e8f313f46f0a071729c404f39/src/tau2/domains/retail/data_model.py</a:t>
            </a:r>
          </a:p>
          <a:p xmlns:a="http://schemas.openxmlformats.org/drawingml/2006/main">
            <a:r>
              <a:t>https://github.com/sierra-research/tau2-bench/blob/122e2432b82d740e8f313f46f0a071729c404f39/src/tau2/domains/retail/tools.py</a:t>
            </a:r>
          </a:p>
          <a:p xmlns:a="http://schemas.openxmlformats.org/drawingml/2006/main">
            <a:r>
              <a:t>https://github.com/sierra-research/tau2-bench/blob/122e2432b82d740e8f313f46f0a071729c404f39/src/tau2/gym/gym_agent.py</a:t>
            </a:r>
          </a:p>
          <a:p xmlns:a="http://schemas.openxmlformats.org/drawingml/2006/main">
            <a:r>
              <a:t>https://github.com/sierra-research/tau2-bench/blob/122e2432b82d740e8f313f46f0a071729c404f39/docs/evaluation.md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is about tau2-bench only. Source-code paths cover the task schema, standard agent, orchestrator, retail tools, state replay and evaluators. The base retail collection has 114 tasks at the reviewed revision. Released text-v1 uses a frozen 50-task retail set with language-specific data binding, so this walkthrough must not be generalized to every released task. Pin code, data, agent configuration, user simulator and scoring configuration for comparable results.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a:p xmlns:a="http://schemas.openxmlformats.org/drawingml/2006/main">
            <a:r>
              <a:t>https://github.com/sierra-research/tau2-bench/blob/122e2432b82d740e8f313f46f0a071729c404f39/docs/evaluation.md</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https://github.com/sierra-research/tau2-bench/blob/122e2432b82d740e8f313f46f0a071729c404f39/data/tau2/benchmarks/text.json</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https://github.com/sierra-research/tau2-bench/blob/122e2432b82d740e8f313f46f0a071729c404f39/src/tau2/evaluator/evaluator_env.py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129291ac2442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874d3661a645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13d7453e7340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c6553e604e43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40b3afbe6c43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623d33b21a46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3685C-AB2A-4238-A6D3-3569B5874C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8C955-3C81-4E22-9253-4B8EA3DE1F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2F1897-AD3C-4CF4-901F-7EBF629E41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57E89-48F8-42D2-86D6-88240CF74F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6BCCB9-8467-436E-A216-79677C6B03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C1A8CD-F5E7-4549-ABF4-64EE11406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3884EC-0153-4AF0-A2D8-3CD1471D1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0F616-7171-40C5-A6E0-CD47B465DA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E368E5-C81C-4B2E-9CB1-BF66C922B9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64F2CB-03A5-4A37-88A1-653EDCA0CB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20a7bc63ae4d7f" /><Relationship Type="http://schemas.openxmlformats.org/officeDocument/2006/relationships/slideLayout" Target="/ppt/slideLayouts/slideLayout1.xml" Id="Rd2d70d5f89b0406f" /><Relationship Type="http://schemas.openxmlformats.org/officeDocument/2006/relationships/slideLayout" Target="/ppt/slideLayouts/slideLayout2.xml" Id="Re9b5da0354e3423b" /><Relationship Type="http://schemas.openxmlformats.org/officeDocument/2006/relationships/slideLayout" Target="/ppt/slideLayouts/slideLayout3.xml" Id="R6eedddacd2c04c97" /><Relationship Type="http://schemas.openxmlformats.org/officeDocument/2006/relationships/slideLayout" Target="/ppt/slideLayouts/slideLayout4.xml" Id="R8afbb923dc4c435a" /><Relationship Type="http://schemas.openxmlformats.org/officeDocument/2006/relationships/slideLayout" Target="/ppt/slideLayouts/slideLayout5.xml" Id="Rce9017a6cfd34fc5" /><Relationship Type="http://schemas.openxmlformats.org/officeDocument/2006/relationships/slideLayout" Target="/ppt/slideLayouts/slideLayout6.xml" Id="R2a9bc62a67df41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d70d5f89b0406f"/>
    <p:sldLayoutId xmlns:r="http://schemas.openxmlformats.org/officeDocument/2006/relationships" id="2147483650" r:id="Re9b5da0354e3423b"/>
    <p:sldLayoutId xmlns:r="http://schemas.openxmlformats.org/officeDocument/2006/relationships" id="2147483651" r:id="R6eedddacd2c04c97"/>
    <p:sldLayoutId xmlns:r="http://schemas.openxmlformats.org/officeDocument/2006/relationships" id="2147483652" r:id="R8afbb923dc4c435a"/>
    <p:sldLayoutId xmlns:r="http://schemas.openxmlformats.org/officeDocument/2006/relationships" id="2147483653" r:id="Rce9017a6cfd34fc5"/>
    <p:sldLayoutId xmlns:r="http://schemas.openxmlformats.org/officeDocument/2006/relationships" id="2147483654" r:id="R2a9bc62a67df41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7f309b61b14bb6" /><Relationship Type="http://schemas.openxmlformats.org/officeDocument/2006/relationships/notesSlide" Target="/ppt/notesSlides/notesSlide1.xml" Id="R37002bb8315145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2275c7168e4aae" /><Relationship Type="http://schemas.openxmlformats.org/officeDocument/2006/relationships/notesSlide" Target="/ppt/notesSlides/notesSlide2.xml" Id="R6ae8a6d32ed44d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5cf928413e4494" /><Relationship Type="http://schemas.openxmlformats.org/officeDocument/2006/relationships/notesSlide" Target="/ppt/notesSlides/notesSlide3.xml" Id="Rcdfba72285e64f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4a7bd140ee4dac" /><Relationship Type="http://schemas.openxmlformats.org/officeDocument/2006/relationships/notesSlide" Target="/ppt/notesSlides/notesSlide4.xml" Id="Re6694761f3134b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931e4d56844c23" /><Relationship Type="http://schemas.openxmlformats.org/officeDocument/2006/relationships/notesSlide" Target="/ppt/notesSlides/notesSlide5.xml" Id="R43bbb6118c5c4b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779c06961a46a1" /><Relationship Type="http://schemas.openxmlformats.org/officeDocument/2006/relationships/notesSlide" Target="/ppt/notesSlides/notesSlide6.xml" Id="Raf81ced8e5b247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9cf33c9ce84a5d" /><Relationship Type="http://schemas.openxmlformats.org/officeDocument/2006/relationships/notesSlide" Target="/ppt/notesSlides/notesSlide7.xml" Id="R3dafceda1d1743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a13f24d65a40d4" /><Relationship Type="http://schemas.openxmlformats.org/officeDocument/2006/relationships/notesSlide" Target="/ppt/notesSlides/notesSlide8.xml" Id="Rea496f386ecc45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325c32fccd468a" /><Relationship Type="http://schemas.openxmlformats.org/officeDocument/2006/relationships/notesSlide" Target="/ppt/notesSlides/notesSlide9.xml" Id="R7fbb1ae9cd3641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9650f532014fed" /><Relationship Type="http://schemas.openxmlformats.org/officeDocument/2006/relationships/notesSlide" Target="/ppt/notesSlides/notesSlide10.xml" Id="R0943014d23014d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9eda6e148b4607" /><Relationship Type="http://schemas.openxmlformats.org/officeDocument/2006/relationships/notesSlide" Target="/ppt/notesSlides/notesSlide11.xml" Id="Rddf3799cd4724d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a2b93a70e4414c" /><Relationship Type="http://schemas.openxmlformats.org/officeDocument/2006/relationships/notesSlide" Target="/ppt/notesSlides/notesSlide12.xml" Id="R8979c42182aa4d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f4e98073204fea" /><Relationship Type="http://schemas.openxmlformats.org/officeDocument/2006/relationships/notesSlide" Target="/ppt/notesSlides/notesSlide13.xml" Id="Rf8f995d0e66345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d2fa7229ae84265" /><Relationship Type="http://schemas.openxmlformats.org/officeDocument/2006/relationships/notesSlide" Target="/ppt/notesSlides/notesSlide14.xml" Id="R28ebc8e1afc344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c4893e6be404198" /><Relationship Type="http://schemas.openxmlformats.org/officeDocument/2006/relationships/hyperlink" Target="https://github.com/sierra-research/tau2-bench" TargetMode="External" Id="R3c0dfbb729fb435e" /><Relationship Type="http://schemas.openxmlformats.org/officeDocument/2006/relationships/notesSlide" Target="/ppt/notesSlides/notesSlide15.xml" Id="Rc8b7cc43d1914947" /></Relationships>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73A82B-F05F-4F31-A95A-AD8E60566A7D}"/>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9C9C5"/>
                </a:solidFill>
                <a:latin typeface="Helvetica Neue"/>
                <a:ea typeface="Helvetica Neue"/>
                <a:cs typeface="Helvetica Neue"/>
              </a:defRPr>
            </a:defPPr>
            <a:lvl1pPr>
              <a:buNone/>
              <a:defRPr sz="1200" b="0">
                <a:solidFill>
                  <a:srgbClr val="A9C9C5"/>
                </a:solidFill>
                <a:latin typeface="Helvetica Neue"/>
                <a:ea typeface="Helvetica Neue"/>
                <a:cs typeface="Helvetica Neue"/>
              </a:defRPr>
            </a:lvl1pPr>
            <a:lvl2pPr>
              <a:buNone/>
              <a:defRPr sz="1200" b="0">
                <a:solidFill>
                  <a:srgbClr val="A9C9C5"/>
                </a:solidFill>
                <a:latin typeface="Helvetica Neue"/>
                <a:ea typeface="Helvetica Neue"/>
                <a:cs typeface="Helvetica Neue"/>
              </a:defRPr>
            </a:lvl2pPr>
            <a:lvl3pPr>
              <a:buNone/>
              <a:defRPr sz="1200" b="0">
                <a:solidFill>
                  <a:srgbClr val="A9C9C5"/>
                </a:solidFill>
                <a:latin typeface="Helvetica Neue"/>
                <a:ea typeface="Helvetica Neue"/>
                <a:cs typeface="Helvetica Neue"/>
              </a:defRPr>
            </a:lvl3pPr>
            <a:lvl4pPr>
              <a:buNone/>
              <a:defRPr sz="1200" b="0">
                <a:solidFill>
                  <a:srgbClr val="A9C9C5"/>
                </a:solidFill>
                <a:latin typeface="Helvetica Neue"/>
                <a:ea typeface="Helvetica Neue"/>
                <a:cs typeface="Helvetica Neue"/>
              </a:defRPr>
            </a:lvl4pPr>
            <a:lvl5pPr>
              <a:buNone/>
              <a:defRPr sz="1200" b="0">
                <a:solidFill>
                  <a:srgbClr val="A9C9C5"/>
                </a:solidFill>
                <a:latin typeface="Helvetica Neue"/>
                <a:ea typeface="Helvetica Neue"/>
                <a:cs typeface="Helvetica Neue"/>
              </a:defRPr>
            </a:lvl5pPr>
            <a:lvl6pPr>
              <a:buNone/>
              <a:defRPr sz="1200" b="0">
                <a:solidFill>
                  <a:srgbClr val="A9C9C5"/>
                </a:solidFill>
                <a:latin typeface="Helvetica Neue"/>
                <a:ea typeface="Helvetica Neue"/>
                <a:cs typeface="Helvetica Neue"/>
              </a:defRPr>
            </a:lvl6pPr>
            <a:lvl7pPr>
              <a:buNone/>
              <a:defRPr sz="1200" b="0">
                <a:solidFill>
                  <a:srgbClr val="A9C9C5"/>
                </a:solidFill>
                <a:latin typeface="Helvetica Neue"/>
                <a:ea typeface="Helvetica Neue"/>
                <a:cs typeface="Helvetica Neue"/>
              </a:defRPr>
            </a:lvl7pPr>
            <a:lvl8pPr>
              <a:buNone/>
              <a:defRPr sz="1200" b="0">
                <a:solidFill>
                  <a:srgbClr val="A9C9C5"/>
                </a:solidFill>
                <a:latin typeface="Helvetica Neue"/>
                <a:ea typeface="Helvetica Neue"/>
                <a:cs typeface="Helvetica Neue"/>
              </a:defRPr>
            </a:lvl8pPr>
            <a:lvl9pPr>
              <a:buNone/>
              <a:defRPr sz="1200" b="0">
                <a:solidFill>
                  <a:srgbClr val="A9C9C5"/>
                </a:solidFill>
                <a:latin typeface="Helvetica Neue"/>
                <a:ea typeface="Helvetica Neue"/>
                <a:cs typeface="Helvetica Neue"/>
              </a:defRPr>
            </a:lvl9pPr>
          </a:lstStyle>
          <a:p xmlns:a="http://schemas.openxmlformats.org/drawingml/2006/main">
            <a:pPr>
              <a:buNone/>
              <a:defRPr sz="1200" b="0">
                <a:solidFill>
                  <a:srgbClr val="A9C9C5"/>
                </a:solidFill>
                <a:latin typeface="Helvetica Neue"/>
                <a:ea typeface="Helvetica Neue"/>
                <a:cs typeface="Helvetica Neue"/>
              </a:defRPr>
            </a:pPr>
            <a:r>
              <a:rPr sz="1200" b="0">
                <a:solidFill>
                  <a:srgbClr val="A9C9C5"/>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CEC20139-3162-45B8-BB5A-C722FABF2F56}"/>
              </a:ext>
            </a:extLst>
          </p:cNvPr>
          <p:cNvSpPr>
            <a:spLocks xmlns:a="http://schemas.openxmlformats.org/drawingml/2006/main" noGrp="1"/>
          </p:cNvSpPr>
          <p:nvPr/>
        </p:nvSpPr>
        <p:spPr>
          <a:xfrm xmlns:a="http://schemas.openxmlformats.org/drawingml/2006/main">
            <a:off x="609600" y="1428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FFFFFF"/>
                </a:solidFill>
                <a:latin typeface="Helvetica Neue"/>
                <a:ea typeface="Helvetica Neue"/>
                <a:cs typeface="Helvetica Neue"/>
              </a:defRPr>
            </a:defPPr>
            <a:lvl1pPr>
              <a:buNone/>
              <a:defRPr sz="5400" b="1">
                <a:solidFill>
                  <a:srgbClr val="FFFFFF"/>
                </a:solidFill>
                <a:latin typeface="Helvetica Neue"/>
                <a:ea typeface="Helvetica Neue"/>
                <a:cs typeface="Helvetica Neue"/>
              </a:defRPr>
            </a:lvl1pPr>
            <a:lvl2pPr>
              <a:buNone/>
              <a:defRPr sz="5400" b="1">
                <a:solidFill>
                  <a:srgbClr val="FFFFFF"/>
                </a:solidFill>
                <a:latin typeface="Helvetica Neue"/>
                <a:ea typeface="Helvetica Neue"/>
                <a:cs typeface="Helvetica Neue"/>
              </a:defRPr>
            </a:lvl2pPr>
            <a:lvl3pPr>
              <a:buNone/>
              <a:defRPr sz="5400" b="1">
                <a:solidFill>
                  <a:srgbClr val="FFFFFF"/>
                </a:solidFill>
                <a:latin typeface="Helvetica Neue"/>
                <a:ea typeface="Helvetica Neue"/>
                <a:cs typeface="Helvetica Neue"/>
              </a:defRPr>
            </a:lvl3pPr>
            <a:lvl4pPr>
              <a:buNone/>
              <a:defRPr sz="5400" b="1">
                <a:solidFill>
                  <a:srgbClr val="FFFFFF"/>
                </a:solidFill>
                <a:latin typeface="Helvetica Neue"/>
                <a:ea typeface="Helvetica Neue"/>
                <a:cs typeface="Helvetica Neue"/>
              </a:defRPr>
            </a:lvl4pPr>
            <a:lvl5pPr>
              <a:buNone/>
              <a:defRPr sz="5400" b="1">
                <a:solidFill>
                  <a:srgbClr val="FFFFFF"/>
                </a:solidFill>
                <a:latin typeface="Helvetica Neue"/>
                <a:ea typeface="Helvetica Neue"/>
                <a:cs typeface="Helvetica Neue"/>
              </a:defRPr>
            </a:lvl5pPr>
            <a:lvl6pPr>
              <a:buNone/>
              <a:defRPr sz="5400" b="1">
                <a:solidFill>
                  <a:srgbClr val="FFFFFF"/>
                </a:solidFill>
                <a:latin typeface="Helvetica Neue"/>
                <a:ea typeface="Helvetica Neue"/>
                <a:cs typeface="Helvetica Neue"/>
              </a:defRPr>
            </a:lvl6pPr>
            <a:lvl7pPr>
              <a:buNone/>
              <a:defRPr sz="5400" b="1">
                <a:solidFill>
                  <a:srgbClr val="FFFFFF"/>
                </a:solidFill>
                <a:latin typeface="Helvetica Neue"/>
                <a:ea typeface="Helvetica Neue"/>
                <a:cs typeface="Helvetica Neue"/>
              </a:defRPr>
            </a:lvl7pPr>
            <a:lvl8pPr>
              <a:buNone/>
              <a:defRPr sz="5400" b="1">
                <a:solidFill>
                  <a:srgbClr val="FFFFFF"/>
                </a:solidFill>
                <a:latin typeface="Helvetica Neue"/>
                <a:ea typeface="Helvetica Neue"/>
                <a:cs typeface="Helvetica Neue"/>
              </a:defRPr>
            </a:lvl8pPr>
            <a:lvl9pPr>
              <a:buNone/>
              <a:defRPr sz="5400" b="1">
                <a:solidFill>
                  <a:srgbClr val="FFFFFF"/>
                </a:solidFill>
                <a:latin typeface="Helvetica Neue"/>
                <a:ea typeface="Helvetica Neue"/>
                <a:cs typeface="Helvetica Neue"/>
              </a:defRPr>
            </a:lvl9pPr>
          </a:lstStyle>
          <a:p xmlns:a="http://schemas.openxmlformats.org/drawingml/2006/main">
            <a:pPr>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tau2-bench</a:t>
            </a:r>
          </a:p>
        </p:txBody>
      </p:sp>
      <p:sp>
        <p:nvSpPr>
          <p:cNvPr id="3" name="">
            <a:extLst xmlns:a="http://schemas.openxmlformats.org/drawingml/2006/main">
              <a:ext uri="{FF2B5EF4-FFF2-40B4-BE49-F238E27FC236}">
                <a16:creationId xmlns:a16="http://schemas.microsoft.com/office/drawing/2014/main" id="{229E81F7-19EA-4257-8217-3CE0914126F0}"/>
              </a:ext>
            </a:extLst>
          </p:cNvPr>
          <p:cNvSpPr>
            <a:spLocks xmlns:a="http://schemas.openxmlformats.org/drawingml/2006/main" noGrp="1"/>
          </p:cNvSpPr>
          <p:nvPr/>
        </p:nvSpPr>
        <p:spPr>
          <a:xfrm xmlns:a="http://schemas.openxmlformats.org/drawingml/2006/main">
            <a:off x="647700" y="34766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9D7D2"/>
                </a:solidFill>
                <a:latin typeface="Helvetica Neue"/>
                <a:ea typeface="Helvetica Neue"/>
                <a:cs typeface="Helvetica Neue"/>
              </a:defRPr>
            </a:defPPr>
            <a:lvl1pPr>
              <a:buNone/>
              <a:defRPr sz="2400" b="0">
                <a:solidFill>
                  <a:srgbClr val="B9D7D2"/>
                </a:solidFill>
                <a:latin typeface="Helvetica Neue"/>
                <a:ea typeface="Helvetica Neue"/>
                <a:cs typeface="Helvetica Neue"/>
              </a:defRPr>
            </a:lvl1pPr>
            <a:lvl2pPr>
              <a:buNone/>
              <a:defRPr sz="2400" b="0">
                <a:solidFill>
                  <a:srgbClr val="B9D7D2"/>
                </a:solidFill>
                <a:latin typeface="Helvetica Neue"/>
                <a:ea typeface="Helvetica Neue"/>
                <a:cs typeface="Helvetica Neue"/>
              </a:defRPr>
            </a:lvl2pPr>
            <a:lvl3pPr>
              <a:buNone/>
              <a:defRPr sz="2400" b="0">
                <a:solidFill>
                  <a:srgbClr val="B9D7D2"/>
                </a:solidFill>
                <a:latin typeface="Helvetica Neue"/>
                <a:ea typeface="Helvetica Neue"/>
                <a:cs typeface="Helvetica Neue"/>
              </a:defRPr>
            </a:lvl3pPr>
            <a:lvl4pPr>
              <a:buNone/>
              <a:defRPr sz="2400" b="0">
                <a:solidFill>
                  <a:srgbClr val="B9D7D2"/>
                </a:solidFill>
                <a:latin typeface="Helvetica Neue"/>
                <a:ea typeface="Helvetica Neue"/>
                <a:cs typeface="Helvetica Neue"/>
              </a:defRPr>
            </a:lvl4pPr>
            <a:lvl5pPr>
              <a:buNone/>
              <a:defRPr sz="2400" b="0">
                <a:solidFill>
                  <a:srgbClr val="B9D7D2"/>
                </a:solidFill>
                <a:latin typeface="Helvetica Neue"/>
                <a:ea typeface="Helvetica Neue"/>
                <a:cs typeface="Helvetica Neue"/>
              </a:defRPr>
            </a:lvl5pPr>
            <a:lvl6pPr>
              <a:buNone/>
              <a:defRPr sz="2400" b="0">
                <a:solidFill>
                  <a:srgbClr val="B9D7D2"/>
                </a:solidFill>
                <a:latin typeface="Helvetica Neue"/>
                <a:ea typeface="Helvetica Neue"/>
                <a:cs typeface="Helvetica Neue"/>
              </a:defRPr>
            </a:lvl6pPr>
            <a:lvl7pPr>
              <a:buNone/>
              <a:defRPr sz="2400" b="0">
                <a:solidFill>
                  <a:srgbClr val="B9D7D2"/>
                </a:solidFill>
                <a:latin typeface="Helvetica Neue"/>
                <a:ea typeface="Helvetica Neue"/>
                <a:cs typeface="Helvetica Neue"/>
              </a:defRPr>
            </a:lvl7pPr>
            <a:lvl8pPr>
              <a:buNone/>
              <a:defRPr sz="2400" b="0">
                <a:solidFill>
                  <a:srgbClr val="B9D7D2"/>
                </a:solidFill>
                <a:latin typeface="Helvetica Neue"/>
                <a:ea typeface="Helvetica Neue"/>
                <a:cs typeface="Helvetica Neue"/>
              </a:defRPr>
            </a:lvl8pPr>
            <a:lvl9pPr>
              <a:buNone/>
              <a:defRPr sz="2400" b="0">
                <a:solidFill>
                  <a:srgbClr val="B9D7D2"/>
                </a:solidFill>
                <a:latin typeface="Helvetica Neue"/>
                <a:ea typeface="Helvetica Neue"/>
                <a:cs typeface="Helvetica Neue"/>
              </a:defRPr>
            </a:lvl9pPr>
          </a:lstStyle>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Architecture, agent interfaces and evaluation</a:t>
            </a:r>
          </a:p>
          <a:p xmlns:a="http://schemas.openxmlformats.org/drawingml/2006/main">
            <a:pPr>
              <a:buNone/>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 retail task walkthrough</a:t>
            </a:r>
          </a:p>
        </p:txBody>
      </p:sp>
      <p:sp>
        <p:nvSpPr>
          <p:cNvPr id="4" name="">
            <a:extLst xmlns:a="http://schemas.openxmlformats.org/drawingml/2006/main">
              <a:ext uri="{FF2B5EF4-FFF2-40B4-BE49-F238E27FC236}">
                <a16:creationId xmlns:a16="http://schemas.microsoft.com/office/drawing/2014/main" id="{5726848B-60A2-48F1-8C67-2AE7A82802B7}"/>
              </a:ext>
            </a:extLst>
          </p:cNvPr>
          <p:cNvSpPr>
            <a:spLocks xmlns:a="http://schemas.openxmlformats.org/drawingml/2006/main" noGrp="1"/>
          </p:cNvSpPr>
          <p:nvPr/>
        </p:nvSpPr>
        <p:spPr>
          <a:xfrm xmlns:a="http://schemas.openxmlformats.org/drawingml/2006/main">
            <a:off x="647700" y="5619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9D7D2"/>
                </a:solidFill>
                <a:latin typeface="Helvetica Neue"/>
                <a:ea typeface="Helvetica Neue"/>
                <a:cs typeface="Helvetica Neue"/>
              </a:defRPr>
            </a:defPPr>
            <a:lvl1pPr>
              <a:buNone/>
              <a:defRPr sz="1725" b="0">
                <a:solidFill>
                  <a:srgbClr val="B9D7D2"/>
                </a:solidFill>
                <a:latin typeface="Helvetica Neue"/>
                <a:ea typeface="Helvetica Neue"/>
                <a:cs typeface="Helvetica Neue"/>
              </a:defRPr>
            </a:lvl1pPr>
            <a:lvl2pPr>
              <a:buNone/>
              <a:defRPr sz="1725" b="0">
                <a:solidFill>
                  <a:srgbClr val="B9D7D2"/>
                </a:solidFill>
                <a:latin typeface="Helvetica Neue"/>
                <a:ea typeface="Helvetica Neue"/>
                <a:cs typeface="Helvetica Neue"/>
              </a:defRPr>
            </a:lvl2pPr>
            <a:lvl3pPr>
              <a:buNone/>
              <a:defRPr sz="1725" b="0">
                <a:solidFill>
                  <a:srgbClr val="B9D7D2"/>
                </a:solidFill>
                <a:latin typeface="Helvetica Neue"/>
                <a:ea typeface="Helvetica Neue"/>
                <a:cs typeface="Helvetica Neue"/>
              </a:defRPr>
            </a:lvl3pPr>
            <a:lvl4pPr>
              <a:buNone/>
              <a:defRPr sz="1725" b="0">
                <a:solidFill>
                  <a:srgbClr val="B9D7D2"/>
                </a:solidFill>
                <a:latin typeface="Helvetica Neue"/>
                <a:ea typeface="Helvetica Neue"/>
                <a:cs typeface="Helvetica Neue"/>
              </a:defRPr>
            </a:lvl4pPr>
            <a:lvl5pPr>
              <a:buNone/>
              <a:defRPr sz="1725" b="0">
                <a:solidFill>
                  <a:srgbClr val="B9D7D2"/>
                </a:solidFill>
                <a:latin typeface="Helvetica Neue"/>
                <a:ea typeface="Helvetica Neue"/>
                <a:cs typeface="Helvetica Neue"/>
              </a:defRPr>
            </a:lvl5pPr>
            <a:lvl6pPr>
              <a:buNone/>
              <a:defRPr sz="1725" b="0">
                <a:solidFill>
                  <a:srgbClr val="B9D7D2"/>
                </a:solidFill>
                <a:latin typeface="Helvetica Neue"/>
                <a:ea typeface="Helvetica Neue"/>
                <a:cs typeface="Helvetica Neue"/>
              </a:defRPr>
            </a:lvl6pPr>
            <a:lvl7pPr>
              <a:buNone/>
              <a:defRPr sz="1725" b="0">
                <a:solidFill>
                  <a:srgbClr val="B9D7D2"/>
                </a:solidFill>
                <a:latin typeface="Helvetica Neue"/>
                <a:ea typeface="Helvetica Neue"/>
                <a:cs typeface="Helvetica Neue"/>
              </a:defRPr>
            </a:lvl7pPr>
            <a:lvl8pPr>
              <a:buNone/>
              <a:defRPr sz="1725" b="0">
                <a:solidFill>
                  <a:srgbClr val="B9D7D2"/>
                </a:solidFill>
                <a:latin typeface="Helvetica Neue"/>
                <a:ea typeface="Helvetica Neue"/>
                <a:cs typeface="Helvetica Neue"/>
              </a:defRPr>
            </a:lvl8pPr>
            <a:lvl9pPr>
              <a:buNone/>
              <a:defRPr sz="1725" b="0">
                <a:solidFill>
                  <a:srgbClr val="B9D7D2"/>
                </a:solidFill>
                <a:latin typeface="Helvetica Neue"/>
                <a:ea typeface="Helvetica Neue"/>
                <a:cs typeface="Helvetica Neue"/>
              </a:defRPr>
            </a:lvl9pPr>
          </a:lstStyle>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Rosso Han</a:t>
            </a:r>
          </a:p>
          <a:p xmlns:a="http://schemas.openxmlformats.org/drawingml/2006/main">
            <a:pPr>
              <a:buNone/>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October 2026</a:t>
            </a:r>
          </a:p>
        </p:txBody>
      </p:sp>
    </p:spTree>
    <p:extLst>
      <p:ext uri="{BB962C8B-B14F-4D97-AF65-F5344CB8AC3E}">
        <p14:creationId xmlns:p14="http://schemas.microsoft.com/office/powerpoint/2010/main" val="198772219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B061D5-9E00-4148-988E-CE8C855C35C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AC8AC5C-A079-491A-AA59-0BEA331A8238}"/>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What tau2-bench evaluates</a:t>
            </a:r>
          </a:p>
        </p:txBody>
      </p:sp>
      <p:sp>
        <p:nvSpPr>
          <p:cNvPr id="3" name="">
            <a:extLst xmlns:a="http://schemas.openxmlformats.org/drawingml/2006/main">
              <a:ext uri="{FF2B5EF4-FFF2-40B4-BE49-F238E27FC236}">
                <a16:creationId xmlns:a16="http://schemas.microsoft.com/office/drawing/2014/main" id="{3E1E16C1-2442-49E5-A12D-795E4A581E2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Conversational agents that use tools to complete customer-service tasks</a:t>
            </a:r>
          </a:p>
        </p:txBody>
      </p:sp>
      <p:sp>
        <p:nvSpPr>
          <p:cNvPr id="4" name="">
            <a:extLst xmlns:a="http://schemas.openxmlformats.org/drawingml/2006/main">
              <a:ext uri="{FF2B5EF4-FFF2-40B4-BE49-F238E27FC236}">
                <a16:creationId xmlns:a16="http://schemas.microsoft.com/office/drawing/2014/main" id="{A4327AF0-7FDA-49B9-B4FB-22A7A21EC968}"/>
              </a:ext>
            </a:extLst>
          </p:cNvPr>
          <p:cNvSpPr>
            <a:spLocks xmlns:a="http://schemas.openxmlformats.org/drawingml/2006/main" noGrp="1"/>
          </p:cNvSpPr>
          <p:nvPr/>
        </p:nvSpPr>
        <p:spPr>
          <a:xfrm xmlns:a="http://schemas.openxmlformats.org/drawingml/2006/main">
            <a:off x="62865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02B36"/>
                </a:solidFill>
                <a:latin typeface="Helvetica Neue"/>
                <a:ea typeface="Helvetica Neue"/>
                <a:cs typeface="Helvetica Neue"/>
              </a:defRPr>
            </a:defPPr>
            <a:lvl1pPr>
              <a:buNone/>
              <a:defRPr sz="3000" b="1">
                <a:solidFill>
                  <a:srgbClr val="102B36"/>
                </a:solidFill>
                <a:latin typeface="Helvetica Neue"/>
                <a:ea typeface="Helvetica Neue"/>
                <a:cs typeface="Helvetica Neue"/>
              </a:defRPr>
            </a:lvl1pPr>
            <a:lvl2pPr>
              <a:buNone/>
              <a:defRPr sz="3000" b="1">
                <a:solidFill>
                  <a:srgbClr val="102B36"/>
                </a:solidFill>
                <a:latin typeface="Helvetica Neue"/>
                <a:ea typeface="Helvetica Neue"/>
                <a:cs typeface="Helvetica Neue"/>
              </a:defRPr>
            </a:lvl2pPr>
            <a:lvl3pPr>
              <a:buNone/>
              <a:defRPr sz="3000" b="1">
                <a:solidFill>
                  <a:srgbClr val="102B36"/>
                </a:solidFill>
                <a:latin typeface="Helvetica Neue"/>
                <a:ea typeface="Helvetica Neue"/>
                <a:cs typeface="Helvetica Neue"/>
              </a:defRPr>
            </a:lvl3pPr>
            <a:lvl4pPr>
              <a:buNone/>
              <a:defRPr sz="3000" b="1">
                <a:solidFill>
                  <a:srgbClr val="102B36"/>
                </a:solidFill>
                <a:latin typeface="Helvetica Neue"/>
                <a:ea typeface="Helvetica Neue"/>
                <a:cs typeface="Helvetica Neue"/>
              </a:defRPr>
            </a:lvl4pPr>
            <a:lvl5pPr>
              <a:buNone/>
              <a:defRPr sz="3000" b="1">
                <a:solidFill>
                  <a:srgbClr val="102B36"/>
                </a:solidFill>
                <a:latin typeface="Helvetica Neue"/>
                <a:ea typeface="Helvetica Neue"/>
                <a:cs typeface="Helvetica Neue"/>
              </a:defRPr>
            </a:lvl5pPr>
            <a:lvl6pPr>
              <a:buNone/>
              <a:defRPr sz="3000" b="1">
                <a:solidFill>
                  <a:srgbClr val="102B36"/>
                </a:solidFill>
                <a:latin typeface="Helvetica Neue"/>
                <a:ea typeface="Helvetica Neue"/>
                <a:cs typeface="Helvetica Neue"/>
              </a:defRPr>
            </a:lvl6pPr>
            <a:lvl7pPr>
              <a:buNone/>
              <a:defRPr sz="3000" b="1">
                <a:solidFill>
                  <a:srgbClr val="102B36"/>
                </a:solidFill>
                <a:latin typeface="Helvetica Neue"/>
                <a:ea typeface="Helvetica Neue"/>
                <a:cs typeface="Helvetica Neue"/>
              </a:defRPr>
            </a:lvl7pPr>
            <a:lvl8pPr>
              <a:buNone/>
              <a:defRPr sz="3000" b="1">
                <a:solidFill>
                  <a:srgbClr val="102B36"/>
                </a:solidFill>
                <a:latin typeface="Helvetica Neue"/>
                <a:ea typeface="Helvetica Neue"/>
                <a:cs typeface="Helvetica Neue"/>
              </a:defRPr>
            </a:lvl8pPr>
            <a:lvl9pPr>
              <a:buNone/>
              <a:defRPr sz="3000" b="1">
                <a:solidFill>
                  <a:srgbClr val="102B36"/>
                </a:solidFill>
                <a:latin typeface="Helvetica Neue"/>
                <a:ea typeface="Helvetica Neue"/>
                <a:cs typeface="Helvetica Neue"/>
              </a:defRPr>
            </a:lvl9pPr>
          </a:lstStyle>
          <a:p xmlns:a="http://schemas.openxmlformats.org/drawingml/2006/main">
            <a:pPr>
              <a:buNone/>
              <a:defRPr sz="3000" b="1">
                <a:solidFill>
                  <a:srgbClr val="102B36"/>
                </a:solidFill>
                <a:latin typeface="Helvetica Neue"/>
                <a:ea typeface="Helvetica Neue"/>
                <a:cs typeface="Helvetica Neue"/>
              </a:defRPr>
            </a:pPr>
            <a:r>
              <a:rPr sz="3000" b="1">
                <a:solidFill>
                  <a:srgbClr val="102B36"/>
                </a:solidFill>
                <a:latin typeface="Helvetica Neue"/>
                <a:ea typeface="Helvetica Neue"/>
                <a:cs typeface="Helvetica Neue"/>
              </a:rPr>
              <a:t>Multi-turn customer interactions</a:t>
            </a:r>
          </a:p>
        </p:txBody>
      </p:sp>
      <p:sp>
        <p:nvSpPr>
          <p:cNvPr id="5" name="">
            <a:extLst xmlns:a="http://schemas.openxmlformats.org/drawingml/2006/main">
              <a:ext uri="{FF2B5EF4-FFF2-40B4-BE49-F238E27FC236}">
                <a16:creationId xmlns:a16="http://schemas.microsoft.com/office/drawing/2014/main" id="{2AA13E1D-EE39-498F-A7B4-830E1739286A}"/>
              </a:ext>
            </a:extLst>
          </p:cNvPr>
          <p:cNvSpPr>
            <a:spLocks xmlns:a="http://schemas.openxmlformats.org/drawingml/2006/main" noGrp="1"/>
          </p:cNvSpPr>
          <p:nvPr/>
        </p:nvSpPr>
        <p:spPr>
          <a:xfrm xmlns:a="http://schemas.openxmlformats.org/drawingml/2006/main">
            <a:off x="628650" y="28860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A simulated customer reveals goals and responds to the agent.</a:t>
            </a:r>
          </a:p>
        </p:txBody>
      </p:sp>
      <p:sp>
        <p:nvSpPr>
          <p:cNvPr id="6" name="">
            <a:extLst xmlns:a="http://schemas.openxmlformats.org/drawingml/2006/main">
              <a:ext uri="{FF2B5EF4-FFF2-40B4-BE49-F238E27FC236}">
                <a16:creationId xmlns:a16="http://schemas.microsoft.com/office/drawing/2014/main" id="{80AD138A-4E0B-49F5-B202-04152589B4E4}"/>
              </a:ext>
            </a:extLst>
          </p:cNvPr>
          <p:cNvSpPr>
            <a:spLocks xmlns:a="http://schemas.openxmlformats.org/drawingml/2006/main" noGrp="1"/>
          </p:cNvSpPr>
          <p:nvPr/>
        </p:nvSpPr>
        <p:spPr>
          <a:xfrm xmlns:a="http://schemas.openxmlformats.org/drawingml/2006/main">
            <a:off x="628650" y="38100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07B78"/>
                </a:solidFill>
                <a:latin typeface="Helvetica Neue"/>
                <a:ea typeface="Helvetica Neue"/>
                <a:cs typeface="Helvetica Neue"/>
              </a:defRPr>
            </a:defPPr>
            <a:lvl1pPr>
              <a:buNone/>
              <a:defRPr sz="3000" b="1">
                <a:solidFill>
                  <a:srgbClr val="007B78"/>
                </a:solidFill>
                <a:latin typeface="Helvetica Neue"/>
                <a:ea typeface="Helvetica Neue"/>
                <a:cs typeface="Helvetica Neue"/>
              </a:defRPr>
            </a:lvl1pPr>
            <a:lvl2pPr>
              <a:buNone/>
              <a:defRPr sz="3000" b="1">
                <a:solidFill>
                  <a:srgbClr val="007B78"/>
                </a:solidFill>
                <a:latin typeface="Helvetica Neue"/>
                <a:ea typeface="Helvetica Neue"/>
                <a:cs typeface="Helvetica Neue"/>
              </a:defRPr>
            </a:lvl2pPr>
            <a:lvl3pPr>
              <a:buNone/>
              <a:defRPr sz="3000" b="1">
                <a:solidFill>
                  <a:srgbClr val="007B78"/>
                </a:solidFill>
                <a:latin typeface="Helvetica Neue"/>
                <a:ea typeface="Helvetica Neue"/>
                <a:cs typeface="Helvetica Neue"/>
              </a:defRPr>
            </a:lvl3pPr>
            <a:lvl4pPr>
              <a:buNone/>
              <a:defRPr sz="3000" b="1">
                <a:solidFill>
                  <a:srgbClr val="007B78"/>
                </a:solidFill>
                <a:latin typeface="Helvetica Neue"/>
                <a:ea typeface="Helvetica Neue"/>
                <a:cs typeface="Helvetica Neue"/>
              </a:defRPr>
            </a:lvl4pPr>
            <a:lvl5pPr>
              <a:buNone/>
              <a:defRPr sz="3000" b="1">
                <a:solidFill>
                  <a:srgbClr val="007B78"/>
                </a:solidFill>
                <a:latin typeface="Helvetica Neue"/>
                <a:ea typeface="Helvetica Neue"/>
                <a:cs typeface="Helvetica Neue"/>
              </a:defRPr>
            </a:lvl5pPr>
            <a:lvl6pPr>
              <a:buNone/>
              <a:defRPr sz="3000" b="1">
                <a:solidFill>
                  <a:srgbClr val="007B78"/>
                </a:solidFill>
                <a:latin typeface="Helvetica Neue"/>
                <a:ea typeface="Helvetica Neue"/>
                <a:cs typeface="Helvetica Neue"/>
              </a:defRPr>
            </a:lvl6pPr>
            <a:lvl7pPr>
              <a:buNone/>
              <a:defRPr sz="3000" b="1">
                <a:solidFill>
                  <a:srgbClr val="007B78"/>
                </a:solidFill>
                <a:latin typeface="Helvetica Neue"/>
                <a:ea typeface="Helvetica Neue"/>
                <a:cs typeface="Helvetica Neue"/>
              </a:defRPr>
            </a:lvl7pPr>
            <a:lvl8pPr>
              <a:buNone/>
              <a:defRPr sz="3000" b="1">
                <a:solidFill>
                  <a:srgbClr val="007B78"/>
                </a:solidFill>
                <a:latin typeface="Helvetica Neue"/>
                <a:ea typeface="Helvetica Neue"/>
                <a:cs typeface="Helvetica Neue"/>
              </a:defRPr>
            </a:lvl8pPr>
            <a:lvl9pPr>
              <a:buNone/>
              <a:defRPr sz="3000" b="1">
                <a:solidFill>
                  <a:srgbClr val="007B78"/>
                </a:solidFill>
                <a:latin typeface="Helvetica Neue"/>
                <a:ea typeface="Helvetica Neue"/>
                <a:cs typeface="Helvetica Neue"/>
              </a:defRPr>
            </a:lvl9pPr>
          </a:lstStyle>
          <a:p xmlns:a="http://schemas.openxmlformats.org/drawingml/2006/main">
            <a:pPr>
              <a:buNone/>
              <a:defRPr sz="3000" b="1">
                <a:solidFill>
                  <a:srgbClr val="007B78"/>
                </a:solidFill>
                <a:latin typeface="Helvetica Neue"/>
                <a:ea typeface="Helvetica Neue"/>
                <a:cs typeface="Helvetica Neue"/>
              </a:defRPr>
            </a:pPr>
            <a:r>
              <a:rPr sz="3000" b="1">
                <a:solidFill>
                  <a:srgbClr val="007B78"/>
                </a:solidFill>
                <a:latin typeface="Helvetica Neue"/>
                <a:ea typeface="Helvetica Neue"/>
                <a:cs typeface="Helvetica Neue"/>
              </a:rPr>
              <a:t>Tool use in a stateful environment</a:t>
            </a:r>
          </a:p>
        </p:txBody>
      </p:sp>
      <p:sp>
        <p:nvSpPr>
          <p:cNvPr id="7" name="">
            <a:extLst xmlns:a="http://schemas.openxmlformats.org/drawingml/2006/main">
              <a:ext uri="{FF2B5EF4-FFF2-40B4-BE49-F238E27FC236}">
                <a16:creationId xmlns:a16="http://schemas.microsoft.com/office/drawing/2014/main" id="{C7542A3E-2D02-461E-9180-09D2C988ACC1}"/>
              </a:ext>
            </a:extLst>
          </p:cNvPr>
          <p:cNvSpPr>
            <a:spLocks xmlns:a="http://schemas.openxmlformats.org/drawingml/2006/main" noGrp="1"/>
          </p:cNvSpPr>
          <p:nvPr/>
        </p:nvSpPr>
        <p:spPr>
          <a:xfrm xmlns:a="http://schemas.openxmlformats.org/drawingml/2006/main">
            <a:off x="628650" y="44577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buNone/>
              <a:defRPr sz="2100" b="0">
                <a:solidFill>
                  <a:srgbClr val="50636A"/>
                </a:solidFill>
                <a:latin typeface="Helvetica Neue"/>
                <a:ea typeface="Helvetica Neue"/>
                <a:cs typeface="Helvetica Neue"/>
              </a:defRPr>
            </a:lvl1pPr>
            <a:lvl2pPr>
              <a:buNone/>
              <a:defRPr sz="2100" b="0">
                <a:solidFill>
                  <a:srgbClr val="50636A"/>
                </a:solidFill>
                <a:latin typeface="Helvetica Neue"/>
                <a:ea typeface="Helvetica Neue"/>
                <a:cs typeface="Helvetica Neue"/>
              </a:defRPr>
            </a:lvl2pPr>
            <a:lvl3pPr>
              <a:buNone/>
              <a:defRPr sz="2100" b="0">
                <a:solidFill>
                  <a:srgbClr val="50636A"/>
                </a:solidFill>
                <a:latin typeface="Helvetica Neue"/>
                <a:ea typeface="Helvetica Neue"/>
                <a:cs typeface="Helvetica Neue"/>
              </a:defRPr>
            </a:lvl3pPr>
            <a:lvl4pPr>
              <a:buNone/>
              <a:defRPr sz="2100" b="0">
                <a:solidFill>
                  <a:srgbClr val="50636A"/>
                </a:solidFill>
                <a:latin typeface="Helvetica Neue"/>
                <a:ea typeface="Helvetica Neue"/>
                <a:cs typeface="Helvetica Neue"/>
              </a:defRPr>
            </a:lvl4pPr>
            <a:lvl5pPr>
              <a:buNone/>
              <a:defRPr sz="2100" b="0">
                <a:solidFill>
                  <a:srgbClr val="50636A"/>
                </a:solidFill>
                <a:latin typeface="Helvetica Neue"/>
                <a:ea typeface="Helvetica Neue"/>
                <a:cs typeface="Helvetica Neue"/>
              </a:defRPr>
            </a:lvl5pPr>
            <a:lvl6pPr>
              <a:buNone/>
              <a:defRPr sz="2100" b="0">
                <a:solidFill>
                  <a:srgbClr val="50636A"/>
                </a:solidFill>
                <a:latin typeface="Helvetica Neue"/>
                <a:ea typeface="Helvetica Neue"/>
                <a:cs typeface="Helvetica Neue"/>
              </a:defRPr>
            </a:lvl6pPr>
            <a:lvl7pPr>
              <a:buNone/>
              <a:defRPr sz="2100" b="0">
                <a:solidFill>
                  <a:srgbClr val="50636A"/>
                </a:solidFill>
                <a:latin typeface="Helvetica Neue"/>
                <a:ea typeface="Helvetica Neue"/>
                <a:cs typeface="Helvetica Neue"/>
              </a:defRPr>
            </a:lvl7pPr>
            <a:lvl8pPr>
              <a:buNone/>
              <a:defRPr sz="2100" b="0">
                <a:solidFill>
                  <a:srgbClr val="50636A"/>
                </a:solidFill>
                <a:latin typeface="Helvetica Neue"/>
                <a:ea typeface="Helvetica Neue"/>
                <a:cs typeface="Helvetica Neue"/>
              </a:defRPr>
            </a:lvl8pPr>
            <a:lvl9pPr>
              <a:buNone/>
              <a:defRPr sz="2100" b="0">
                <a:solidFill>
                  <a:srgbClr val="50636A"/>
                </a:solidFill>
                <a:latin typeface="Helvetica Neue"/>
                <a:ea typeface="Helvetica Neue"/>
                <a:cs typeface="Helvetica Neue"/>
              </a:defRPr>
            </a:lvl9pPr>
          </a:lstStyle>
          <a:p xmlns:a="http://schemas.openxmlformats.org/drawingml/2006/main">
            <a:pPr>
              <a:buNone/>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Domain tools change orders and other records that evaluators inspect.</a:t>
            </a:r>
          </a:p>
        </p:txBody>
      </p:sp>
      <p:sp>
        <p:nvSpPr>
          <p:cNvPr id="8" name="">
            <a:extLst xmlns:a="http://schemas.openxmlformats.org/drawingml/2006/main">
              <a:ext uri="{FF2B5EF4-FFF2-40B4-BE49-F238E27FC236}">
                <a16:creationId xmlns:a16="http://schemas.microsoft.com/office/drawing/2014/main" id="{27004662-AA76-4F6C-BB8A-ED13D62DA102}"/>
              </a:ext>
            </a:extLst>
          </p:cNvPr>
          <p:cNvSpPr>
            <a:spLocks xmlns:a="http://schemas.openxmlformats.org/drawingml/2006/main" noGrp="1"/>
          </p:cNvSpPr>
          <p:nvPr/>
        </p:nvSpPr>
        <p:spPr>
          <a:xfrm xmlns:a="http://schemas.openxmlformats.org/drawingml/2006/main">
            <a:off x="628650" y="56959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Domains include retail, airline and telecom. The repository also supports voice.</a:t>
            </a:r>
          </a:p>
        </p:txBody>
      </p:sp>
    </p:spTree>
    <p:extLst>
      <p:ext uri="{BB962C8B-B14F-4D97-AF65-F5344CB8AC3E}">
        <p14:creationId xmlns:p14="http://schemas.microsoft.com/office/powerpoint/2010/main" val="162317534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319B8E37-B2C2-4865-A7AD-B324D7842E01}"/>
              </a:ext>
            </a:extLst>
          </p:cNvPr>
          <p:cNvCxnSpPr>
            <a:stCxn xmlns:a="http://schemas.openxmlformats.org/drawingml/2006/main" id="8" idx="3"/>
            <a:endCxn xmlns:a="http://schemas.openxmlformats.org/drawingml/2006/main" id="11" idx="0"/>
          </p:cNvCxnSpPr>
          <p:nvPr/>
        </p:nvCxnSpPr>
        <p:spPr>
          <a:xfrm xmlns:a="http://schemas.openxmlformats.org/drawingml/2006/main">
            <a:off x="7429500" y="3000375"/>
            <a:ext cx="2833688" cy="1809750"/>
          </a:xfrm>
          <a:prstGeom xmlns:a="http://schemas.openxmlformats.org/drawingml/2006/main" prst="bentConnector2">
            <a:avLst/>
          </a:prstGeom>
          <a:ln xmlns:a="http://schemas.openxmlformats.org/drawingml/2006/main" w="23813">
            <a:solidFill>
              <a:srgbClr val="9C481E"/>
            </a:solidFill>
            <a:prstDash val="dash"/>
            <a:headEnd type="none" w="med" len="med"/>
            <a:tailEnd type="triangle" w="sm" len="sm"/>
          </a:ln>
        </p:spPr>
      </p:cxnSp>
      <p:cxnSp>
        <p:nvCxnSpPr>
          <p:cNvPr id="14" name="">
            <a:extLst xmlns:a="http://schemas.openxmlformats.org/drawingml/2006/main">
              <a:ext uri="{FF2B5EF4-FFF2-40B4-BE49-F238E27FC236}">
                <a16:creationId xmlns:a16="http://schemas.microsoft.com/office/drawing/2014/main" id="{D4D7C7EF-9C70-42F5-AC7B-3AD3F5BD6156}"/>
              </a:ext>
            </a:extLst>
          </p:cNvPr>
          <p:cNvCxnSpPr>
            <a:stCxn xmlns:a="http://schemas.openxmlformats.org/drawingml/2006/main" id="8" idx="2"/>
            <a:endCxn xmlns:a="http://schemas.openxmlformats.org/drawingml/2006/main" id="10" idx="0"/>
          </p:cNvCxnSpPr>
          <p:nvPr/>
        </p:nvCxnSpPr>
        <p:spPr>
          <a:xfrm xmlns:a="http://schemas.openxmlformats.org/drawingml/2006/main">
            <a:off x="6000750" y="3571875"/>
            <a:ext cx="0" cy="123825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cxnSp>
        <p:nvCxnSpPr>
          <p:cNvPr id="13" name="">
            <a:extLst xmlns:a="http://schemas.openxmlformats.org/drawingml/2006/main">
              <a:ext uri="{FF2B5EF4-FFF2-40B4-BE49-F238E27FC236}">
                <a16:creationId xmlns:a16="http://schemas.microsoft.com/office/drawing/2014/main" id="{757AF253-2C85-43AB-BF03-5D870C662924}"/>
              </a:ext>
            </a:extLst>
          </p:cNvPr>
          <p:cNvCxnSpPr>
            <a:stCxn xmlns:a="http://schemas.openxmlformats.org/drawingml/2006/main" id="8" idx="3"/>
            <a:endCxn xmlns:a="http://schemas.openxmlformats.org/drawingml/2006/main" id="9" idx="1"/>
          </p:cNvCxnSpPr>
          <p:nvPr/>
        </p:nvCxnSpPr>
        <p:spPr>
          <a:xfrm xmlns:a="http://schemas.openxmlformats.org/drawingml/2006/main">
            <a:off x="7429500" y="3000375"/>
            <a:ext cx="1524000" cy="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cxnSp>
        <p:nvCxnSpPr>
          <p:cNvPr id="12" name="">
            <a:extLst xmlns:a="http://schemas.openxmlformats.org/drawingml/2006/main">
              <a:ext uri="{FF2B5EF4-FFF2-40B4-BE49-F238E27FC236}">
                <a16:creationId xmlns:a16="http://schemas.microsoft.com/office/drawing/2014/main" id="{36AD4A92-E544-49FC-BDCE-2D338B3E49EC}"/>
              </a:ext>
            </a:extLst>
          </p:cNvPr>
          <p:cNvCxnSpPr>
            <a:stCxn xmlns:a="http://schemas.openxmlformats.org/drawingml/2006/main" id="7" idx="3"/>
            <a:endCxn xmlns:a="http://schemas.openxmlformats.org/drawingml/2006/main" id="8" idx="1"/>
          </p:cNvCxnSpPr>
          <p:nvPr/>
        </p:nvCxnSpPr>
        <p:spPr>
          <a:xfrm xmlns:a="http://schemas.openxmlformats.org/drawingml/2006/main">
            <a:off x="3086100" y="3000375"/>
            <a:ext cx="1485900" cy="0"/>
          </a:xfrm>
          <a:prstGeom xmlns:a="http://schemas.openxmlformats.org/drawingml/2006/main" prst="straightConnector1">
            <a:avLst/>
          </a:prstGeom>
          <a:ln xmlns:a="http://schemas.openxmlformats.org/drawingml/2006/main" w="23813">
            <a:solidFill>
              <a:srgbClr val="007B78"/>
            </a:solidFill>
            <a:prstDash val="solid"/>
            <a:headEnd type="triangle" w="sm" len="sm"/>
            <a:tailEnd type="triangle" w="sm" len="sm"/>
          </a:ln>
        </p:spPr>
      </p:cxnSp>
      <p:sp>
        <p:nvSpPr>
          <p:cNvPr id="6" name="">
            <a:extLst xmlns:a="http://schemas.openxmlformats.org/drawingml/2006/main">
              <a:ext uri="{FF2B5EF4-FFF2-40B4-BE49-F238E27FC236}">
                <a16:creationId xmlns:a16="http://schemas.microsoft.com/office/drawing/2014/main" id="{EDDCB19E-848E-4C1C-9D43-D15506A785C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EDCCC306-D1B2-4AA2-8BA1-2395B5D7D1C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tau2 evaluation architecture</a:t>
            </a:r>
          </a:p>
        </p:txBody>
      </p:sp>
      <p:sp>
        <p:nvSpPr>
          <p:cNvPr id="3" name="">
            <a:extLst xmlns:a="http://schemas.openxmlformats.org/drawingml/2006/main">
              <a:ext uri="{FF2B5EF4-FFF2-40B4-BE49-F238E27FC236}">
                <a16:creationId xmlns:a16="http://schemas.microsoft.com/office/drawing/2014/main" id="{CDDB60B0-1266-4E75-8B99-7FDE07AB14AE}"/>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Runtime interactions and post-conversation evaluation</a:t>
            </a:r>
          </a:p>
        </p:txBody>
      </p:sp>
      <p:sp>
        <p:nvSpPr>
          <p:cNvPr id="7" name="">
            <a:extLst xmlns:a="http://schemas.openxmlformats.org/drawingml/2006/main">
              <a:ext uri="{FF2B5EF4-FFF2-40B4-BE49-F238E27FC236}">
                <a16:creationId xmlns:a16="http://schemas.microsoft.com/office/drawing/2014/main" id="{E96895BC-76CE-43B7-9DAD-2FC6E0EB5E8C}"/>
              </a:ext>
            </a:extLst>
          </p:cNvPr>
          <p:cNvSpPr>
            <a:spLocks xmlns:a="http://schemas.openxmlformats.org/drawingml/2006/main" noGrp="1"/>
          </p:cNvSpPr>
          <p:nvPr/>
        </p:nvSpPr>
        <p:spPr>
          <a:xfrm xmlns:a="http://schemas.openxmlformats.org/drawingml/2006/main">
            <a:off x="609600" y="2428875"/>
            <a:ext cx="2476500" cy="1143000"/>
          </a:xfrm>
          <a:prstGeom xmlns:a="http://schemas.openxmlformats.org/drawingml/2006/main" prst="roundRect">
            <a:avLst>
              <a:gd name="adj" fmla="val 75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User simulator</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Customer goal + persona</a:t>
            </a:r>
          </a:p>
        </p:txBody>
      </p:sp>
      <p:sp>
        <p:nvSpPr>
          <p:cNvPr id="8" name="">
            <a:extLst xmlns:a="http://schemas.openxmlformats.org/drawingml/2006/main">
              <a:ext uri="{FF2B5EF4-FFF2-40B4-BE49-F238E27FC236}">
                <a16:creationId xmlns:a16="http://schemas.microsoft.com/office/drawing/2014/main" id="{D8809162-BEE8-477F-B9FB-888AB43E592A}"/>
              </a:ext>
            </a:extLst>
          </p:cNvPr>
          <p:cNvSpPr>
            <a:spLocks xmlns:a="http://schemas.openxmlformats.org/drawingml/2006/main" noGrp="1"/>
          </p:cNvSpPr>
          <p:nvPr/>
        </p:nvSpPr>
        <p:spPr>
          <a:xfrm xmlns:a="http://schemas.openxmlformats.org/drawingml/2006/main">
            <a:off x="4572000" y="2428875"/>
            <a:ext cx="2857500" cy="1143000"/>
          </a:xfrm>
          <a:prstGeom xmlns:a="http://schemas.openxmlformats.org/drawingml/2006/main" prst="roundRect">
            <a:avLst>
              <a:gd name="adj" fmla="val 7500"/>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FFFFFF"/>
                </a:solidFill>
                <a:latin typeface="Helvetica Neue"/>
                <a:ea typeface="Helvetica Neue"/>
                <a:cs typeface="Helvetica Neue"/>
              </a:defRPr>
            </a:defPPr>
            <a:lvl1pPr algn="ctr">
              <a:defRPr sz="1950" b="0">
                <a:solidFill>
                  <a:srgbClr val="FFFFFF"/>
                </a:solidFill>
                <a:latin typeface="Helvetica Neue"/>
                <a:ea typeface="Helvetica Neue"/>
                <a:cs typeface="Helvetica Neue"/>
              </a:defRPr>
            </a:lvl1pPr>
            <a:lvl2pPr algn="ctr">
              <a:defRPr sz="1950" b="0">
                <a:solidFill>
                  <a:srgbClr val="FFFFFF"/>
                </a:solidFill>
                <a:latin typeface="Helvetica Neue"/>
                <a:ea typeface="Helvetica Neue"/>
                <a:cs typeface="Helvetica Neue"/>
              </a:defRPr>
            </a:lvl2pPr>
            <a:lvl3pPr algn="ctr">
              <a:defRPr sz="1950" b="0">
                <a:solidFill>
                  <a:srgbClr val="FFFFFF"/>
                </a:solidFill>
                <a:latin typeface="Helvetica Neue"/>
                <a:ea typeface="Helvetica Neue"/>
                <a:cs typeface="Helvetica Neue"/>
              </a:defRPr>
            </a:lvl3pPr>
            <a:lvl4pPr algn="ctr">
              <a:defRPr sz="1950" b="0">
                <a:solidFill>
                  <a:srgbClr val="FFFFFF"/>
                </a:solidFill>
                <a:latin typeface="Helvetica Neue"/>
                <a:ea typeface="Helvetica Neue"/>
                <a:cs typeface="Helvetica Neue"/>
              </a:defRPr>
            </a:lvl4pPr>
            <a:lvl5pPr algn="ctr">
              <a:defRPr sz="1950" b="0">
                <a:solidFill>
                  <a:srgbClr val="FFFFFF"/>
                </a:solidFill>
                <a:latin typeface="Helvetica Neue"/>
                <a:ea typeface="Helvetica Neue"/>
                <a:cs typeface="Helvetica Neue"/>
              </a:defRPr>
            </a:lvl5pPr>
            <a:lvl6pPr algn="ctr">
              <a:defRPr sz="1950" b="0">
                <a:solidFill>
                  <a:srgbClr val="FFFFFF"/>
                </a:solidFill>
                <a:latin typeface="Helvetica Neue"/>
                <a:ea typeface="Helvetica Neue"/>
                <a:cs typeface="Helvetica Neue"/>
              </a:defRPr>
            </a:lvl6pPr>
            <a:lvl7pPr algn="ctr">
              <a:defRPr sz="1950" b="0">
                <a:solidFill>
                  <a:srgbClr val="FFFFFF"/>
                </a:solidFill>
                <a:latin typeface="Helvetica Neue"/>
                <a:ea typeface="Helvetica Neue"/>
                <a:cs typeface="Helvetica Neue"/>
              </a:defRPr>
            </a:lvl7pPr>
            <a:lvl8pPr algn="ctr">
              <a:defRPr sz="1950" b="0">
                <a:solidFill>
                  <a:srgbClr val="FFFFFF"/>
                </a:solidFill>
                <a:latin typeface="Helvetica Neue"/>
                <a:ea typeface="Helvetica Neue"/>
                <a:cs typeface="Helvetica Neue"/>
              </a:defRPr>
            </a:lvl8pPr>
            <a:lvl9pPr algn="ctr">
              <a:defRPr sz="1950" b="0">
                <a:solidFill>
                  <a:srgbClr val="FFFFFF"/>
                </a:solidFill>
                <a:latin typeface="Helvetica Neue"/>
                <a:ea typeface="Helvetica Neue"/>
                <a:cs typeface="Helvetica Neue"/>
              </a:defRPr>
            </a:lvl9pPr>
          </a:lstStyle>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Orchestrator</a:t>
            </a:r>
          </a:p>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Route + execute + record</a:t>
            </a:r>
          </a:p>
        </p:txBody>
      </p:sp>
      <p:sp>
        <p:nvSpPr>
          <p:cNvPr id="9" name="">
            <a:extLst xmlns:a="http://schemas.openxmlformats.org/drawingml/2006/main">
              <a:ext uri="{FF2B5EF4-FFF2-40B4-BE49-F238E27FC236}">
                <a16:creationId xmlns:a16="http://schemas.microsoft.com/office/drawing/2014/main" id="{C31E099B-BF75-430F-9AA1-7464BDED6D9F}"/>
              </a:ext>
            </a:extLst>
          </p:cNvPr>
          <p:cNvSpPr>
            <a:spLocks xmlns:a="http://schemas.openxmlformats.org/drawingml/2006/main" noGrp="1"/>
          </p:cNvSpPr>
          <p:nvPr/>
        </p:nvSpPr>
        <p:spPr>
          <a:xfrm xmlns:a="http://schemas.openxmlformats.org/drawingml/2006/main">
            <a:off x="8953500" y="2428875"/>
            <a:ext cx="2619375" cy="1143000"/>
          </a:xfrm>
          <a:prstGeom xmlns:a="http://schemas.openxmlformats.org/drawingml/2006/main" prst="roundRect">
            <a:avLst>
              <a:gd name="adj" fmla="val 75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Agent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Policy + tool schemas</a:t>
            </a:r>
          </a:p>
        </p:txBody>
      </p:sp>
      <p:sp>
        <p:nvSpPr>
          <p:cNvPr id="10" name="">
            <a:extLst xmlns:a="http://schemas.openxmlformats.org/drawingml/2006/main">
              <a:ext uri="{FF2B5EF4-FFF2-40B4-BE49-F238E27FC236}">
                <a16:creationId xmlns:a16="http://schemas.microsoft.com/office/drawing/2014/main" id="{F3F63A03-0AA1-406E-AF90-80A18B7B06D1}"/>
              </a:ext>
            </a:extLst>
          </p:cNvPr>
          <p:cNvSpPr>
            <a:spLocks xmlns:a="http://schemas.openxmlformats.org/drawingml/2006/main" noGrp="1"/>
          </p:cNvSpPr>
          <p:nvPr/>
        </p:nvSpPr>
        <p:spPr>
          <a:xfrm xmlns:a="http://schemas.openxmlformats.org/drawingml/2006/main">
            <a:off x="4572000" y="4810125"/>
            <a:ext cx="2857500" cy="1047750"/>
          </a:xfrm>
          <a:prstGeom xmlns:a="http://schemas.openxmlformats.org/drawingml/2006/main" prst="roundRect">
            <a:avLst>
              <a:gd name="adj" fmla="val 8182"/>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Tool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Tools + mutable database</a:t>
            </a:r>
          </a:p>
        </p:txBody>
      </p:sp>
      <p:sp>
        <p:nvSpPr>
          <p:cNvPr id="11" name="">
            <a:extLst xmlns:a="http://schemas.openxmlformats.org/drawingml/2006/main">
              <a:ext uri="{FF2B5EF4-FFF2-40B4-BE49-F238E27FC236}">
                <a16:creationId xmlns:a16="http://schemas.microsoft.com/office/drawing/2014/main" id="{897C5AA9-D414-436D-B5BD-CBD1ACF00ADC}"/>
              </a:ext>
            </a:extLst>
          </p:cNvPr>
          <p:cNvSpPr>
            <a:spLocks xmlns:a="http://schemas.openxmlformats.org/drawingml/2006/main" noGrp="1"/>
          </p:cNvSpPr>
          <p:nvPr/>
        </p:nvSpPr>
        <p:spPr>
          <a:xfrm xmlns:a="http://schemas.openxmlformats.org/drawingml/2006/main">
            <a:off x="8953500" y="4810125"/>
            <a:ext cx="2619375" cy="1047750"/>
          </a:xfrm>
          <a:prstGeom xmlns:a="http://schemas.openxmlformats.org/drawingml/2006/main" prst="roundRect">
            <a:avLst>
              <a:gd name="adj" fmla="val 8182"/>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Evaluator</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Replay + task checks</a:t>
            </a:r>
          </a:p>
        </p:txBody>
      </p:sp>
      <p:sp>
        <p:nvSpPr>
          <p:cNvPr id="16" name="">
            <a:extLst xmlns:a="http://schemas.openxmlformats.org/drawingml/2006/main">
              <a:ext uri="{FF2B5EF4-FFF2-40B4-BE49-F238E27FC236}">
                <a16:creationId xmlns:a16="http://schemas.microsoft.com/office/drawing/2014/main" id="{7C116D1E-9C22-4E4A-939A-9D67DDF6494B}"/>
              </a:ext>
            </a:extLst>
          </p:cNvPr>
          <p:cNvSpPr>
            <a:spLocks xmlns:a="http://schemas.openxmlformats.org/drawingml/2006/main" noGrp="1"/>
          </p:cNvSpPr>
          <p:nvPr/>
        </p:nvSpPr>
        <p:spPr>
          <a:xfrm xmlns:a="http://schemas.openxmlformats.org/drawingml/2006/main">
            <a:off x="3171825" y="26193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725" b="0">
                <a:solidFill>
                  <a:srgbClr val="007B78"/>
                </a:solidFill>
                <a:latin typeface="Helvetica Neue"/>
                <a:ea typeface="Helvetica Neue"/>
                <a:cs typeface="Helvetica Neue"/>
              </a:defRPr>
            </a:defPPr>
            <a:lvl1pPr algn="ctr">
              <a:defRPr sz="1725" b="0">
                <a:solidFill>
                  <a:srgbClr val="007B78"/>
                </a:solidFill>
                <a:latin typeface="Helvetica Neue"/>
                <a:ea typeface="Helvetica Neue"/>
                <a:cs typeface="Helvetica Neue"/>
              </a:defRPr>
            </a:lvl1pPr>
            <a:lvl2pPr algn="ctr">
              <a:defRPr sz="1725" b="0">
                <a:solidFill>
                  <a:srgbClr val="007B78"/>
                </a:solidFill>
                <a:latin typeface="Helvetica Neue"/>
                <a:ea typeface="Helvetica Neue"/>
                <a:cs typeface="Helvetica Neue"/>
              </a:defRPr>
            </a:lvl2pPr>
            <a:lvl3pPr algn="ctr">
              <a:defRPr sz="1725" b="0">
                <a:solidFill>
                  <a:srgbClr val="007B78"/>
                </a:solidFill>
                <a:latin typeface="Helvetica Neue"/>
                <a:ea typeface="Helvetica Neue"/>
                <a:cs typeface="Helvetica Neue"/>
              </a:defRPr>
            </a:lvl3pPr>
            <a:lvl4pPr algn="ctr">
              <a:defRPr sz="1725" b="0">
                <a:solidFill>
                  <a:srgbClr val="007B78"/>
                </a:solidFill>
                <a:latin typeface="Helvetica Neue"/>
                <a:ea typeface="Helvetica Neue"/>
                <a:cs typeface="Helvetica Neue"/>
              </a:defRPr>
            </a:lvl4pPr>
            <a:lvl5pPr algn="ctr">
              <a:defRPr sz="1725" b="0">
                <a:solidFill>
                  <a:srgbClr val="007B78"/>
                </a:solidFill>
                <a:latin typeface="Helvetica Neue"/>
                <a:ea typeface="Helvetica Neue"/>
                <a:cs typeface="Helvetica Neue"/>
              </a:defRPr>
            </a:lvl5pPr>
            <a:lvl6pPr algn="ctr">
              <a:defRPr sz="1725" b="0">
                <a:solidFill>
                  <a:srgbClr val="007B78"/>
                </a:solidFill>
                <a:latin typeface="Helvetica Neue"/>
                <a:ea typeface="Helvetica Neue"/>
                <a:cs typeface="Helvetica Neue"/>
              </a:defRPr>
            </a:lvl6pPr>
            <a:lvl7pPr algn="ctr">
              <a:defRPr sz="1725" b="0">
                <a:solidFill>
                  <a:srgbClr val="007B78"/>
                </a:solidFill>
                <a:latin typeface="Helvetica Neue"/>
                <a:ea typeface="Helvetica Neue"/>
                <a:cs typeface="Helvetica Neue"/>
              </a:defRPr>
            </a:lvl7pPr>
            <a:lvl8pPr algn="ctr">
              <a:defRPr sz="1725" b="0">
                <a:solidFill>
                  <a:srgbClr val="007B78"/>
                </a:solidFill>
                <a:latin typeface="Helvetica Neue"/>
                <a:ea typeface="Helvetica Neue"/>
                <a:cs typeface="Helvetica Neue"/>
              </a:defRPr>
            </a:lvl8pPr>
            <a:lvl9pPr algn="ctr">
              <a:defRPr sz="1725" b="0">
                <a:solidFill>
                  <a:srgbClr val="007B78"/>
                </a:solidFill>
                <a:latin typeface="Helvetica Neue"/>
                <a:ea typeface="Helvetica Neue"/>
                <a:cs typeface="Helvetica Neue"/>
              </a:defRPr>
            </a:lvl9pPr>
          </a:lstStyle>
          <a:p xmlns:a="http://schemas.openxmlformats.org/drawingml/2006/main">
            <a:pPr algn="ctr">
              <a:defRPr sz="1725" b="0">
                <a:solidFill>
                  <a:srgbClr val="007B78"/>
                </a:solidFill>
                <a:latin typeface="Helvetica Neue"/>
                <a:ea typeface="Helvetica Neue"/>
                <a:cs typeface="Helvetica Neue"/>
              </a:defRPr>
            </a:pPr>
            <a:r>
              <a:rPr sz="1725" b="0">
                <a:solidFill>
                  <a:srgbClr val="007B78"/>
                </a:solidFill>
                <a:latin typeface="Helvetica Neue"/>
                <a:ea typeface="Helvetica Neue"/>
                <a:cs typeface="Helvetica Neue"/>
              </a:rPr>
              <a:t>Dialogue</a:t>
            </a:r>
          </a:p>
        </p:txBody>
      </p:sp>
      <p:sp>
        <p:nvSpPr>
          <p:cNvPr id="17" name="">
            <a:extLst xmlns:a="http://schemas.openxmlformats.org/drawingml/2006/main">
              <a:ext uri="{FF2B5EF4-FFF2-40B4-BE49-F238E27FC236}">
                <a16:creationId xmlns:a16="http://schemas.microsoft.com/office/drawing/2014/main" id="{3FED5FC1-FE4D-4D45-BD12-9AD40586C343}"/>
              </a:ext>
            </a:extLst>
          </p:cNvPr>
          <p:cNvSpPr>
            <a:spLocks xmlns:a="http://schemas.openxmlformats.org/drawingml/2006/main" noGrp="1"/>
          </p:cNvSpPr>
          <p:nvPr/>
        </p:nvSpPr>
        <p:spPr>
          <a:xfrm xmlns:a="http://schemas.openxmlformats.org/drawingml/2006/main">
            <a:off x="7496175" y="2543175"/>
            <a:ext cx="1381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650" b="0">
                <a:solidFill>
                  <a:srgbClr val="007B78"/>
                </a:solidFill>
                <a:latin typeface="Helvetica Neue"/>
                <a:ea typeface="Helvetica Neue"/>
                <a:cs typeface="Helvetica Neue"/>
              </a:defRPr>
            </a:defPPr>
            <a:lvl1pPr algn="ctr">
              <a:defRPr sz="1650" b="0">
                <a:solidFill>
                  <a:srgbClr val="007B78"/>
                </a:solidFill>
                <a:latin typeface="Helvetica Neue"/>
                <a:ea typeface="Helvetica Neue"/>
                <a:cs typeface="Helvetica Neue"/>
              </a:defRPr>
            </a:lvl1pPr>
            <a:lvl2pPr algn="ctr">
              <a:defRPr sz="1650" b="0">
                <a:solidFill>
                  <a:srgbClr val="007B78"/>
                </a:solidFill>
                <a:latin typeface="Helvetica Neue"/>
                <a:ea typeface="Helvetica Neue"/>
                <a:cs typeface="Helvetica Neue"/>
              </a:defRPr>
            </a:lvl2pPr>
            <a:lvl3pPr algn="ctr">
              <a:defRPr sz="1650" b="0">
                <a:solidFill>
                  <a:srgbClr val="007B78"/>
                </a:solidFill>
                <a:latin typeface="Helvetica Neue"/>
                <a:ea typeface="Helvetica Neue"/>
                <a:cs typeface="Helvetica Neue"/>
              </a:defRPr>
            </a:lvl3pPr>
            <a:lvl4pPr algn="ctr">
              <a:defRPr sz="1650" b="0">
                <a:solidFill>
                  <a:srgbClr val="007B78"/>
                </a:solidFill>
                <a:latin typeface="Helvetica Neue"/>
                <a:ea typeface="Helvetica Neue"/>
                <a:cs typeface="Helvetica Neue"/>
              </a:defRPr>
            </a:lvl4pPr>
            <a:lvl5pPr algn="ctr">
              <a:defRPr sz="1650" b="0">
                <a:solidFill>
                  <a:srgbClr val="007B78"/>
                </a:solidFill>
                <a:latin typeface="Helvetica Neue"/>
                <a:ea typeface="Helvetica Neue"/>
                <a:cs typeface="Helvetica Neue"/>
              </a:defRPr>
            </a:lvl5pPr>
            <a:lvl6pPr algn="ctr">
              <a:defRPr sz="1650" b="0">
                <a:solidFill>
                  <a:srgbClr val="007B78"/>
                </a:solidFill>
                <a:latin typeface="Helvetica Neue"/>
                <a:ea typeface="Helvetica Neue"/>
                <a:cs typeface="Helvetica Neue"/>
              </a:defRPr>
            </a:lvl6pPr>
            <a:lvl7pPr algn="ctr">
              <a:defRPr sz="1650" b="0">
                <a:solidFill>
                  <a:srgbClr val="007B78"/>
                </a:solidFill>
                <a:latin typeface="Helvetica Neue"/>
                <a:ea typeface="Helvetica Neue"/>
                <a:cs typeface="Helvetica Neue"/>
              </a:defRPr>
            </a:lvl7pPr>
            <a:lvl8pPr algn="ctr">
              <a:defRPr sz="1650" b="0">
                <a:solidFill>
                  <a:srgbClr val="007B78"/>
                </a:solidFill>
                <a:latin typeface="Helvetica Neue"/>
                <a:ea typeface="Helvetica Neue"/>
                <a:cs typeface="Helvetica Neue"/>
              </a:defRPr>
            </a:lvl8pPr>
            <a:lvl9pPr algn="ctr">
              <a:defRPr sz="1650" b="0">
                <a:solidFill>
                  <a:srgbClr val="007B78"/>
                </a:solidFill>
                <a:latin typeface="Helvetica Neue"/>
                <a:ea typeface="Helvetica Neue"/>
                <a:cs typeface="Helvetica Neue"/>
              </a:defRPr>
            </a:lvl9pPr>
          </a:lstStyle>
          <a:p xmlns:a="http://schemas.openxmlformats.org/drawingml/2006/main">
            <a:pPr algn="ctr">
              <a:defRPr sz="1650" b="0">
                <a:solidFill>
                  <a:srgbClr val="007B78"/>
                </a:solidFill>
                <a:latin typeface="Helvetica Neue"/>
                <a:ea typeface="Helvetica Neue"/>
                <a:cs typeface="Helvetica Neue"/>
              </a:defRPr>
            </a:pPr>
            <a:r>
              <a:rPr sz="1650" b="0">
                <a:solidFill>
                  <a:srgbClr val="007B78"/>
                </a:solidFill>
                <a:latin typeface="Helvetica Neue"/>
                <a:ea typeface="Helvetica Neue"/>
                <a:cs typeface="Helvetica Neue"/>
              </a:rPr>
              <a:t>Messages /</a:t>
            </a:r>
          </a:p>
          <a:p xmlns:a="http://schemas.openxmlformats.org/drawingml/2006/main">
            <a:pPr algn="ctr">
              <a:defRPr sz="1650" b="0">
                <a:solidFill>
                  <a:srgbClr val="007B78"/>
                </a:solidFill>
                <a:latin typeface="Helvetica Neue"/>
                <a:ea typeface="Helvetica Neue"/>
                <a:cs typeface="Helvetica Neue"/>
              </a:defRPr>
            </a:pPr>
            <a:r>
              <a:rPr sz="1650" b="0">
                <a:solidFill>
                  <a:srgbClr val="007B78"/>
                </a:solidFill>
                <a:latin typeface="Helvetica Neue"/>
                <a:ea typeface="Helvetica Neue"/>
                <a:cs typeface="Helvetica Neue"/>
              </a:rPr>
              <a:t>action requests</a:t>
            </a:r>
          </a:p>
        </p:txBody>
      </p:sp>
      <p:sp>
        <p:nvSpPr>
          <p:cNvPr id="18" name="">
            <a:extLst xmlns:a="http://schemas.openxmlformats.org/drawingml/2006/main">
              <a:ext uri="{FF2B5EF4-FFF2-40B4-BE49-F238E27FC236}">
                <a16:creationId xmlns:a16="http://schemas.microsoft.com/office/drawing/2014/main" id="{74A2E14C-4D40-42D7-BB5C-672716DCEABA}"/>
              </a:ext>
            </a:extLst>
          </p:cNvPr>
          <p:cNvSpPr>
            <a:spLocks xmlns:a="http://schemas.openxmlformats.org/drawingml/2006/main" noGrp="1"/>
          </p:cNvSpPr>
          <p:nvPr/>
        </p:nvSpPr>
        <p:spPr>
          <a:xfrm xmlns:a="http://schemas.openxmlformats.org/drawingml/2006/main">
            <a:off x="6191250" y="394335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00" b="0">
                <a:solidFill>
                  <a:srgbClr val="007B78"/>
                </a:solidFill>
                <a:latin typeface="Helvetica Neue"/>
                <a:ea typeface="Helvetica Neue"/>
                <a:cs typeface="Helvetica Neue"/>
              </a:defRPr>
            </a:defPPr>
            <a:lvl1pPr algn="l">
              <a:defRPr sz="1800" b="0">
                <a:solidFill>
                  <a:srgbClr val="007B78"/>
                </a:solidFill>
                <a:latin typeface="Helvetica Neue"/>
                <a:ea typeface="Helvetica Neue"/>
                <a:cs typeface="Helvetica Neue"/>
              </a:defRPr>
            </a:lvl1pPr>
            <a:lvl2pPr algn="l">
              <a:defRPr sz="1800" b="0">
                <a:solidFill>
                  <a:srgbClr val="007B78"/>
                </a:solidFill>
                <a:latin typeface="Helvetica Neue"/>
                <a:ea typeface="Helvetica Neue"/>
                <a:cs typeface="Helvetica Neue"/>
              </a:defRPr>
            </a:lvl2pPr>
            <a:lvl3pPr algn="l">
              <a:defRPr sz="1800" b="0">
                <a:solidFill>
                  <a:srgbClr val="007B78"/>
                </a:solidFill>
                <a:latin typeface="Helvetica Neue"/>
                <a:ea typeface="Helvetica Neue"/>
                <a:cs typeface="Helvetica Neue"/>
              </a:defRPr>
            </a:lvl3pPr>
            <a:lvl4pPr algn="l">
              <a:defRPr sz="1800" b="0">
                <a:solidFill>
                  <a:srgbClr val="007B78"/>
                </a:solidFill>
                <a:latin typeface="Helvetica Neue"/>
                <a:ea typeface="Helvetica Neue"/>
                <a:cs typeface="Helvetica Neue"/>
              </a:defRPr>
            </a:lvl4pPr>
            <a:lvl5pPr algn="l">
              <a:defRPr sz="1800" b="0">
                <a:solidFill>
                  <a:srgbClr val="007B78"/>
                </a:solidFill>
                <a:latin typeface="Helvetica Neue"/>
                <a:ea typeface="Helvetica Neue"/>
                <a:cs typeface="Helvetica Neue"/>
              </a:defRPr>
            </a:lvl5pPr>
            <a:lvl6pPr algn="l">
              <a:defRPr sz="1800" b="0">
                <a:solidFill>
                  <a:srgbClr val="007B78"/>
                </a:solidFill>
                <a:latin typeface="Helvetica Neue"/>
                <a:ea typeface="Helvetica Neue"/>
                <a:cs typeface="Helvetica Neue"/>
              </a:defRPr>
            </a:lvl6pPr>
            <a:lvl7pPr algn="l">
              <a:defRPr sz="1800" b="0">
                <a:solidFill>
                  <a:srgbClr val="007B78"/>
                </a:solidFill>
                <a:latin typeface="Helvetica Neue"/>
                <a:ea typeface="Helvetica Neue"/>
                <a:cs typeface="Helvetica Neue"/>
              </a:defRPr>
            </a:lvl7pPr>
            <a:lvl8pPr algn="l">
              <a:defRPr sz="1800" b="0">
                <a:solidFill>
                  <a:srgbClr val="007B78"/>
                </a:solidFill>
                <a:latin typeface="Helvetica Neue"/>
                <a:ea typeface="Helvetica Neue"/>
                <a:cs typeface="Helvetica Neue"/>
              </a:defRPr>
            </a:lvl8pPr>
            <a:lvl9pPr algn="l">
              <a:defRPr sz="1800" b="0">
                <a:solidFill>
                  <a:srgbClr val="007B78"/>
                </a:solidFill>
                <a:latin typeface="Helvetica Neue"/>
                <a:ea typeface="Helvetica Neue"/>
                <a:cs typeface="Helvetica Neue"/>
              </a:defRPr>
            </a:lvl9pPr>
          </a:lstStyle>
          <a:p xmlns:a="http://schemas.openxmlformats.org/drawingml/2006/main">
            <a:pPr algn="l">
              <a:defRPr sz="1800" b="0">
                <a:solidFill>
                  <a:srgbClr val="007B78"/>
                </a:solidFill>
                <a:latin typeface="Helvetica Neue"/>
                <a:ea typeface="Helvetica Neue"/>
                <a:cs typeface="Helvetica Neue"/>
              </a:defRPr>
            </a:pPr>
            <a:r>
              <a:rPr sz="1800" b="0">
                <a:solidFill>
                  <a:srgbClr val="007B78"/>
                </a:solidFill>
                <a:latin typeface="Helvetica Neue"/>
                <a:ea typeface="Helvetica Neue"/>
                <a:cs typeface="Helvetica Neue"/>
              </a:rPr>
              <a:t>Tool calls</a:t>
            </a:r>
          </a:p>
          <a:p xmlns:a="http://schemas.openxmlformats.org/drawingml/2006/main">
            <a:pPr algn="l">
              <a:defRPr sz="1800" b="0">
                <a:solidFill>
                  <a:srgbClr val="007B78"/>
                </a:solidFill>
                <a:latin typeface="Helvetica Neue"/>
                <a:ea typeface="Helvetica Neue"/>
                <a:cs typeface="Helvetica Neue"/>
              </a:defRPr>
            </a:pPr>
            <a:r>
              <a:rPr sz="1800" b="0">
                <a:solidFill>
                  <a:srgbClr val="007B78"/>
                </a:solidFill>
                <a:latin typeface="Helvetica Neue"/>
                <a:ea typeface="Helvetica Neue"/>
                <a:cs typeface="Helvetica Neue"/>
              </a:rPr>
              <a:t>and results</a:t>
            </a:r>
          </a:p>
        </p:txBody>
      </p:sp>
      <p:sp>
        <p:nvSpPr>
          <p:cNvPr id="19" name="">
            <a:extLst xmlns:a="http://schemas.openxmlformats.org/drawingml/2006/main">
              <a:ext uri="{FF2B5EF4-FFF2-40B4-BE49-F238E27FC236}">
                <a16:creationId xmlns:a16="http://schemas.microsoft.com/office/drawing/2014/main" id="{E5CA7756-D2F7-4E1C-9333-AB7F56DF693B}"/>
              </a:ext>
            </a:extLst>
          </p:cNvPr>
          <p:cNvSpPr>
            <a:spLocks xmlns:a="http://schemas.openxmlformats.org/drawingml/2006/main" noGrp="1"/>
          </p:cNvSpPr>
          <p:nvPr/>
        </p:nvSpPr>
        <p:spPr>
          <a:xfrm xmlns:a="http://schemas.openxmlformats.org/drawingml/2006/main">
            <a:off x="8877300" y="3933825"/>
            <a:ext cx="2781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725" b="0">
                <a:solidFill>
                  <a:srgbClr val="9C481E"/>
                </a:solidFill>
                <a:latin typeface="Helvetica Neue"/>
                <a:ea typeface="Helvetica Neue"/>
                <a:cs typeface="Helvetica Neue"/>
              </a:defRPr>
            </a:defPPr>
            <a:lvl1pPr algn="l">
              <a:defRPr sz="1725" b="0">
                <a:solidFill>
                  <a:srgbClr val="9C481E"/>
                </a:solidFill>
                <a:latin typeface="Helvetica Neue"/>
                <a:ea typeface="Helvetica Neue"/>
                <a:cs typeface="Helvetica Neue"/>
              </a:defRPr>
            </a:lvl1pPr>
            <a:lvl2pPr algn="l">
              <a:defRPr sz="1725" b="0">
                <a:solidFill>
                  <a:srgbClr val="9C481E"/>
                </a:solidFill>
                <a:latin typeface="Helvetica Neue"/>
                <a:ea typeface="Helvetica Neue"/>
                <a:cs typeface="Helvetica Neue"/>
              </a:defRPr>
            </a:lvl2pPr>
            <a:lvl3pPr algn="l">
              <a:defRPr sz="1725" b="0">
                <a:solidFill>
                  <a:srgbClr val="9C481E"/>
                </a:solidFill>
                <a:latin typeface="Helvetica Neue"/>
                <a:ea typeface="Helvetica Neue"/>
                <a:cs typeface="Helvetica Neue"/>
              </a:defRPr>
            </a:lvl3pPr>
            <a:lvl4pPr algn="l">
              <a:defRPr sz="1725" b="0">
                <a:solidFill>
                  <a:srgbClr val="9C481E"/>
                </a:solidFill>
                <a:latin typeface="Helvetica Neue"/>
                <a:ea typeface="Helvetica Neue"/>
                <a:cs typeface="Helvetica Neue"/>
              </a:defRPr>
            </a:lvl4pPr>
            <a:lvl5pPr algn="l">
              <a:defRPr sz="1725" b="0">
                <a:solidFill>
                  <a:srgbClr val="9C481E"/>
                </a:solidFill>
                <a:latin typeface="Helvetica Neue"/>
                <a:ea typeface="Helvetica Neue"/>
                <a:cs typeface="Helvetica Neue"/>
              </a:defRPr>
            </a:lvl5pPr>
            <a:lvl6pPr algn="l">
              <a:defRPr sz="1725" b="0">
                <a:solidFill>
                  <a:srgbClr val="9C481E"/>
                </a:solidFill>
                <a:latin typeface="Helvetica Neue"/>
                <a:ea typeface="Helvetica Neue"/>
                <a:cs typeface="Helvetica Neue"/>
              </a:defRPr>
            </a:lvl6pPr>
            <a:lvl7pPr algn="l">
              <a:defRPr sz="1725" b="0">
                <a:solidFill>
                  <a:srgbClr val="9C481E"/>
                </a:solidFill>
                <a:latin typeface="Helvetica Neue"/>
                <a:ea typeface="Helvetica Neue"/>
                <a:cs typeface="Helvetica Neue"/>
              </a:defRPr>
            </a:lvl7pPr>
            <a:lvl8pPr algn="l">
              <a:defRPr sz="1725" b="0">
                <a:solidFill>
                  <a:srgbClr val="9C481E"/>
                </a:solidFill>
                <a:latin typeface="Helvetica Neue"/>
                <a:ea typeface="Helvetica Neue"/>
                <a:cs typeface="Helvetica Neue"/>
              </a:defRPr>
            </a:lvl8pPr>
            <a:lvl9pPr algn="l">
              <a:defRPr sz="1725" b="0">
                <a:solidFill>
                  <a:srgbClr val="9C481E"/>
                </a:solidFill>
                <a:latin typeface="Helvetica Neue"/>
                <a:ea typeface="Helvetica Neue"/>
                <a:cs typeface="Helvetica Neue"/>
              </a:defRPr>
            </a:lvl9pPr>
          </a:lstStyle>
          <a:p xmlns:a="http://schemas.openxmlformats.org/drawingml/2006/main">
            <a:pPr algn="l">
              <a:defRPr sz="1725" b="0">
                <a:solidFill>
                  <a:srgbClr val="9C481E"/>
                </a:solidFill>
                <a:latin typeface="Helvetica Neue"/>
                <a:ea typeface="Helvetica Neue"/>
                <a:cs typeface="Helvetica Neue"/>
              </a:defRPr>
            </a:pPr>
            <a:r>
              <a:rPr sz="1725" b="0">
                <a:solidFill>
                  <a:srgbClr val="9C481E"/>
                </a:solidFill>
                <a:latin typeface="Helvetica Neue"/>
                <a:ea typeface="Helvetica Neue"/>
                <a:cs typeface="Helvetica Neue"/>
              </a:rPr>
              <a:t>Recorded trajectory</a:t>
            </a:r>
          </a:p>
          <a:p xmlns:a="http://schemas.openxmlformats.org/drawingml/2006/main">
            <a:pPr algn="l">
              <a:defRPr sz="1725" b="0">
                <a:solidFill>
                  <a:srgbClr val="9C481E"/>
                </a:solidFill>
                <a:latin typeface="Helvetica Neue"/>
                <a:ea typeface="Helvetica Neue"/>
                <a:cs typeface="Helvetica Neue"/>
              </a:defRPr>
            </a:pPr>
            <a:r>
              <a:rPr sz="1725" b="0">
                <a:solidFill>
                  <a:srgbClr val="9C481E"/>
                </a:solidFill>
                <a:latin typeface="Helvetica Neue"/>
                <a:ea typeface="Helvetica Neue"/>
                <a:cs typeface="Helvetica Neue"/>
              </a:rPr>
              <a:t>after the conversation</a:t>
            </a:r>
          </a:p>
        </p:txBody>
      </p:sp>
      <p:sp>
        <p:nvSpPr>
          <p:cNvPr id="20" name="">
            <a:extLst xmlns:a="http://schemas.openxmlformats.org/drawingml/2006/main">
              <a:ext uri="{FF2B5EF4-FFF2-40B4-BE49-F238E27FC236}">
                <a16:creationId xmlns:a16="http://schemas.microsoft.com/office/drawing/2014/main" id="{77E195B7-05DC-41D2-BCD8-5F7289A6F6FB}"/>
              </a:ext>
            </a:extLst>
          </p:cNvPr>
          <p:cNvSpPr>
            <a:spLocks xmlns:a="http://schemas.openxmlformats.org/drawingml/2006/main" noGrp="1"/>
          </p:cNvSpPr>
          <p:nvPr/>
        </p:nvSpPr>
        <p:spPr>
          <a:xfrm xmlns:a="http://schemas.openxmlformats.org/drawingml/2006/main">
            <a:off x="609600" y="4695825"/>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007B78"/>
                </a:solidFill>
                <a:latin typeface="Helvetica Neue"/>
                <a:ea typeface="Helvetica Neue"/>
                <a:cs typeface="Helvetica Neue"/>
              </a:defRPr>
            </a:defPPr>
            <a:lvl1pPr algn="l">
              <a:defRPr sz="1875" b="1">
                <a:solidFill>
                  <a:srgbClr val="007B78"/>
                </a:solidFill>
                <a:latin typeface="Helvetica Neue"/>
                <a:ea typeface="Helvetica Neue"/>
                <a:cs typeface="Helvetica Neue"/>
              </a:defRPr>
            </a:lvl1pPr>
            <a:lvl2pPr algn="l">
              <a:defRPr sz="1875" b="1">
                <a:solidFill>
                  <a:srgbClr val="007B78"/>
                </a:solidFill>
                <a:latin typeface="Helvetica Neue"/>
                <a:ea typeface="Helvetica Neue"/>
                <a:cs typeface="Helvetica Neue"/>
              </a:defRPr>
            </a:lvl2pPr>
            <a:lvl3pPr algn="l">
              <a:defRPr sz="1875" b="1">
                <a:solidFill>
                  <a:srgbClr val="007B78"/>
                </a:solidFill>
                <a:latin typeface="Helvetica Neue"/>
                <a:ea typeface="Helvetica Neue"/>
                <a:cs typeface="Helvetica Neue"/>
              </a:defRPr>
            </a:lvl3pPr>
            <a:lvl4pPr algn="l">
              <a:defRPr sz="1875" b="1">
                <a:solidFill>
                  <a:srgbClr val="007B78"/>
                </a:solidFill>
                <a:latin typeface="Helvetica Neue"/>
                <a:ea typeface="Helvetica Neue"/>
                <a:cs typeface="Helvetica Neue"/>
              </a:defRPr>
            </a:lvl4pPr>
            <a:lvl5pPr algn="l">
              <a:defRPr sz="1875" b="1">
                <a:solidFill>
                  <a:srgbClr val="007B78"/>
                </a:solidFill>
                <a:latin typeface="Helvetica Neue"/>
                <a:ea typeface="Helvetica Neue"/>
                <a:cs typeface="Helvetica Neue"/>
              </a:defRPr>
            </a:lvl5pPr>
            <a:lvl6pPr algn="l">
              <a:defRPr sz="1875" b="1">
                <a:solidFill>
                  <a:srgbClr val="007B78"/>
                </a:solidFill>
                <a:latin typeface="Helvetica Neue"/>
                <a:ea typeface="Helvetica Neue"/>
                <a:cs typeface="Helvetica Neue"/>
              </a:defRPr>
            </a:lvl6pPr>
            <a:lvl7pPr algn="l">
              <a:defRPr sz="1875" b="1">
                <a:solidFill>
                  <a:srgbClr val="007B78"/>
                </a:solidFill>
                <a:latin typeface="Helvetica Neue"/>
                <a:ea typeface="Helvetica Neue"/>
                <a:cs typeface="Helvetica Neue"/>
              </a:defRPr>
            </a:lvl7pPr>
            <a:lvl8pPr algn="l">
              <a:defRPr sz="1875" b="1">
                <a:solidFill>
                  <a:srgbClr val="007B78"/>
                </a:solidFill>
                <a:latin typeface="Helvetica Neue"/>
                <a:ea typeface="Helvetica Neue"/>
                <a:cs typeface="Helvetica Neue"/>
              </a:defRPr>
            </a:lvl8pPr>
            <a:lvl9pPr algn="l">
              <a:defRPr sz="1875" b="1">
                <a:solidFill>
                  <a:srgbClr val="007B78"/>
                </a:solidFill>
                <a:latin typeface="Helvetica Neue"/>
                <a:ea typeface="Helvetica Neue"/>
                <a:cs typeface="Helvetica Neue"/>
              </a:defRPr>
            </a:lvl9pPr>
          </a:lstStyle>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Runtime</a:t>
            </a:r>
          </a:p>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Solid arrows</a:t>
            </a:r>
          </a:p>
        </p:txBody>
      </p:sp>
      <p:sp>
        <p:nvSpPr>
          <p:cNvPr id="21" name="">
            <a:extLst xmlns:a="http://schemas.openxmlformats.org/drawingml/2006/main">
              <a:ext uri="{FF2B5EF4-FFF2-40B4-BE49-F238E27FC236}">
                <a16:creationId xmlns:a16="http://schemas.microsoft.com/office/drawing/2014/main" id="{C1E59424-C8BC-4CE4-B479-37AFA15065F3}"/>
              </a:ext>
            </a:extLst>
          </p:cNvPr>
          <p:cNvSpPr>
            <a:spLocks xmlns:a="http://schemas.openxmlformats.org/drawingml/2006/main" noGrp="1"/>
          </p:cNvSpPr>
          <p:nvPr/>
        </p:nvSpPr>
        <p:spPr>
          <a:xfrm xmlns:a="http://schemas.openxmlformats.org/drawingml/2006/main">
            <a:off x="609600" y="5410200"/>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9C481E"/>
                </a:solidFill>
                <a:latin typeface="Helvetica Neue"/>
                <a:ea typeface="Helvetica Neue"/>
                <a:cs typeface="Helvetica Neue"/>
              </a:defRPr>
            </a:defPPr>
            <a:lvl1pPr algn="l">
              <a:defRPr sz="1875" b="1">
                <a:solidFill>
                  <a:srgbClr val="9C481E"/>
                </a:solidFill>
                <a:latin typeface="Helvetica Neue"/>
                <a:ea typeface="Helvetica Neue"/>
                <a:cs typeface="Helvetica Neue"/>
              </a:defRPr>
            </a:lvl1pPr>
            <a:lvl2pPr algn="l">
              <a:defRPr sz="1875" b="1">
                <a:solidFill>
                  <a:srgbClr val="9C481E"/>
                </a:solidFill>
                <a:latin typeface="Helvetica Neue"/>
                <a:ea typeface="Helvetica Neue"/>
                <a:cs typeface="Helvetica Neue"/>
              </a:defRPr>
            </a:lvl2pPr>
            <a:lvl3pPr algn="l">
              <a:defRPr sz="1875" b="1">
                <a:solidFill>
                  <a:srgbClr val="9C481E"/>
                </a:solidFill>
                <a:latin typeface="Helvetica Neue"/>
                <a:ea typeface="Helvetica Neue"/>
                <a:cs typeface="Helvetica Neue"/>
              </a:defRPr>
            </a:lvl3pPr>
            <a:lvl4pPr algn="l">
              <a:defRPr sz="1875" b="1">
                <a:solidFill>
                  <a:srgbClr val="9C481E"/>
                </a:solidFill>
                <a:latin typeface="Helvetica Neue"/>
                <a:ea typeface="Helvetica Neue"/>
                <a:cs typeface="Helvetica Neue"/>
              </a:defRPr>
            </a:lvl4pPr>
            <a:lvl5pPr algn="l">
              <a:defRPr sz="1875" b="1">
                <a:solidFill>
                  <a:srgbClr val="9C481E"/>
                </a:solidFill>
                <a:latin typeface="Helvetica Neue"/>
                <a:ea typeface="Helvetica Neue"/>
                <a:cs typeface="Helvetica Neue"/>
              </a:defRPr>
            </a:lvl5pPr>
            <a:lvl6pPr algn="l">
              <a:defRPr sz="1875" b="1">
                <a:solidFill>
                  <a:srgbClr val="9C481E"/>
                </a:solidFill>
                <a:latin typeface="Helvetica Neue"/>
                <a:ea typeface="Helvetica Neue"/>
                <a:cs typeface="Helvetica Neue"/>
              </a:defRPr>
            </a:lvl6pPr>
            <a:lvl7pPr algn="l">
              <a:defRPr sz="1875" b="1">
                <a:solidFill>
                  <a:srgbClr val="9C481E"/>
                </a:solidFill>
                <a:latin typeface="Helvetica Neue"/>
                <a:ea typeface="Helvetica Neue"/>
                <a:cs typeface="Helvetica Neue"/>
              </a:defRPr>
            </a:lvl7pPr>
            <a:lvl8pPr algn="l">
              <a:defRPr sz="1875" b="1">
                <a:solidFill>
                  <a:srgbClr val="9C481E"/>
                </a:solidFill>
                <a:latin typeface="Helvetica Neue"/>
                <a:ea typeface="Helvetica Neue"/>
                <a:cs typeface="Helvetica Neue"/>
              </a:defRPr>
            </a:lvl8pPr>
            <a:lvl9pPr algn="l">
              <a:defRPr sz="1875" b="1">
                <a:solidFill>
                  <a:srgbClr val="9C481E"/>
                </a:solidFill>
                <a:latin typeface="Helvetica Neue"/>
                <a:ea typeface="Helvetica Neue"/>
                <a:cs typeface="Helvetica Neue"/>
              </a:defRPr>
            </a:lvl9pPr>
          </a:lstStyle>
          <a:p xmlns:a="http://schemas.openxmlformats.org/drawingml/2006/main">
            <a:pPr algn="l">
              <a:defRPr sz="1875" b="1">
                <a:solidFill>
                  <a:srgbClr val="9C481E"/>
                </a:solidFill>
                <a:latin typeface="Helvetica Neue"/>
                <a:ea typeface="Helvetica Neue"/>
                <a:cs typeface="Helvetica Neue"/>
              </a:defRPr>
            </a:pPr>
            <a:r>
              <a:rPr sz="1875" b="1">
                <a:solidFill>
                  <a:srgbClr val="9C481E"/>
                </a:solidFill>
                <a:latin typeface="Helvetica Neue"/>
                <a:ea typeface="Helvetica Neue"/>
                <a:cs typeface="Helvetica Neue"/>
              </a:rPr>
              <a:t>Post-run scoring</a:t>
            </a:r>
          </a:p>
          <a:p xmlns:a="http://schemas.openxmlformats.org/drawingml/2006/main">
            <a:pPr algn="l">
              <a:defRPr sz="1875" b="1">
                <a:solidFill>
                  <a:srgbClr val="9C481E"/>
                </a:solidFill>
                <a:latin typeface="Helvetica Neue"/>
                <a:ea typeface="Helvetica Neue"/>
                <a:cs typeface="Helvetica Neue"/>
              </a:defRPr>
            </a:pPr>
            <a:r>
              <a:rPr sz="1875" b="1">
                <a:solidFill>
                  <a:srgbClr val="9C481E"/>
                </a:solidFill>
                <a:latin typeface="Helvetica Neue"/>
                <a:ea typeface="Helvetica Neue"/>
                <a:cs typeface="Helvetica Neue"/>
              </a:rPr>
              <a:t>Dashed arrow</a:t>
            </a:r>
          </a:p>
        </p:txBody>
      </p:sp>
    </p:spTree>
    <p:extLst>
      <p:ext uri="{BB962C8B-B14F-4D97-AF65-F5344CB8AC3E}">
        <p14:creationId xmlns:p14="http://schemas.microsoft.com/office/powerpoint/2010/main" val="101456392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67751-3CBD-4B32-8DE4-6DF5CDA8B5E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4A3788F3-57C1-419E-8286-BA00589DEDE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concrete retail task</a:t>
            </a:r>
          </a:p>
        </p:txBody>
      </p:sp>
      <p:sp>
        <p:nvSpPr>
          <p:cNvPr id="3" name="">
            <a:extLst xmlns:a="http://schemas.openxmlformats.org/drawingml/2006/main">
              <a:ext uri="{FF2B5EF4-FFF2-40B4-BE49-F238E27FC236}">
                <a16:creationId xmlns:a16="http://schemas.microsoft.com/office/drawing/2014/main" id="{2B98B0E8-6ACA-4AB8-9A98-F91505C7D51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Base retail task 0: exchange two items in one delivered order</a:t>
            </a:r>
          </a:p>
        </p:txBody>
      </p:sp>
      <p:sp>
        <p:nvSpPr>
          <p:cNvPr id="4" name="">
            <a:extLst xmlns:a="http://schemas.openxmlformats.org/drawingml/2006/main">
              <a:ext uri="{FF2B5EF4-FFF2-40B4-BE49-F238E27FC236}">
                <a16:creationId xmlns:a16="http://schemas.microsoft.com/office/drawing/2014/main" id="{8504E522-4B75-431C-9422-FF577F8AF5A2}"/>
              </a:ext>
            </a:extLst>
          </p:cNvPr>
          <p:cNvSpPr>
            <a:spLocks xmlns:a="http://schemas.openxmlformats.org/drawingml/2006/main" noGrp="1"/>
          </p:cNvSpPr>
          <p:nvPr/>
        </p:nvSpPr>
        <p:spPr>
          <a:xfrm xmlns:a="http://schemas.openxmlformats.org/drawingml/2006/main">
            <a:off x="628650" y="2190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Customer request</a:t>
            </a:r>
          </a:p>
        </p:txBody>
      </p:sp>
      <p:sp>
        <p:nvSpPr>
          <p:cNvPr id="5" name="">
            <a:extLst xmlns:a="http://schemas.openxmlformats.org/drawingml/2006/main">
              <a:ext uri="{FF2B5EF4-FFF2-40B4-BE49-F238E27FC236}">
                <a16:creationId xmlns:a16="http://schemas.microsoft.com/office/drawing/2014/main" id="{02013DA1-ED5E-4A95-BB9C-F0BA0899A81D}"/>
              </a:ext>
            </a:extLst>
          </p:cNvPr>
          <p:cNvSpPr>
            <a:spLocks xmlns:a="http://schemas.openxmlformats.org/drawingml/2006/main" noGrp="1"/>
          </p:cNvSpPr>
          <p:nvPr/>
        </p:nvSpPr>
        <p:spPr>
          <a:xfrm xmlns:a="http://schemas.openxmlformats.org/drawingml/2006/main">
            <a:off x="628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clicky, full-size keyboard with RGB lighting.</a:t>
            </a:r>
          </a:p>
          <a:p xmlns:a="http://schemas.openxmlformats.org/drawingml/2006/main">
            <a:r>
              <a:t/>
            </a:r>
          </a:p>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If unavailable, accept no backlight.</a:t>
            </a:r>
          </a:p>
        </p:txBody>
      </p:sp>
      <p:sp>
        <p:nvSpPr>
          <p:cNvPr id="6" name="">
            <a:extLst xmlns:a="http://schemas.openxmlformats.org/drawingml/2006/main">
              <a:ext uri="{FF2B5EF4-FFF2-40B4-BE49-F238E27FC236}">
                <a16:creationId xmlns:a16="http://schemas.microsoft.com/office/drawing/2014/main" id="{63B00C52-E7EF-49AA-8D5B-B2CBFA0459A7}"/>
              </a:ext>
            </a:extLst>
          </p:cNvPr>
          <p:cNvSpPr>
            <a:spLocks xmlns:a="http://schemas.openxmlformats.org/drawingml/2006/main" noGrp="1"/>
          </p:cNvSpPr>
          <p:nvPr/>
        </p:nvSpPr>
        <p:spPr>
          <a:xfrm xmlns:a="http://schemas.openxmlformats.org/drawingml/2006/main">
            <a:off x="6343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buNone/>
              <a:defRPr sz="2325" b="0">
                <a:solidFill>
                  <a:srgbClr val="102B36"/>
                </a:solidFill>
                <a:latin typeface="Helvetica Neue"/>
                <a:ea typeface="Helvetica Neue"/>
                <a:cs typeface="Helvetica Neue"/>
              </a:defRPr>
            </a:lvl1pPr>
            <a:lvl2pPr>
              <a:buNone/>
              <a:defRPr sz="2325" b="0">
                <a:solidFill>
                  <a:srgbClr val="102B36"/>
                </a:solidFill>
                <a:latin typeface="Helvetica Neue"/>
                <a:ea typeface="Helvetica Neue"/>
                <a:cs typeface="Helvetica Neue"/>
              </a:defRPr>
            </a:lvl2pPr>
            <a:lvl3pPr>
              <a:buNone/>
              <a:defRPr sz="2325" b="0">
                <a:solidFill>
                  <a:srgbClr val="102B36"/>
                </a:solidFill>
                <a:latin typeface="Helvetica Neue"/>
                <a:ea typeface="Helvetica Neue"/>
                <a:cs typeface="Helvetica Neue"/>
              </a:defRPr>
            </a:lvl3pPr>
            <a:lvl4pPr>
              <a:buNone/>
              <a:defRPr sz="2325" b="0">
                <a:solidFill>
                  <a:srgbClr val="102B36"/>
                </a:solidFill>
                <a:latin typeface="Helvetica Neue"/>
                <a:ea typeface="Helvetica Neue"/>
                <a:cs typeface="Helvetica Neue"/>
              </a:defRPr>
            </a:lvl4pPr>
            <a:lvl5pPr>
              <a:buNone/>
              <a:defRPr sz="2325" b="0">
                <a:solidFill>
                  <a:srgbClr val="102B36"/>
                </a:solidFill>
                <a:latin typeface="Helvetica Neue"/>
                <a:ea typeface="Helvetica Neue"/>
                <a:cs typeface="Helvetica Neue"/>
              </a:defRPr>
            </a:lvl5pPr>
            <a:lvl6pPr>
              <a:buNone/>
              <a:defRPr sz="2325" b="0">
                <a:solidFill>
                  <a:srgbClr val="102B36"/>
                </a:solidFill>
                <a:latin typeface="Helvetica Neue"/>
                <a:ea typeface="Helvetica Neue"/>
                <a:cs typeface="Helvetica Neue"/>
              </a:defRPr>
            </a:lvl6pPr>
            <a:lvl7pPr>
              <a:buNone/>
              <a:defRPr sz="2325" b="0">
                <a:solidFill>
                  <a:srgbClr val="102B36"/>
                </a:solidFill>
                <a:latin typeface="Helvetica Neue"/>
                <a:ea typeface="Helvetica Neue"/>
                <a:cs typeface="Helvetica Neue"/>
              </a:defRPr>
            </a:lvl7pPr>
            <a:lvl8pPr>
              <a:buNone/>
              <a:defRPr sz="2325" b="0">
                <a:solidFill>
                  <a:srgbClr val="102B36"/>
                </a:solidFill>
                <a:latin typeface="Helvetica Neue"/>
                <a:ea typeface="Helvetica Neue"/>
                <a:cs typeface="Helvetica Neue"/>
              </a:defRPr>
            </a:lvl8pPr>
            <a:lvl9pPr>
              <a:buNone/>
              <a:defRPr sz="2325" b="0">
                <a:solidFill>
                  <a:srgbClr val="102B36"/>
                </a:solidFill>
                <a:latin typeface="Helvetica Neue"/>
                <a:ea typeface="Helvetica Neue"/>
                <a:cs typeface="Helvetica Neue"/>
              </a:defRPr>
            </a:lvl9pPr>
          </a:lstStyle>
          <a:p xmlns:a="http://schemas.openxmlformats.org/drawingml/2006/main">
            <a:pPr>
              <a:buNone/>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thermostat compatible with Google Home instead of Apple HomeKit.</a:t>
            </a:r>
          </a:p>
        </p:txBody>
      </p:sp>
      <p:sp>
        <p:nvSpPr>
          <p:cNvPr id="7" name="">
            <a:extLst xmlns:a="http://schemas.openxmlformats.org/drawingml/2006/main">
              <a:ext uri="{FF2B5EF4-FFF2-40B4-BE49-F238E27FC236}">
                <a16:creationId xmlns:a16="http://schemas.microsoft.com/office/drawing/2014/main" id="{A7E75006-BC63-4B89-A2B1-06B051DF791E}"/>
              </a:ext>
            </a:extLst>
          </p:cNvPr>
          <p:cNvSpPr>
            <a:spLocks xmlns:a="http://schemas.openxmlformats.org/drawingml/2006/main" noGrp="1"/>
          </p:cNvSpPr>
          <p:nvPr/>
        </p:nvSpPr>
        <p:spPr>
          <a:xfrm xmlns:a="http://schemas.openxmlformats.org/drawingml/2006/main">
            <a:off x="628650" y="5267325"/>
            <a:ext cx="1052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Order #W2378156</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Customer knows name and ZIP code, but has forgotten the email address.</a:t>
            </a:r>
          </a:p>
        </p:txBody>
      </p:sp>
    </p:spTree>
    <p:extLst>
      <p:ext uri="{BB962C8B-B14F-4D97-AF65-F5344CB8AC3E}">
        <p14:creationId xmlns:p14="http://schemas.microsoft.com/office/powerpoint/2010/main" val="195963143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29DAF2-7151-4D35-A686-C4B08CC3ECE9}"/>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BDB8071D-82D1-4F60-844F-A02B8F0E282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Task definition and information boundaries</a:t>
            </a:r>
          </a:p>
        </p:txBody>
      </p:sp>
      <p:sp>
        <p:nvSpPr>
          <p:cNvPr id="3" name="">
            <a:extLst xmlns:a="http://schemas.openxmlformats.org/drawingml/2006/main">
              <a:ext uri="{FF2B5EF4-FFF2-40B4-BE49-F238E27FC236}">
                <a16:creationId xmlns:a16="http://schemas.microsoft.com/office/drawing/2014/main" id="{7C39C59D-BBCD-4326-9382-9C794D920C8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customer scenario and the grading reference serve different roles</a:t>
            </a:r>
          </a:p>
        </p:txBody>
      </p:sp>
      <p:graphicFrame>
        <p:nvGraphicFramePr>
          <p:cNvPr id="4" name="">
            <a:extLst xmlns:a="http://schemas.openxmlformats.org/drawingml/2006/main">
              <a:ext uri="{FF2B5EF4-FFF2-40B4-BE49-F238E27FC236}">
                <a16:creationId xmlns:a16="http://schemas.microsoft.com/office/drawing/2014/main" id="{D1C6421F-C403-4C70-A8E5-5DEA7C1DD2B5}"/>
              </a:ext>
            </a:extLst>
          </p:cNvPr>
          <p:cNvGraphicFramePr/>
          <p:nvPr/>
        </p:nvGraphicFramePr>
        <p:xfrm>
          <a:off xmlns:a="http://schemas.openxmlformats.org/drawingml/2006/main" x="609600" y="2181225"/>
          <a:ext xmlns:a="http://schemas.openxmlformats.org/drawingml/2006/main" cx="10972800" cy="3333750"/>
        </p:xfrm>
        <a:graphic xmlns:a="http://schemas.openxmlformats.org/drawingml/2006/main">
          <a:graphicData uri="http://schemas.openxmlformats.org/drawingml/2006/table">
            <a:tbl>
              <a:tblPr/>
              <a:tblGrid>
                <a:gridCol w="4095750"/>
                <a:gridCol w="6877050"/>
              </a:tblGrid>
              <a:tr h="666750">
                <a:tc>
                  <a:txBody>
                    <a:bodyPr lIns="133350" tIns="133350" rIns="133350" bIns="133350"/>
                    <a:lstStyle/>
                    <a:p>
                      <a:r>
                        <a:rPr sz="1950" b="1">
                          <a:solidFill>
                            <a:srgbClr val="FFFFFF"/>
                          </a:solidFill>
                          <a:latin typeface="Helvetica Neue"/>
                          <a:ea typeface="Helvetica Neue"/>
                          <a:cs typeface="Helvetica Neue"/>
                        </a:rPr>
                        <a:t>Task 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Purpose in this example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user_scenario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Customer goal, identity details and fallback preference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initial_state = null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Use the initial domain database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evaluation_criteria.actions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Reference actions that produce the expected final state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reward_basis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DB and NL_ASSERTION for this base task</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5C9FF774-AEE6-44D1-8558-909FF3A6B432}"/>
              </a:ext>
            </a:extLst>
          </p:cNvPr>
          <p:cNvSpPr>
            <a:spLocks xmlns:a="http://schemas.openxmlformats.org/drawingml/2006/main" noGrp="1"/>
          </p:cNvSpPr>
          <p:nvPr/>
        </p:nvSpPr>
        <p:spPr>
          <a:xfrm xmlns:a="http://schemas.openxmlformats.org/drawingml/2006/main">
            <a:off x="628650"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buNone/>
              <a:defRPr sz="1875" b="1">
                <a:solidFill>
                  <a:srgbClr val="007B78"/>
                </a:solidFill>
                <a:latin typeface="Helvetica Neue"/>
                <a:ea typeface="Helvetica Neue"/>
                <a:cs typeface="Helvetica Neue"/>
              </a:defRPr>
            </a:lvl1pPr>
            <a:lvl2pPr>
              <a:buNone/>
              <a:defRPr sz="1875" b="1">
                <a:solidFill>
                  <a:srgbClr val="007B78"/>
                </a:solidFill>
                <a:latin typeface="Helvetica Neue"/>
                <a:ea typeface="Helvetica Neue"/>
                <a:cs typeface="Helvetica Neue"/>
              </a:defRPr>
            </a:lvl2pPr>
            <a:lvl3pPr>
              <a:buNone/>
              <a:defRPr sz="1875" b="1">
                <a:solidFill>
                  <a:srgbClr val="007B78"/>
                </a:solidFill>
                <a:latin typeface="Helvetica Neue"/>
                <a:ea typeface="Helvetica Neue"/>
                <a:cs typeface="Helvetica Neue"/>
              </a:defRPr>
            </a:lvl3pPr>
            <a:lvl4pPr>
              <a:buNone/>
              <a:defRPr sz="1875" b="1">
                <a:solidFill>
                  <a:srgbClr val="007B78"/>
                </a:solidFill>
                <a:latin typeface="Helvetica Neue"/>
                <a:ea typeface="Helvetica Neue"/>
                <a:cs typeface="Helvetica Neue"/>
              </a:defRPr>
            </a:lvl4pPr>
            <a:lvl5pPr>
              <a:buNone/>
              <a:defRPr sz="1875" b="1">
                <a:solidFill>
                  <a:srgbClr val="007B78"/>
                </a:solidFill>
                <a:latin typeface="Helvetica Neue"/>
                <a:ea typeface="Helvetica Neue"/>
                <a:cs typeface="Helvetica Neue"/>
              </a:defRPr>
            </a:lvl5pPr>
            <a:lvl6pPr>
              <a:buNone/>
              <a:defRPr sz="1875" b="1">
                <a:solidFill>
                  <a:srgbClr val="007B78"/>
                </a:solidFill>
                <a:latin typeface="Helvetica Neue"/>
                <a:ea typeface="Helvetica Neue"/>
                <a:cs typeface="Helvetica Neue"/>
              </a:defRPr>
            </a:lvl6pPr>
            <a:lvl7pPr>
              <a:buNone/>
              <a:defRPr sz="1875" b="1">
                <a:solidFill>
                  <a:srgbClr val="007B78"/>
                </a:solidFill>
                <a:latin typeface="Helvetica Neue"/>
                <a:ea typeface="Helvetica Neue"/>
                <a:cs typeface="Helvetica Neue"/>
              </a:defRPr>
            </a:lvl7pPr>
            <a:lvl8pPr>
              <a:buNone/>
              <a:defRPr sz="1875" b="1">
                <a:solidFill>
                  <a:srgbClr val="007B78"/>
                </a:solidFill>
                <a:latin typeface="Helvetica Neue"/>
                <a:ea typeface="Helvetica Neue"/>
                <a:cs typeface="Helvetica Neue"/>
              </a:defRPr>
            </a:lvl8pPr>
            <a:lvl9pPr>
              <a:buNone/>
              <a:defRPr sz="1875" b="1">
                <a:solidFill>
                  <a:srgbClr val="007B78"/>
                </a:solidFill>
                <a:latin typeface="Helvetica Neue"/>
                <a:ea typeface="Helvetica Neue"/>
                <a:cs typeface="Helvetica Neue"/>
              </a:defRPr>
            </a:lvl9pPr>
          </a:lstStyle>
          <a:p xmlns:a="http://schemas.openxmlformats.org/drawingml/2006/main">
            <a:pPr>
              <a:buNone/>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A normal tested agent discovers the solution through dialogue and tools.</a:t>
            </a:r>
          </a:p>
        </p:txBody>
      </p:sp>
    </p:spTree>
    <p:extLst>
      <p:ext uri="{BB962C8B-B14F-4D97-AF65-F5344CB8AC3E}">
        <p14:creationId xmlns:p14="http://schemas.microsoft.com/office/powerpoint/2010/main" val="121266918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5E3829-D2A5-440D-AF65-824C93B8969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5B8F4B15-37ED-4CD0-BFA3-01407DDD996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tool-use cycle</a:t>
            </a:r>
          </a:p>
        </p:txBody>
      </p:sp>
      <p:sp>
        <p:nvSpPr>
          <p:cNvPr id="3" name="">
            <a:extLst xmlns:a="http://schemas.openxmlformats.org/drawingml/2006/main">
              <a:ext uri="{FF2B5EF4-FFF2-40B4-BE49-F238E27FC236}">
                <a16:creationId xmlns:a16="http://schemas.microsoft.com/office/drawing/2014/main" id="{98DD1A2D-C30E-4E10-B289-44C678429561}"/>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Example sequence: a customer asks about an order</a:t>
            </a:r>
          </a:p>
        </p:txBody>
      </p:sp>
      <p:sp>
        <p:nvSpPr>
          <p:cNvPr id="14" name="">
            <a:extLst xmlns:a="http://schemas.openxmlformats.org/drawingml/2006/main">
              <a:ext uri="{FF2B5EF4-FFF2-40B4-BE49-F238E27FC236}">
                <a16:creationId xmlns:a16="http://schemas.microsoft.com/office/drawing/2014/main" id="{FA412168-357B-4B1E-9E8B-7D838D34F61E}"/>
              </a:ext>
            </a:extLst>
          </p:cNvPr>
          <p:cNvSpPr>
            <a:spLocks xmlns:a="http://schemas.openxmlformats.org/drawingml/2006/main" noGrp="1"/>
          </p:cNvSpPr>
          <p:nvPr/>
        </p:nvSpPr>
        <p:spPr>
          <a:xfrm xmlns:a="http://schemas.openxmlformats.org/drawingml/2006/main">
            <a:off x="59055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User simulator</a:t>
            </a:r>
          </a:p>
        </p:txBody>
      </p:sp>
      <p:sp>
        <p:nvSpPr>
          <p:cNvPr id="15" name="">
            <a:extLst xmlns:a="http://schemas.openxmlformats.org/drawingml/2006/main">
              <a:ext uri="{FF2B5EF4-FFF2-40B4-BE49-F238E27FC236}">
                <a16:creationId xmlns:a16="http://schemas.microsoft.com/office/drawing/2014/main" id="{F8628587-F73D-4064-912F-815CD7CB7509}"/>
              </a:ext>
            </a:extLst>
          </p:cNvPr>
          <p:cNvSpPr>
            <a:spLocks xmlns:a="http://schemas.openxmlformats.org/drawingml/2006/main" noGrp="1"/>
          </p:cNvSpPr>
          <p:nvPr/>
        </p:nvSpPr>
        <p:spPr>
          <a:xfrm xmlns:a="http://schemas.openxmlformats.org/drawingml/2006/main">
            <a:off x="161925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16" name="">
            <a:extLst xmlns:a="http://schemas.openxmlformats.org/drawingml/2006/main">
              <a:ext uri="{FF2B5EF4-FFF2-40B4-BE49-F238E27FC236}">
                <a16:creationId xmlns:a16="http://schemas.microsoft.com/office/drawing/2014/main" id="{B34B4009-0975-49FD-AFA2-3209161F9E45}"/>
              </a:ext>
            </a:extLst>
          </p:cNvPr>
          <p:cNvSpPr>
            <a:spLocks xmlns:a="http://schemas.openxmlformats.org/drawingml/2006/main" noGrp="1"/>
          </p:cNvSpPr>
          <p:nvPr/>
        </p:nvSpPr>
        <p:spPr>
          <a:xfrm xmlns:a="http://schemas.openxmlformats.org/drawingml/2006/main">
            <a:off x="3543300" y="1962150"/>
            <a:ext cx="2057400" cy="504825"/>
          </a:xfrm>
          <a:prstGeom xmlns:a="http://schemas.openxmlformats.org/drawingml/2006/main" prst="roundRect">
            <a:avLst>
              <a:gd name="adj" fmla="val 16981"/>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FFFFFF"/>
                </a:solidFill>
                <a:latin typeface="Helvetica Neue"/>
                <a:ea typeface="Helvetica Neue"/>
                <a:cs typeface="Helvetica Neue"/>
              </a:defRPr>
            </a:defPPr>
            <a:lvl1pPr algn="ctr">
              <a:defRPr sz="1950" b="0">
                <a:solidFill>
                  <a:srgbClr val="FFFFFF"/>
                </a:solidFill>
                <a:latin typeface="Helvetica Neue"/>
                <a:ea typeface="Helvetica Neue"/>
                <a:cs typeface="Helvetica Neue"/>
              </a:defRPr>
            </a:lvl1pPr>
            <a:lvl2pPr algn="ctr">
              <a:defRPr sz="1950" b="0">
                <a:solidFill>
                  <a:srgbClr val="FFFFFF"/>
                </a:solidFill>
                <a:latin typeface="Helvetica Neue"/>
                <a:ea typeface="Helvetica Neue"/>
                <a:cs typeface="Helvetica Neue"/>
              </a:defRPr>
            </a:lvl2pPr>
            <a:lvl3pPr algn="ctr">
              <a:defRPr sz="1950" b="0">
                <a:solidFill>
                  <a:srgbClr val="FFFFFF"/>
                </a:solidFill>
                <a:latin typeface="Helvetica Neue"/>
                <a:ea typeface="Helvetica Neue"/>
                <a:cs typeface="Helvetica Neue"/>
              </a:defRPr>
            </a:lvl3pPr>
            <a:lvl4pPr algn="ctr">
              <a:defRPr sz="1950" b="0">
                <a:solidFill>
                  <a:srgbClr val="FFFFFF"/>
                </a:solidFill>
                <a:latin typeface="Helvetica Neue"/>
                <a:ea typeface="Helvetica Neue"/>
                <a:cs typeface="Helvetica Neue"/>
              </a:defRPr>
            </a:lvl4pPr>
            <a:lvl5pPr algn="ctr">
              <a:defRPr sz="1950" b="0">
                <a:solidFill>
                  <a:srgbClr val="FFFFFF"/>
                </a:solidFill>
                <a:latin typeface="Helvetica Neue"/>
                <a:ea typeface="Helvetica Neue"/>
                <a:cs typeface="Helvetica Neue"/>
              </a:defRPr>
            </a:lvl5pPr>
            <a:lvl6pPr algn="ctr">
              <a:defRPr sz="1950" b="0">
                <a:solidFill>
                  <a:srgbClr val="FFFFFF"/>
                </a:solidFill>
                <a:latin typeface="Helvetica Neue"/>
                <a:ea typeface="Helvetica Neue"/>
                <a:cs typeface="Helvetica Neue"/>
              </a:defRPr>
            </a:lvl6pPr>
            <a:lvl7pPr algn="ctr">
              <a:defRPr sz="1950" b="0">
                <a:solidFill>
                  <a:srgbClr val="FFFFFF"/>
                </a:solidFill>
                <a:latin typeface="Helvetica Neue"/>
                <a:ea typeface="Helvetica Neue"/>
                <a:cs typeface="Helvetica Neue"/>
              </a:defRPr>
            </a:lvl7pPr>
            <a:lvl8pPr algn="ctr">
              <a:defRPr sz="1950" b="0">
                <a:solidFill>
                  <a:srgbClr val="FFFFFF"/>
                </a:solidFill>
                <a:latin typeface="Helvetica Neue"/>
                <a:ea typeface="Helvetica Neue"/>
                <a:cs typeface="Helvetica Neue"/>
              </a:defRPr>
            </a:lvl8pPr>
            <a:lvl9pPr algn="ctr">
              <a:defRPr sz="1950" b="0">
                <a:solidFill>
                  <a:srgbClr val="FFFFFF"/>
                </a:solidFill>
                <a:latin typeface="Helvetica Neue"/>
                <a:ea typeface="Helvetica Neue"/>
                <a:cs typeface="Helvetica Neue"/>
              </a:defRPr>
            </a:lvl9pPr>
          </a:lstStyle>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Orchestrator</a:t>
            </a:r>
          </a:p>
        </p:txBody>
      </p:sp>
      <p:sp>
        <p:nvSpPr>
          <p:cNvPr id="17" name="">
            <a:extLst xmlns:a="http://schemas.openxmlformats.org/drawingml/2006/main">
              <a:ext uri="{FF2B5EF4-FFF2-40B4-BE49-F238E27FC236}">
                <a16:creationId xmlns:a16="http://schemas.microsoft.com/office/drawing/2014/main" id="{F51B077E-DBFA-415C-9218-EFA37E5E5422}"/>
              </a:ext>
            </a:extLst>
          </p:cNvPr>
          <p:cNvSpPr>
            <a:spLocks xmlns:a="http://schemas.openxmlformats.org/drawingml/2006/main" noGrp="1"/>
          </p:cNvSpPr>
          <p:nvPr/>
        </p:nvSpPr>
        <p:spPr>
          <a:xfrm xmlns:a="http://schemas.openxmlformats.org/drawingml/2006/main">
            <a:off x="457200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18" name="">
            <a:extLst xmlns:a="http://schemas.openxmlformats.org/drawingml/2006/main">
              <a:ext uri="{FF2B5EF4-FFF2-40B4-BE49-F238E27FC236}">
                <a16:creationId xmlns:a16="http://schemas.microsoft.com/office/drawing/2014/main" id="{A6AC6AF9-E78A-4318-9134-D870FEC6F297}"/>
              </a:ext>
            </a:extLst>
          </p:cNvPr>
          <p:cNvSpPr>
            <a:spLocks xmlns:a="http://schemas.openxmlformats.org/drawingml/2006/main" noGrp="1"/>
          </p:cNvSpPr>
          <p:nvPr/>
        </p:nvSpPr>
        <p:spPr>
          <a:xfrm xmlns:a="http://schemas.openxmlformats.org/drawingml/2006/main">
            <a:off x="649605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Agent</a:t>
            </a:r>
          </a:p>
        </p:txBody>
      </p:sp>
      <p:sp>
        <p:nvSpPr>
          <p:cNvPr id="19" name="">
            <a:extLst xmlns:a="http://schemas.openxmlformats.org/drawingml/2006/main">
              <a:ext uri="{FF2B5EF4-FFF2-40B4-BE49-F238E27FC236}">
                <a16:creationId xmlns:a16="http://schemas.microsoft.com/office/drawing/2014/main" id="{75C6BD5D-F3D3-4148-AACC-9C9479AF8ED5}"/>
              </a:ext>
            </a:extLst>
          </p:cNvPr>
          <p:cNvSpPr>
            <a:spLocks xmlns:a="http://schemas.openxmlformats.org/drawingml/2006/main" noGrp="1"/>
          </p:cNvSpPr>
          <p:nvPr/>
        </p:nvSpPr>
        <p:spPr>
          <a:xfrm xmlns:a="http://schemas.openxmlformats.org/drawingml/2006/main">
            <a:off x="7524750" y="2524125"/>
            <a:ext cx="0" cy="3524250"/>
          </a:xfrm>
          <a:prstGeom xmlns:a="http://schemas.openxmlformats.org/drawingml/2006/main" prst="line">
            <a:avLst/>
          </a:prstGeom>
          <a:ln xmlns:a="http://schemas.openxmlformats.org/drawingml/2006/main" w="12383">
            <a:solidFill>
              <a:srgbClr val="A8B7B6"/>
            </a:solidFill>
            <a:prstDash val="dash"/>
          </a:ln>
        </p:spPr>
      </p:sp>
      <p:sp>
        <p:nvSpPr>
          <p:cNvPr id="20" name="">
            <a:extLst xmlns:a="http://schemas.openxmlformats.org/drawingml/2006/main">
              <a:ext uri="{FF2B5EF4-FFF2-40B4-BE49-F238E27FC236}">
                <a16:creationId xmlns:a16="http://schemas.microsoft.com/office/drawing/2014/main" id="{B6125BE5-7B56-4DDC-BC38-BD759B039982}"/>
              </a:ext>
            </a:extLst>
          </p:cNvPr>
          <p:cNvSpPr>
            <a:spLocks xmlns:a="http://schemas.openxmlformats.org/drawingml/2006/main" noGrp="1"/>
          </p:cNvSpPr>
          <p:nvPr/>
        </p:nvSpPr>
        <p:spPr>
          <a:xfrm xmlns:a="http://schemas.openxmlformats.org/drawingml/2006/main">
            <a:off x="9448800" y="1962150"/>
            <a:ext cx="2057400" cy="504825"/>
          </a:xfrm>
          <a:prstGeom xmlns:a="http://schemas.openxmlformats.org/drawingml/2006/main" prst="roundRect">
            <a:avLst>
              <a:gd name="adj" fmla="val 16981"/>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Tool environment</a:t>
            </a:r>
          </a:p>
        </p:txBody>
      </p:sp>
      <p:sp>
        <p:nvSpPr>
          <p:cNvPr id="21" name="">
            <a:extLst xmlns:a="http://schemas.openxmlformats.org/drawingml/2006/main">
              <a:ext uri="{FF2B5EF4-FFF2-40B4-BE49-F238E27FC236}">
                <a16:creationId xmlns:a16="http://schemas.microsoft.com/office/drawing/2014/main" id="{FA9906B0-6730-45E0-B9E5-84FAED70D071}"/>
              </a:ext>
            </a:extLst>
          </p:cNvPr>
          <p:cNvSpPr>
            <a:spLocks xmlns:a="http://schemas.openxmlformats.org/drawingml/2006/main" noGrp="1"/>
          </p:cNvSpPr>
          <p:nvPr/>
        </p:nvSpPr>
        <p:spPr>
          <a:xfrm xmlns:a="http://schemas.openxmlformats.org/drawingml/2006/main">
            <a:off x="10477500" y="2524125"/>
            <a:ext cx="0" cy="3524250"/>
          </a:xfrm>
          <a:prstGeom xmlns:a="http://schemas.openxmlformats.org/drawingml/2006/main" prst="line">
            <a:avLst/>
          </a:prstGeom>
          <a:ln xmlns:a="http://schemas.openxmlformats.org/drawingml/2006/main" w="12383">
            <a:solidFill>
              <a:srgbClr val="A8B7B6"/>
            </a:solidFill>
            <a:prstDash val="dash"/>
          </a:ln>
        </p:spPr>
      </p:sp>
      <p:cxnSp>
        <p:nvCxnSpPr>
          <p:cNvPr id="22" name="">
            <a:extLst xmlns:a="http://schemas.openxmlformats.org/drawingml/2006/main">
              <a:ext uri="{FF2B5EF4-FFF2-40B4-BE49-F238E27FC236}">
                <a16:creationId xmlns:a16="http://schemas.microsoft.com/office/drawing/2014/main" id="{D85536F7-9161-41DD-8F8F-67306DE45C02}"/>
              </a:ext>
            </a:extLst>
          </p:cNvPr>
          <p:cNvCxnSpPr/>
          <p:nvPr/>
        </p:nvCxnSpPr>
        <p:spPr>
          <a:xfrm xmlns:a="http://schemas.openxmlformats.org/drawingml/2006/main">
            <a:off x="1619250" y="28098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3" name="">
            <a:extLst xmlns:a="http://schemas.openxmlformats.org/drawingml/2006/main">
              <a:ext uri="{FF2B5EF4-FFF2-40B4-BE49-F238E27FC236}">
                <a16:creationId xmlns:a16="http://schemas.microsoft.com/office/drawing/2014/main" id="{DCF314E2-46C2-406E-B587-13C9E457221E}"/>
              </a:ext>
            </a:extLst>
          </p:cNvPr>
          <p:cNvSpPr>
            <a:spLocks xmlns:a="http://schemas.openxmlformats.org/drawingml/2006/main" noGrp="1"/>
          </p:cNvSpPr>
          <p:nvPr/>
        </p:nvSpPr>
        <p:spPr>
          <a:xfrm xmlns:a="http://schemas.openxmlformats.org/drawingml/2006/main">
            <a:off x="1733550" y="25336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1  Customer message</a:t>
            </a:r>
          </a:p>
        </p:txBody>
      </p:sp>
      <p:cxnSp>
        <p:nvCxnSpPr>
          <p:cNvPr id="24" name="">
            <a:extLst xmlns:a="http://schemas.openxmlformats.org/drawingml/2006/main">
              <a:ext uri="{FF2B5EF4-FFF2-40B4-BE49-F238E27FC236}">
                <a16:creationId xmlns:a16="http://schemas.microsoft.com/office/drawing/2014/main" id="{4F68F5A3-E2AF-485B-B7E8-AA52E0DD78BE}"/>
              </a:ext>
            </a:extLst>
          </p:cNvPr>
          <p:cNvCxnSpPr/>
          <p:nvPr/>
        </p:nvCxnSpPr>
        <p:spPr>
          <a:xfrm xmlns:a="http://schemas.openxmlformats.org/drawingml/2006/main">
            <a:off x="4572000" y="32289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5" name="">
            <a:extLst xmlns:a="http://schemas.openxmlformats.org/drawingml/2006/main">
              <a:ext uri="{FF2B5EF4-FFF2-40B4-BE49-F238E27FC236}">
                <a16:creationId xmlns:a16="http://schemas.microsoft.com/office/drawing/2014/main" id="{0E53D681-E005-43AB-B5ED-2C01F6CB28ED}"/>
              </a:ext>
            </a:extLst>
          </p:cNvPr>
          <p:cNvSpPr>
            <a:spLocks xmlns:a="http://schemas.openxmlformats.org/drawingml/2006/main" noGrp="1"/>
          </p:cNvSpPr>
          <p:nvPr/>
        </p:nvSpPr>
        <p:spPr>
          <a:xfrm xmlns:a="http://schemas.openxmlformats.org/drawingml/2006/main">
            <a:off x="4686300" y="29527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2  Forward message</a:t>
            </a:r>
          </a:p>
        </p:txBody>
      </p:sp>
      <p:cxnSp>
        <p:nvCxnSpPr>
          <p:cNvPr id="26" name="">
            <a:extLst xmlns:a="http://schemas.openxmlformats.org/drawingml/2006/main">
              <a:ext uri="{FF2B5EF4-FFF2-40B4-BE49-F238E27FC236}">
                <a16:creationId xmlns:a16="http://schemas.microsoft.com/office/drawing/2014/main" id="{2442C557-5B99-491D-BD98-C97EDD2FBC50}"/>
              </a:ext>
            </a:extLst>
          </p:cNvPr>
          <p:cNvCxnSpPr/>
          <p:nvPr/>
        </p:nvCxnSpPr>
        <p:spPr>
          <a:xfrm xmlns:a="http://schemas.openxmlformats.org/drawingml/2006/main">
            <a:off x="4572000" y="36480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27" name="">
            <a:extLst xmlns:a="http://schemas.openxmlformats.org/drawingml/2006/main">
              <a:ext uri="{FF2B5EF4-FFF2-40B4-BE49-F238E27FC236}">
                <a16:creationId xmlns:a16="http://schemas.microsoft.com/office/drawing/2014/main" id="{1B188F3F-52A6-4083-8411-54689A43F9B1}"/>
              </a:ext>
            </a:extLst>
          </p:cNvPr>
          <p:cNvSpPr>
            <a:spLocks xmlns:a="http://schemas.openxmlformats.org/drawingml/2006/main" noGrp="1"/>
          </p:cNvSpPr>
          <p:nvPr/>
        </p:nvSpPr>
        <p:spPr>
          <a:xfrm xmlns:a="http://schemas.openxmlformats.org/drawingml/2006/main">
            <a:off x="4686300" y="33718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3  Tool call request</a:t>
            </a:r>
          </a:p>
        </p:txBody>
      </p:sp>
      <p:cxnSp>
        <p:nvCxnSpPr>
          <p:cNvPr id="28" name="">
            <a:extLst xmlns:a="http://schemas.openxmlformats.org/drawingml/2006/main">
              <a:ext uri="{FF2B5EF4-FFF2-40B4-BE49-F238E27FC236}">
                <a16:creationId xmlns:a16="http://schemas.microsoft.com/office/drawing/2014/main" id="{AE0541EF-5067-40B2-9CB3-F40FA19E867C}"/>
              </a:ext>
            </a:extLst>
          </p:cNvPr>
          <p:cNvCxnSpPr/>
          <p:nvPr/>
        </p:nvCxnSpPr>
        <p:spPr>
          <a:xfrm xmlns:a="http://schemas.openxmlformats.org/drawingml/2006/main">
            <a:off x="4572000" y="4067175"/>
            <a:ext cx="590550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29" name="">
            <a:extLst xmlns:a="http://schemas.openxmlformats.org/drawingml/2006/main">
              <a:ext uri="{FF2B5EF4-FFF2-40B4-BE49-F238E27FC236}">
                <a16:creationId xmlns:a16="http://schemas.microsoft.com/office/drawing/2014/main" id="{BC025349-2D79-45B8-886C-D34882A97E66}"/>
              </a:ext>
            </a:extLst>
          </p:cNvPr>
          <p:cNvSpPr>
            <a:spLocks xmlns:a="http://schemas.openxmlformats.org/drawingml/2006/main" noGrp="1"/>
          </p:cNvSpPr>
          <p:nvPr/>
        </p:nvSpPr>
        <p:spPr>
          <a:xfrm xmlns:a="http://schemas.openxmlformats.org/drawingml/2006/main">
            <a:off x="4686300" y="3790950"/>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4  Execute get_order_details(order_id)</a:t>
            </a:r>
          </a:p>
        </p:txBody>
      </p:sp>
      <p:cxnSp>
        <p:nvCxnSpPr>
          <p:cNvPr id="30" name="">
            <a:extLst xmlns:a="http://schemas.openxmlformats.org/drawingml/2006/main">
              <a:ext uri="{FF2B5EF4-FFF2-40B4-BE49-F238E27FC236}">
                <a16:creationId xmlns:a16="http://schemas.microsoft.com/office/drawing/2014/main" id="{ABB0A919-99FA-43D8-88E0-1F24AB03AAEB}"/>
              </a:ext>
            </a:extLst>
          </p:cNvPr>
          <p:cNvCxnSpPr/>
          <p:nvPr/>
        </p:nvCxnSpPr>
        <p:spPr>
          <a:xfrm xmlns:a="http://schemas.openxmlformats.org/drawingml/2006/main">
            <a:off x="4572000" y="4486275"/>
            <a:ext cx="590550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1" name="">
            <a:extLst xmlns:a="http://schemas.openxmlformats.org/drawingml/2006/main">
              <a:ext uri="{FF2B5EF4-FFF2-40B4-BE49-F238E27FC236}">
                <a16:creationId xmlns:a16="http://schemas.microsoft.com/office/drawing/2014/main" id="{EF9B6B29-3A05-461F-9D1B-38EE789C78B1}"/>
              </a:ext>
            </a:extLst>
          </p:cNvPr>
          <p:cNvSpPr>
            <a:spLocks xmlns:a="http://schemas.openxmlformats.org/drawingml/2006/main" noGrp="1"/>
          </p:cNvSpPr>
          <p:nvPr/>
        </p:nvSpPr>
        <p:spPr>
          <a:xfrm xmlns:a="http://schemas.openxmlformats.org/drawingml/2006/main">
            <a:off x="4686300" y="4210050"/>
            <a:ext cx="567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5  Return order data</a:t>
            </a:r>
          </a:p>
        </p:txBody>
      </p:sp>
      <p:cxnSp>
        <p:nvCxnSpPr>
          <p:cNvPr id="32" name="">
            <a:extLst xmlns:a="http://schemas.openxmlformats.org/drawingml/2006/main">
              <a:ext uri="{FF2B5EF4-FFF2-40B4-BE49-F238E27FC236}">
                <a16:creationId xmlns:a16="http://schemas.microsoft.com/office/drawing/2014/main" id="{0D581846-4D41-4C8A-9FA5-A8948628CA3A}"/>
              </a:ext>
            </a:extLst>
          </p:cNvPr>
          <p:cNvCxnSpPr/>
          <p:nvPr/>
        </p:nvCxnSpPr>
        <p:spPr>
          <a:xfrm xmlns:a="http://schemas.openxmlformats.org/drawingml/2006/main">
            <a:off x="4572000" y="4905375"/>
            <a:ext cx="2952750" cy="0"/>
          </a:xfrm>
          <a:prstGeom xmlns:a="http://schemas.openxmlformats.org/drawingml/2006/main" prst="straightConnector1">
            <a:avLst/>
          </a:prstGeom>
          <a:ln xmlns:a="http://schemas.openxmlformats.org/drawingml/2006/main" w="22860">
            <a:solidFill>
              <a:srgbClr val="007B78"/>
            </a:solidFill>
            <a:tailEnd type="triangle" w="sm" len="sm"/>
          </a:ln>
        </p:spPr>
      </p:cxnSp>
      <p:sp>
        <p:nvSpPr>
          <p:cNvPr id="33" name="">
            <a:extLst xmlns:a="http://schemas.openxmlformats.org/drawingml/2006/main">
              <a:ext uri="{FF2B5EF4-FFF2-40B4-BE49-F238E27FC236}">
                <a16:creationId xmlns:a16="http://schemas.microsoft.com/office/drawing/2014/main" id="{FF0581A0-9AD7-40FD-90F4-328743D232BA}"/>
              </a:ext>
            </a:extLst>
          </p:cNvPr>
          <p:cNvSpPr>
            <a:spLocks xmlns:a="http://schemas.openxmlformats.org/drawingml/2006/main" noGrp="1"/>
          </p:cNvSpPr>
          <p:nvPr/>
        </p:nvSpPr>
        <p:spPr>
          <a:xfrm xmlns:a="http://schemas.openxmlformats.org/drawingml/2006/main">
            <a:off x="4686300" y="46291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6  Deliver tool result</a:t>
            </a:r>
          </a:p>
        </p:txBody>
      </p:sp>
      <p:cxnSp>
        <p:nvCxnSpPr>
          <p:cNvPr id="34" name="">
            <a:extLst xmlns:a="http://schemas.openxmlformats.org/drawingml/2006/main">
              <a:ext uri="{FF2B5EF4-FFF2-40B4-BE49-F238E27FC236}">
                <a16:creationId xmlns:a16="http://schemas.microsoft.com/office/drawing/2014/main" id="{2AAFD0FB-0C24-44C6-B9A6-E2952092E095}"/>
              </a:ext>
            </a:extLst>
          </p:cNvPr>
          <p:cNvCxnSpPr/>
          <p:nvPr/>
        </p:nvCxnSpPr>
        <p:spPr>
          <a:xfrm xmlns:a="http://schemas.openxmlformats.org/drawingml/2006/main">
            <a:off x="4572000" y="53244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5" name="">
            <a:extLst xmlns:a="http://schemas.openxmlformats.org/drawingml/2006/main">
              <a:ext uri="{FF2B5EF4-FFF2-40B4-BE49-F238E27FC236}">
                <a16:creationId xmlns:a16="http://schemas.microsoft.com/office/drawing/2014/main" id="{39475CFC-5DD3-4BD5-AAE5-84EF66864234}"/>
              </a:ext>
            </a:extLst>
          </p:cNvPr>
          <p:cNvSpPr>
            <a:spLocks xmlns:a="http://schemas.openxmlformats.org/drawingml/2006/main" noGrp="1"/>
          </p:cNvSpPr>
          <p:nvPr/>
        </p:nvSpPr>
        <p:spPr>
          <a:xfrm xmlns:a="http://schemas.openxmlformats.org/drawingml/2006/main">
            <a:off x="4686300" y="50482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7  Generate a reply</a:t>
            </a:r>
          </a:p>
        </p:txBody>
      </p:sp>
      <p:cxnSp>
        <p:nvCxnSpPr>
          <p:cNvPr id="36" name="">
            <a:extLst xmlns:a="http://schemas.openxmlformats.org/drawingml/2006/main">
              <a:ext uri="{FF2B5EF4-FFF2-40B4-BE49-F238E27FC236}">
                <a16:creationId xmlns:a16="http://schemas.microsoft.com/office/drawing/2014/main" id="{90BD964D-16D7-4E86-9BFF-EF74C355C07F}"/>
              </a:ext>
            </a:extLst>
          </p:cNvPr>
          <p:cNvCxnSpPr/>
          <p:nvPr/>
        </p:nvCxnSpPr>
        <p:spPr>
          <a:xfrm xmlns:a="http://schemas.openxmlformats.org/drawingml/2006/main">
            <a:off x="1619250" y="5743575"/>
            <a:ext cx="2952750" cy="0"/>
          </a:xfrm>
          <a:prstGeom xmlns:a="http://schemas.openxmlformats.org/drawingml/2006/main" prst="straightConnector1">
            <a:avLst/>
          </a:prstGeom>
          <a:ln xmlns:a="http://schemas.openxmlformats.org/drawingml/2006/main" w="22860">
            <a:solidFill>
              <a:srgbClr val="007B78"/>
            </a:solidFill>
            <a:headEnd type="triangle" w="sm" len="sm"/>
          </a:ln>
        </p:spPr>
      </p:cxnSp>
      <p:sp>
        <p:nvSpPr>
          <p:cNvPr id="37" name="">
            <a:extLst xmlns:a="http://schemas.openxmlformats.org/drawingml/2006/main">
              <a:ext uri="{FF2B5EF4-FFF2-40B4-BE49-F238E27FC236}">
                <a16:creationId xmlns:a16="http://schemas.microsoft.com/office/drawing/2014/main" id="{02EBA6A8-91E2-4C30-B2B7-E597F19A4B0F}"/>
              </a:ext>
            </a:extLst>
          </p:cNvPr>
          <p:cNvSpPr>
            <a:spLocks xmlns:a="http://schemas.openxmlformats.org/drawingml/2006/main" noGrp="1"/>
          </p:cNvSpPr>
          <p:nvPr/>
        </p:nvSpPr>
        <p:spPr>
          <a:xfrm xmlns:a="http://schemas.openxmlformats.org/drawingml/2006/main">
            <a:off x="1733550" y="54673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ctr">
              <a:defRPr sz="1575" b="0">
                <a:solidFill>
                  <a:srgbClr val="102B36"/>
                </a:solidFill>
                <a:latin typeface="Helvetica Neue"/>
                <a:ea typeface="Helvetica Neue"/>
                <a:cs typeface="Helvetica Neue"/>
              </a:defRPr>
            </a:defPPr>
            <a:lvl1pPr algn="ctr">
              <a:defRPr sz="1575" b="0">
                <a:solidFill>
                  <a:srgbClr val="102B36"/>
                </a:solidFill>
                <a:latin typeface="Helvetica Neue"/>
                <a:ea typeface="Helvetica Neue"/>
                <a:cs typeface="Helvetica Neue"/>
              </a:defRPr>
            </a:lvl1pPr>
            <a:lvl2pPr algn="ctr">
              <a:defRPr sz="1575" b="0">
                <a:solidFill>
                  <a:srgbClr val="102B36"/>
                </a:solidFill>
                <a:latin typeface="Helvetica Neue"/>
                <a:ea typeface="Helvetica Neue"/>
                <a:cs typeface="Helvetica Neue"/>
              </a:defRPr>
            </a:lvl2pPr>
            <a:lvl3pPr algn="ctr">
              <a:defRPr sz="1575" b="0">
                <a:solidFill>
                  <a:srgbClr val="102B36"/>
                </a:solidFill>
                <a:latin typeface="Helvetica Neue"/>
                <a:ea typeface="Helvetica Neue"/>
                <a:cs typeface="Helvetica Neue"/>
              </a:defRPr>
            </a:lvl3pPr>
            <a:lvl4pPr algn="ctr">
              <a:defRPr sz="1575" b="0">
                <a:solidFill>
                  <a:srgbClr val="102B36"/>
                </a:solidFill>
                <a:latin typeface="Helvetica Neue"/>
                <a:ea typeface="Helvetica Neue"/>
                <a:cs typeface="Helvetica Neue"/>
              </a:defRPr>
            </a:lvl4pPr>
            <a:lvl5pPr algn="ctr">
              <a:defRPr sz="1575" b="0">
                <a:solidFill>
                  <a:srgbClr val="102B36"/>
                </a:solidFill>
                <a:latin typeface="Helvetica Neue"/>
                <a:ea typeface="Helvetica Neue"/>
                <a:cs typeface="Helvetica Neue"/>
              </a:defRPr>
            </a:lvl5pPr>
            <a:lvl6pPr algn="ctr">
              <a:defRPr sz="1575" b="0">
                <a:solidFill>
                  <a:srgbClr val="102B36"/>
                </a:solidFill>
                <a:latin typeface="Helvetica Neue"/>
                <a:ea typeface="Helvetica Neue"/>
                <a:cs typeface="Helvetica Neue"/>
              </a:defRPr>
            </a:lvl6pPr>
            <a:lvl7pPr algn="ctr">
              <a:defRPr sz="1575" b="0">
                <a:solidFill>
                  <a:srgbClr val="102B36"/>
                </a:solidFill>
                <a:latin typeface="Helvetica Neue"/>
                <a:ea typeface="Helvetica Neue"/>
                <a:cs typeface="Helvetica Neue"/>
              </a:defRPr>
            </a:lvl7pPr>
            <a:lvl8pPr algn="ctr">
              <a:defRPr sz="1575" b="0">
                <a:solidFill>
                  <a:srgbClr val="102B36"/>
                </a:solidFill>
                <a:latin typeface="Helvetica Neue"/>
                <a:ea typeface="Helvetica Neue"/>
                <a:cs typeface="Helvetica Neue"/>
              </a:defRPr>
            </a:lvl8pPr>
            <a:lvl9pPr algn="ctr">
              <a:defRPr sz="1575" b="0">
                <a:solidFill>
                  <a:srgbClr val="102B36"/>
                </a:solidFill>
                <a:latin typeface="Helvetica Neue"/>
                <a:ea typeface="Helvetica Neue"/>
                <a:cs typeface="Helvetica Neue"/>
              </a:defRPr>
            </a:lvl9pPr>
          </a:lstStyle>
          <a:p xmlns:a="http://schemas.openxmlformats.org/drawingml/2006/main">
            <a:pPr algn="ctr">
              <a:defRPr sz="1575" b="0">
                <a:solidFill>
                  <a:srgbClr val="102B36"/>
                </a:solidFill>
                <a:latin typeface="Helvetica Neue"/>
                <a:ea typeface="Helvetica Neue"/>
                <a:cs typeface="Helvetica Neue"/>
              </a:defRPr>
            </a:pPr>
            <a:r>
              <a:rPr sz="1575" b="0">
                <a:solidFill>
                  <a:srgbClr val="102B36"/>
                </a:solidFill>
                <a:latin typeface="Helvetica Neue"/>
                <a:ea typeface="Helvetica Neue"/>
                <a:cs typeface="Helvetica Neue"/>
              </a:rPr>
              <a:t>8  Deliver reply</a:t>
            </a:r>
          </a:p>
        </p:txBody>
      </p:sp>
    </p:spTree>
    <p:extLst>
      <p:ext uri="{BB962C8B-B14F-4D97-AF65-F5344CB8AC3E}">
        <p14:creationId xmlns:p14="http://schemas.microsoft.com/office/powerpoint/2010/main" val="204387239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E22C-BC0D-467B-B390-6852D2C550B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3B4487-D0E2-407D-91E6-75C0754FE4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Product lookup determines the replacement</a:t>
            </a:r>
          </a:p>
        </p:txBody>
      </p:sp>
      <p:sp>
        <p:nvSpPr>
          <p:cNvPr id="3" name="">
            <a:extLst xmlns:a="http://schemas.openxmlformats.org/drawingml/2006/main">
              <a:ext uri="{FF2B5EF4-FFF2-40B4-BE49-F238E27FC236}">
                <a16:creationId xmlns:a16="http://schemas.microsoft.com/office/drawing/2014/main" id="{658DFDB9-544F-4717-BB1F-21CD7B50E19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preferred RGB keyboard exists, but it is unavailable</a:t>
            </a:r>
          </a:p>
        </p:txBody>
      </p:sp>
      <p:graphicFrame>
        <p:nvGraphicFramePr>
          <p:cNvPr id="4" name="">
            <a:extLst xmlns:a="http://schemas.openxmlformats.org/drawingml/2006/main">
              <a:ext uri="{FF2B5EF4-FFF2-40B4-BE49-F238E27FC236}">
                <a16:creationId xmlns:a16="http://schemas.microsoft.com/office/drawing/2014/main" id="{3751DDBB-F902-4A16-BB34-DDF9A246DCC9}"/>
              </a:ext>
            </a:extLst>
          </p:cNvPr>
          <p:cNvGraphicFramePr/>
          <p:nvPr/>
        </p:nvGraphicFramePr>
        <p:xfrm>
          <a:off xmlns:a="http://schemas.openxmlformats.org/drawingml/2006/main" x="609600" y="2324100"/>
          <a:ext xmlns:a="http://schemas.openxmlformats.org/drawingml/2006/main" cx="10972800" cy="2476500"/>
        </p:xfrm>
        <a:graphic xmlns:a="http://schemas.openxmlformats.org/drawingml/2006/main">
          <a:graphicData uri="http://schemas.openxmlformats.org/drawingml/2006/table">
            <a:tbl>
              <a:tblPr/>
              <a:tblGrid>
                <a:gridCol w="1762125"/>
                <a:gridCol w="2857500"/>
                <a:gridCol w="4095750"/>
                <a:gridCol w="2257425"/>
              </a:tblGrid>
              <a:tr h="825500">
                <a:tc>
                  <a:txBody>
                    <a:bodyPr lIns="133350" tIns="133350" rIns="133350" bIns="133350"/>
                    <a:lstStyle/>
                    <a:p>
                      <a:r>
                        <a:rPr sz="2025" b="1">
                          <a:solidFill>
                            <a:srgbClr val="FFFFFF"/>
                          </a:solidFill>
                          <a:latin typeface="Helvetica Neue"/>
                          <a:ea typeface="Helvetica Neue"/>
                          <a:cs typeface="Helvetica Neue"/>
                        </a:rPr>
                        <a:t>Item</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Original</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Available replacement</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Difference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825500">
                <a:tc>
                  <a:txBody>
                    <a:bodyPr lIns="133350" tIns="133350" rIns="133350" bIns="133350"/>
                    <a:lstStyle/>
                    <a:p>
                      <a:r>
                        <a:rPr sz="2025" b="0">
                          <a:solidFill>
                            <a:srgbClr val="102B36"/>
                          </a:solidFill>
                          <a:latin typeface="Helvetica Neue"/>
                          <a:ea typeface="Helvetica Neue"/>
                          <a:cs typeface="Helvetica Neue"/>
                        </a:rPr>
                        <a:t>Keyboard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Linear, RGB</a:t>
                      </a:r>
                    </a:p>
                    <a:p>
                      <a:r>
                        <a:rPr sz="2025" b="0">
                          <a:solidFill>
                            <a:srgbClr val="102B36"/>
                          </a:solidFill>
                          <a:latin typeface="Helvetica Neue"/>
                          <a:ea typeface="Helvetica Neue"/>
                          <a:cs typeface="Helvetica Neue"/>
                        </a:rPr>
                        <a:t>$272.33</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Clicky, no backlight</a:t>
                      </a:r>
                    </a:p>
                    <a:p>
                      <a:r>
                        <a:rPr sz="2025" b="0">
                          <a:solidFill>
                            <a:srgbClr val="102B36"/>
                          </a:solidFill>
                          <a:latin typeface="Helvetica Neue"/>
                          <a:ea typeface="Helvetica Neue"/>
                          <a:cs typeface="Helvetica Neue"/>
                        </a:rPr>
                        <a:t>$269.16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−$3.17</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825500">
                <a:tc>
                  <a:txBody>
                    <a:bodyPr lIns="133350" tIns="133350" rIns="133350" bIns="133350"/>
                    <a:lstStyle/>
                    <a:p>
                      <a:r>
                        <a:rPr sz="2025" b="0">
                          <a:solidFill>
                            <a:srgbClr val="102B36"/>
                          </a:solidFill>
                          <a:latin typeface="Helvetica Neue"/>
                          <a:ea typeface="Helvetica Neue"/>
                          <a:cs typeface="Helvetica Neue"/>
                        </a:rPr>
                        <a:t>Thermostat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Apple HomeKit</a:t>
                      </a:r>
                    </a:p>
                    <a:p>
                      <a:r>
                        <a:rPr sz="2025" b="0">
                          <a:solidFill>
                            <a:srgbClr val="102B36"/>
                          </a:solidFill>
                          <a:latin typeface="Helvetica Neue"/>
                          <a:ea typeface="Helvetica Neue"/>
                          <a:cs typeface="Helvetica Neue"/>
                        </a:rPr>
                        <a:t>$262.47</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Google Assistant</a:t>
                      </a:r>
                    </a:p>
                    <a:p>
                      <a:r>
                        <a:rPr sz="2025" b="0">
                          <a:solidFill>
                            <a:srgbClr val="102B36"/>
                          </a:solidFill>
                          <a:latin typeface="Helvetica Neue"/>
                          <a:ea typeface="Helvetica Neue"/>
                          <a:cs typeface="Helvetica Neue"/>
                        </a:rPr>
                        <a:t>$249.01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−$13.46</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B1681B7-3B6A-4FD8-BC4E-75988E86C206}"/>
              </a:ext>
            </a:extLst>
          </p:cNvPr>
          <p:cNvSpPr>
            <a:spLocks xmlns:a="http://schemas.openxmlformats.org/drawingml/2006/main" noGrp="1"/>
          </p:cNvSpPr>
          <p:nvPr/>
        </p:nvSpPr>
        <p:spPr>
          <a:xfrm xmlns:a="http://schemas.openxmlformats.org/drawingml/2006/main">
            <a:off x="628650" y="5200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07B78"/>
                </a:solidFill>
                <a:latin typeface="Helvetica Neue"/>
                <a:ea typeface="Helvetica Neue"/>
                <a:cs typeface="Helvetica Neue"/>
              </a:defRPr>
            </a:defPPr>
            <a:lvl1pPr>
              <a:buNone/>
              <a:defRPr sz="2775" b="1">
                <a:solidFill>
                  <a:srgbClr val="007B78"/>
                </a:solidFill>
                <a:latin typeface="Helvetica Neue"/>
                <a:ea typeface="Helvetica Neue"/>
                <a:cs typeface="Helvetica Neue"/>
              </a:defRPr>
            </a:lvl1pPr>
            <a:lvl2pPr>
              <a:buNone/>
              <a:defRPr sz="2775" b="1">
                <a:solidFill>
                  <a:srgbClr val="007B78"/>
                </a:solidFill>
                <a:latin typeface="Helvetica Neue"/>
                <a:ea typeface="Helvetica Neue"/>
                <a:cs typeface="Helvetica Neue"/>
              </a:defRPr>
            </a:lvl2pPr>
            <a:lvl3pPr>
              <a:buNone/>
              <a:defRPr sz="2775" b="1">
                <a:solidFill>
                  <a:srgbClr val="007B78"/>
                </a:solidFill>
                <a:latin typeface="Helvetica Neue"/>
                <a:ea typeface="Helvetica Neue"/>
                <a:cs typeface="Helvetica Neue"/>
              </a:defRPr>
            </a:lvl3pPr>
            <a:lvl4pPr>
              <a:buNone/>
              <a:defRPr sz="2775" b="1">
                <a:solidFill>
                  <a:srgbClr val="007B78"/>
                </a:solidFill>
                <a:latin typeface="Helvetica Neue"/>
                <a:ea typeface="Helvetica Neue"/>
                <a:cs typeface="Helvetica Neue"/>
              </a:defRPr>
            </a:lvl4pPr>
            <a:lvl5pPr>
              <a:buNone/>
              <a:defRPr sz="2775" b="1">
                <a:solidFill>
                  <a:srgbClr val="007B78"/>
                </a:solidFill>
                <a:latin typeface="Helvetica Neue"/>
                <a:ea typeface="Helvetica Neue"/>
                <a:cs typeface="Helvetica Neue"/>
              </a:defRPr>
            </a:lvl5pPr>
            <a:lvl6pPr>
              <a:buNone/>
              <a:defRPr sz="2775" b="1">
                <a:solidFill>
                  <a:srgbClr val="007B78"/>
                </a:solidFill>
                <a:latin typeface="Helvetica Neue"/>
                <a:ea typeface="Helvetica Neue"/>
                <a:cs typeface="Helvetica Neue"/>
              </a:defRPr>
            </a:lvl6pPr>
            <a:lvl7pPr>
              <a:buNone/>
              <a:defRPr sz="2775" b="1">
                <a:solidFill>
                  <a:srgbClr val="007B78"/>
                </a:solidFill>
                <a:latin typeface="Helvetica Neue"/>
                <a:ea typeface="Helvetica Neue"/>
                <a:cs typeface="Helvetica Neue"/>
              </a:defRPr>
            </a:lvl7pPr>
            <a:lvl8pPr>
              <a:buNone/>
              <a:defRPr sz="2775" b="1">
                <a:solidFill>
                  <a:srgbClr val="007B78"/>
                </a:solidFill>
                <a:latin typeface="Helvetica Neue"/>
                <a:ea typeface="Helvetica Neue"/>
                <a:cs typeface="Helvetica Neue"/>
              </a:defRPr>
            </a:lvl8pPr>
            <a:lvl9pPr>
              <a:buNone/>
              <a:defRPr sz="2775" b="1">
                <a:solidFill>
                  <a:srgbClr val="007B78"/>
                </a:solidFill>
                <a:latin typeface="Helvetica Neue"/>
                <a:ea typeface="Helvetica Neue"/>
                <a:cs typeface="Helvetica Neue"/>
              </a:defRPr>
            </a:lvl9pPr>
          </a:lstStyle>
          <a:p xmlns:a="http://schemas.openxmlformats.org/drawingml/2006/main">
            <a:pPr>
              <a:buNone/>
              <a:defRPr sz="2775" b="1">
                <a:solidFill>
                  <a:srgbClr val="007B78"/>
                </a:solidFill>
                <a:latin typeface="Helvetica Neue"/>
                <a:ea typeface="Helvetica Neue"/>
                <a:cs typeface="Helvetica Neue"/>
              </a:defRPr>
            </a:pPr>
            <a:r>
              <a:rPr sz="2775" b="1">
                <a:solidFill>
                  <a:srgbClr val="007B78"/>
                </a:solidFill>
                <a:latin typeface="Helvetica Neue"/>
                <a:ea typeface="Helvetica Neue"/>
                <a:cs typeface="Helvetica Neue"/>
              </a:rPr>
              <a:t>Combined price difference: −$16.63</a:t>
            </a:r>
          </a:p>
        </p:txBody>
      </p:sp>
      <p:sp>
        <p:nvSpPr>
          <p:cNvPr id="6" name="">
            <a:extLst xmlns:a="http://schemas.openxmlformats.org/drawingml/2006/main">
              <a:ext uri="{FF2B5EF4-FFF2-40B4-BE49-F238E27FC236}">
                <a16:creationId xmlns:a16="http://schemas.microsoft.com/office/drawing/2014/main" id="{82ECBEB2-4B8A-4FFB-B86F-860A5FAB0E32}"/>
              </a:ext>
            </a:extLst>
          </p:cNvPr>
          <p:cNvSpPr>
            <a:spLocks xmlns:a="http://schemas.openxmlformats.org/drawingml/2006/main" noGrp="1"/>
          </p:cNvSpPr>
          <p:nvPr/>
        </p:nvSpPr>
        <p:spPr>
          <a:xfrm xmlns:a="http://schemas.openxmlformats.org/drawingml/2006/main">
            <a:off x="6286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buNone/>
              <a:defRPr sz="1800" b="0">
                <a:solidFill>
                  <a:srgbClr val="50636A"/>
                </a:solidFill>
                <a:latin typeface="Helvetica Neue"/>
                <a:ea typeface="Helvetica Neue"/>
                <a:cs typeface="Helvetica Neue"/>
              </a:defRPr>
            </a:lvl1pPr>
            <a:lvl2pPr>
              <a:buNone/>
              <a:defRPr sz="1800" b="0">
                <a:solidFill>
                  <a:srgbClr val="50636A"/>
                </a:solidFill>
                <a:latin typeface="Helvetica Neue"/>
                <a:ea typeface="Helvetica Neue"/>
                <a:cs typeface="Helvetica Neue"/>
              </a:defRPr>
            </a:lvl2pPr>
            <a:lvl3pPr>
              <a:buNone/>
              <a:defRPr sz="1800" b="0">
                <a:solidFill>
                  <a:srgbClr val="50636A"/>
                </a:solidFill>
                <a:latin typeface="Helvetica Neue"/>
                <a:ea typeface="Helvetica Neue"/>
                <a:cs typeface="Helvetica Neue"/>
              </a:defRPr>
            </a:lvl3pPr>
            <a:lvl4pPr>
              <a:buNone/>
              <a:defRPr sz="1800" b="0">
                <a:solidFill>
                  <a:srgbClr val="50636A"/>
                </a:solidFill>
                <a:latin typeface="Helvetica Neue"/>
                <a:ea typeface="Helvetica Neue"/>
                <a:cs typeface="Helvetica Neue"/>
              </a:defRPr>
            </a:lvl4pPr>
            <a:lvl5pPr>
              <a:buNone/>
              <a:defRPr sz="1800" b="0">
                <a:solidFill>
                  <a:srgbClr val="50636A"/>
                </a:solidFill>
                <a:latin typeface="Helvetica Neue"/>
                <a:ea typeface="Helvetica Neue"/>
                <a:cs typeface="Helvetica Neue"/>
              </a:defRPr>
            </a:lvl5pPr>
            <a:lvl6pPr>
              <a:buNone/>
              <a:defRPr sz="1800" b="0">
                <a:solidFill>
                  <a:srgbClr val="50636A"/>
                </a:solidFill>
                <a:latin typeface="Helvetica Neue"/>
                <a:ea typeface="Helvetica Neue"/>
                <a:cs typeface="Helvetica Neue"/>
              </a:defRPr>
            </a:lvl6pPr>
            <a:lvl7pPr>
              <a:buNone/>
              <a:defRPr sz="1800" b="0">
                <a:solidFill>
                  <a:srgbClr val="50636A"/>
                </a:solidFill>
                <a:latin typeface="Helvetica Neue"/>
                <a:ea typeface="Helvetica Neue"/>
                <a:cs typeface="Helvetica Neue"/>
              </a:defRPr>
            </a:lvl7pPr>
            <a:lvl8pPr>
              <a:buNone/>
              <a:defRPr sz="1800" b="0">
                <a:solidFill>
                  <a:srgbClr val="50636A"/>
                </a:solidFill>
                <a:latin typeface="Helvetica Neue"/>
                <a:ea typeface="Helvetica Neue"/>
                <a:cs typeface="Helvetica Neue"/>
              </a:defRPr>
            </a:lvl8pPr>
            <a:lvl9pPr>
              <a:buNone/>
              <a:defRPr sz="1800" b="0">
                <a:solidFill>
                  <a:srgbClr val="50636A"/>
                </a:solidFill>
                <a:latin typeface="Helvetica Neue"/>
                <a:ea typeface="Helvetica Neue"/>
                <a:cs typeface="Helvetica Neue"/>
              </a:defRPr>
            </a:lvl9pPr>
          </a:lstStyle>
          <a:p xmlns:a="http://schemas.openxmlformats.org/drawingml/2006/main">
            <a:pPr>
              <a:buNone/>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The agent should explain both replacements and obtain confirmation.</a:t>
            </a:r>
          </a:p>
        </p:txBody>
      </p:sp>
    </p:spTree>
    <p:extLst>
      <p:ext uri="{BB962C8B-B14F-4D97-AF65-F5344CB8AC3E}">
        <p14:creationId xmlns:p14="http://schemas.microsoft.com/office/powerpoint/2010/main" val="149846753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7421D3-F87D-4EBC-AFC8-7DEBE7FC0638}"/>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FAB2E32D-05B2-45B5-8677-7C85B13CCF5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exchange tool call</a:t>
            </a:r>
          </a:p>
        </p:txBody>
      </p:sp>
      <p:sp>
        <p:nvSpPr>
          <p:cNvPr id="3" name="">
            <a:extLst xmlns:a="http://schemas.openxmlformats.org/drawingml/2006/main">
              <a:ext uri="{FF2B5EF4-FFF2-40B4-BE49-F238E27FC236}">
                <a16:creationId xmlns:a16="http://schemas.microsoft.com/office/drawing/2014/main" id="{CD0AADD9-3A55-4336-80C0-474D62383DB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One request includes both items and their corresponding replacements</a:t>
            </a:r>
          </a:p>
        </p:txBody>
      </p:sp>
      <p:sp>
        <p:nvSpPr>
          <p:cNvPr id="4" name="">
            <a:extLst xmlns:a="http://schemas.openxmlformats.org/drawingml/2006/main">
              <a:ext uri="{FF2B5EF4-FFF2-40B4-BE49-F238E27FC236}">
                <a16:creationId xmlns:a16="http://schemas.microsoft.com/office/drawing/2014/main" id="{9756E5D8-02E6-4358-B9D0-A10EC92B9A3C}"/>
              </a:ext>
            </a:extLst>
          </p:cNvPr>
          <p:cNvSpPr>
            <a:spLocks xmlns:a="http://schemas.openxmlformats.org/drawingml/2006/main" noGrp="1"/>
          </p:cNvSpPr>
          <p:nvPr/>
        </p:nvSpPr>
        <p:spPr>
          <a:xfrm xmlns:a="http://schemas.openxmlformats.org/drawingml/2006/main">
            <a:off x="628650" y="2200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07B78"/>
                </a:solidFill>
                <a:latin typeface="Helvetica Neue"/>
                <a:ea typeface="Helvetica Neue"/>
                <a:cs typeface="Helvetica Neue"/>
              </a:defRPr>
            </a:defPPr>
            <a:lvl1pPr>
              <a:buNone/>
              <a:defRPr sz="2700" b="1">
                <a:solidFill>
                  <a:srgbClr val="007B78"/>
                </a:solidFill>
                <a:latin typeface="Helvetica Neue"/>
                <a:ea typeface="Helvetica Neue"/>
                <a:cs typeface="Helvetica Neue"/>
              </a:defRPr>
            </a:lvl1pPr>
            <a:lvl2pPr>
              <a:buNone/>
              <a:defRPr sz="2700" b="1">
                <a:solidFill>
                  <a:srgbClr val="007B78"/>
                </a:solidFill>
                <a:latin typeface="Helvetica Neue"/>
                <a:ea typeface="Helvetica Neue"/>
                <a:cs typeface="Helvetica Neue"/>
              </a:defRPr>
            </a:lvl2pPr>
            <a:lvl3pPr>
              <a:buNone/>
              <a:defRPr sz="2700" b="1">
                <a:solidFill>
                  <a:srgbClr val="007B78"/>
                </a:solidFill>
                <a:latin typeface="Helvetica Neue"/>
                <a:ea typeface="Helvetica Neue"/>
                <a:cs typeface="Helvetica Neue"/>
              </a:defRPr>
            </a:lvl3pPr>
            <a:lvl4pPr>
              <a:buNone/>
              <a:defRPr sz="2700" b="1">
                <a:solidFill>
                  <a:srgbClr val="007B78"/>
                </a:solidFill>
                <a:latin typeface="Helvetica Neue"/>
                <a:ea typeface="Helvetica Neue"/>
                <a:cs typeface="Helvetica Neue"/>
              </a:defRPr>
            </a:lvl4pPr>
            <a:lvl5pPr>
              <a:buNone/>
              <a:defRPr sz="2700" b="1">
                <a:solidFill>
                  <a:srgbClr val="007B78"/>
                </a:solidFill>
                <a:latin typeface="Helvetica Neue"/>
                <a:ea typeface="Helvetica Neue"/>
                <a:cs typeface="Helvetica Neue"/>
              </a:defRPr>
            </a:lvl5pPr>
            <a:lvl6pPr>
              <a:buNone/>
              <a:defRPr sz="2700" b="1">
                <a:solidFill>
                  <a:srgbClr val="007B78"/>
                </a:solidFill>
                <a:latin typeface="Helvetica Neue"/>
                <a:ea typeface="Helvetica Neue"/>
                <a:cs typeface="Helvetica Neue"/>
              </a:defRPr>
            </a:lvl6pPr>
            <a:lvl7pPr>
              <a:buNone/>
              <a:defRPr sz="2700" b="1">
                <a:solidFill>
                  <a:srgbClr val="007B78"/>
                </a:solidFill>
                <a:latin typeface="Helvetica Neue"/>
                <a:ea typeface="Helvetica Neue"/>
                <a:cs typeface="Helvetica Neue"/>
              </a:defRPr>
            </a:lvl7pPr>
            <a:lvl8pPr>
              <a:buNone/>
              <a:defRPr sz="2700" b="1">
                <a:solidFill>
                  <a:srgbClr val="007B78"/>
                </a:solidFill>
                <a:latin typeface="Helvetica Neue"/>
                <a:ea typeface="Helvetica Neue"/>
                <a:cs typeface="Helvetica Neue"/>
              </a:defRPr>
            </a:lvl8pPr>
            <a:lvl9pPr>
              <a:buNone/>
              <a:defRPr sz="2700" b="1">
                <a:solidFill>
                  <a:srgbClr val="007B78"/>
                </a:solidFill>
                <a:latin typeface="Helvetica Neue"/>
                <a:ea typeface="Helvetica Neue"/>
                <a:cs typeface="Helvetica Neue"/>
              </a:defRPr>
            </a:lvl9pPr>
          </a:lstStyle>
          <a:p xmlns:a="http://schemas.openxmlformats.org/drawingml/2006/main">
            <a:pPr>
              <a:buNone/>
              <a:defRPr sz="2700" b="1">
                <a:solidFill>
                  <a:srgbClr val="007B78"/>
                </a:solidFill>
                <a:latin typeface="Helvetica Neue"/>
                <a:ea typeface="Helvetica Neue"/>
                <a:cs typeface="Helvetica Neue"/>
              </a:defRPr>
            </a:pPr>
            <a:r>
              <a:rPr sz="2700" b="1">
                <a:solidFill>
                  <a:srgbClr val="007B78"/>
                </a:solidFill>
                <a:latin typeface="Helvetica Neue"/>
                <a:ea typeface="Helvetica Neue"/>
                <a:cs typeface="Helvetica Neue"/>
              </a:rPr>
              <a:t>exchange_delivered_order_items</a:t>
            </a:r>
          </a:p>
        </p:txBody>
      </p:sp>
      <p:sp>
        <p:nvSpPr>
          <p:cNvPr id="5" name="">
            <a:extLst xmlns:a="http://schemas.openxmlformats.org/drawingml/2006/main">
              <a:ext uri="{FF2B5EF4-FFF2-40B4-BE49-F238E27FC236}">
                <a16:creationId xmlns:a16="http://schemas.microsoft.com/office/drawing/2014/main" id="{706E789F-ADE0-46B7-A369-8E3761F0B670}"/>
              </a:ext>
            </a:extLst>
          </p:cNvPr>
          <p:cNvSpPr>
            <a:spLocks xmlns:a="http://schemas.openxmlformats.org/drawingml/2006/main" noGrp="1"/>
          </p:cNvSpPr>
          <p:nvPr/>
        </p:nvSpPr>
        <p:spPr>
          <a:xfrm xmlns:a="http://schemas.openxmlformats.org/drawingml/2006/main">
            <a:off x="628650" y="29622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02B36"/>
                </a:solidFill>
                <a:latin typeface="Helvetica Neue"/>
                <a:ea typeface="Helvetica Neue"/>
                <a:cs typeface="Helvetica Neue"/>
              </a:defRPr>
            </a:defPPr>
            <a:lvl1pPr>
              <a:buNone/>
              <a:defRPr sz="2250" b="0">
                <a:solidFill>
                  <a:srgbClr val="102B36"/>
                </a:solidFill>
                <a:latin typeface="Helvetica Neue"/>
                <a:ea typeface="Helvetica Neue"/>
                <a:cs typeface="Helvetica Neue"/>
              </a:defRPr>
            </a:lvl1pPr>
            <a:lvl2pPr>
              <a:buNone/>
              <a:defRPr sz="2250" b="0">
                <a:solidFill>
                  <a:srgbClr val="102B36"/>
                </a:solidFill>
                <a:latin typeface="Helvetica Neue"/>
                <a:ea typeface="Helvetica Neue"/>
                <a:cs typeface="Helvetica Neue"/>
              </a:defRPr>
            </a:lvl2pPr>
            <a:lvl3pPr>
              <a:buNone/>
              <a:defRPr sz="2250" b="0">
                <a:solidFill>
                  <a:srgbClr val="102B36"/>
                </a:solidFill>
                <a:latin typeface="Helvetica Neue"/>
                <a:ea typeface="Helvetica Neue"/>
                <a:cs typeface="Helvetica Neue"/>
              </a:defRPr>
            </a:lvl3pPr>
            <a:lvl4pPr>
              <a:buNone/>
              <a:defRPr sz="2250" b="0">
                <a:solidFill>
                  <a:srgbClr val="102B36"/>
                </a:solidFill>
                <a:latin typeface="Helvetica Neue"/>
                <a:ea typeface="Helvetica Neue"/>
                <a:cs typeface="Helvetica Neue"/>
              </a:defRPr>
            </a:lvl4pPr>
            <a:lvl5pPr>
              <a:buNone/>
              <a:defRPr sz="2250" b="0">
                <a:solidFill>
                  <a:srgbClr val="102B36"/>
                </a:solidFill>
                <a:latin typeface="Helvetica Neue"/>
                <a:ea typeface="Helvetica Neue"/>
                <a:cs typeface="Helvetica Neue"/>
              </a:defRPr>
            </a:lvl5pPr>
            <a:lvl6pPr>
              <a:buNone/>
              <a:defRPr sz="2250" b="0">
                <a:solidFill>
                  <a:srgbClr val="102B36"/>
                </a:solidFill>
                <a:latin typeface="Helvetica Neue"/>
                <a:ea typeface="Helvetica Neue"/>
                <a:cs typeface="Helvetica Neue"/>
              </a:defRPr>
            </a:lvl6pPr>
            <a:lvl7pPr>
              <a:buNone/>
              <a:defRPr sz="2250" b="0">
                <a:solidFill>
                  <a:srgbClr val="102B36"/>
                </a:solidFill>
                <a:latin typeface="Helvetica Neue"/>
                <a:ea typeface="Helvetica Neue"/>
                <a:cs typeface="Helvetica Neue"/>
              </a:defRPr>
            </a:lvl7pPr>
            <a:lvl8pPr>
              <a:buNone/>
              <a:defRPr sz="2250" b="0">
                <a:solidFill>
                  <a:srgbClr val="102B36"/>
                </a:solidFill>
                <a:latin typeface="Helvetica Neue"/>
                <a:ea typeface="Helvetica Neue"/>
                <a:cs typeface="Helvetica Neue"/>
              </a:defRPr>
            </a:lvl8pPr>
            <a:lvl9pPr>
              <a:buNone/>
              <a:defRPr sz="2250" b="0">
                <a:solidFill>
                  <a:srgbClr val="102B36"/>
                </a:solidFill>
                <a:latin typeface="Helvetica Neue"/>
                <a:ea typeface="Helvetica Neue"/>
                <a:cs typeface="Helvetica Neue"/>
              </a:defRPr>
            </a:lvl9pPr>
          </a:lstStyle>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order_id:  #W2378156</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item_ids:  [1151293680, 4983901480]</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new_item_ids:  [7706410293, 7747408585]</a:t>
            </a:r>
          </a:p>
          <a:p xmlns:a="http://schemas.openxmlformats.org/drawingml/2006/main">
            <a:pPr>
              <a:buNone/>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payment_method_id:  credit_card_9513926</a:t>
            </a:r>
          </a:p>
        </p:txBody>
      </p:sp>
      <p:sp>
        <p:nvSpPr>
          <p:cNvPr id="6" name="">
            <a:extLst xmlns:a="http://schemas.openxmlformats.org/drawingml/2006/main">
              <a:ext uri="{FF2B5EF4-FFF2-40B4-BE49-F238E27FC236}">
                <a16:creationId xmlns:a16="http://schemas.microsoft.com/office/drawing/2014/main" id="{05B3EE79-21CC-4868-A6C8-04BAB87B852F}"/>
              </a:ext>
            </a:extLst>
          </p:cNvPr>
          <p:cNvSpPr>
            <a:spLocks xmlns:a="http://schemas.openxmlformats.org/drawingml/2006/main" noGrp="1"/>
          </p:cNvSpPr>
          <p:nvPr/>
        </p:nvSpPr>
        <p:spPr>
          <a:xfrm xmlns:a="http://schemas.openxmlformats.org/drawingml/2006/main">
            <a:off x="62865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buNone/>
              <a:defRPr sz="2025" b="0">
                <a:solidFill>
                  <a:srgbClr val="50636A"/>
                </a:solidFill>
                <a:latin typeface="Helvetica Neue"/>
                <a:ea typeface="Helvetica Neue"/>
                <a:cs typeface="Helvetica Neue"/>
              </a:defRPr>
            </a:lvl1pPr>
            <a:lvl2pPr>
              <a:buNone/>
              <a:defRPr sz="2025" b="0">
                <a:solidFill>
                  <a:srgbClr val="50636A"/>
                </a:solidFill>
                <a:latin typeface="Helvetica Neue"/>
                <a:ea typeface="Helvetica Neue"/>
                <a:cs typeface="Helvetica Neue"/>
              </a:defRPr>
            </a:lvl2pPr>
            <a:lvl3pPr>
              <a:buNone/>
              <a:defRPr sz="2025" b="0">
                <a:solidFill>
                  <a:srgbClr val="50636A"/>
                </a:solidFill>
                <a:latin typeface="Helvetica Neue"/>
                <a:ea typeface="Helvetica Neue"/>
                <a:cs typeface="Helvetica Neue"/>
              </a:defRPr>
            </a:lvl3pPr>
            <a:lvl4pPr>
              <a:buNone/>
              <a:defRPr sz="2025" b="0">
                <a:solidFill>
                  <a:srgbClr val="50636A"/>
                </a:solidFill>
                <a:latin typeface="Helvetica Neue"/>
                <a:ea typeface="Helvetica Neue"/>
                <a:cs typeface="Helvetica Neue"/>
              </a:defRPr>
            </a:lvl4pPr>
            <a:lvl5pPr>
              <a:buNone/>
              <a:defRPr sz="2025" b="0">
                <a:solidFill>
                  <a:srgbClr val="50636A"/>
                </a:solidFill>
                <a:latin typeface="Helvetica Neue"/>
                <a:ea typeface="Helvetica Neue"/>
                <a:cs typeface="Helvetica Neue"/>
              </a:defRPr>
            </a:lvl5pPr>
            <a:lvl6pPr>
              <a:buNone/>
              <a:defRPr sz="2025" b="0">
                <a:solidFill>
                  <a:srgbClr val="50636A"/>
                </a:solidFill>
                <a:latin typeface="Helvetica Neue"/>
                <a:ea typeface="Helvetica Neue"/>
                <a:cs typeface="Helvetica Neue"/>
              </a:defRPr>
            </a:lvl6pPr>
            <a:lvl7pPr>
              <a:buNone/>
              <a:defRPr sz="2025" b="0">
                <a:solidFill>
                  <a:srgbClr val="50636A"/>
                </a:solidFill>
                <a:latin typeface="Helvetica Neue"/>
                <a:ea typeface="Helvetica Neue"/>
                <a:cs typeface="Helvetica Neue"/>
              </a:defRPr>
            </a:lvl7pPr>
            <a:lvl8pPr>
              <a:buNone/>
              <a:defRPr sz="2025" b="0">
                <a:solidFill>
                  <a:srgbClr val="50636A"/>
                </a:solidFill>
                <a:latin typeface="Helvetica Neue"/>
                <a:ea typeface="Helvetica Neue"/>
                <a:cs typeface="Helvetica Neue"/>
              </a:defRPr>
            </a:lvl8pPr>
            <a:lvl9pPr>
              <a:buNone/>
              <a:defRPr sz="2025" b="0">
                <a:solidFill>
                  <a:srgbClr val="50636A"/>
                </a:solidFill>
                <a:latin typeface="Helvetica Neue"/>
                <a:ea typeface="Helvetica Neue"/>
                <a:cs typeface="Helvetica Neue"/>
              </a:defRPr>
            </a:lvl9pPr>
          </a:lstStyle>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The tool checks order status, item membership, replacement availability</a:t>
            </a:r>
          </a:p>
          <a:p xmlns:a="http://schemas.openxmlformats.org/drawingml/2006/main">
            <a:pPr>
              <a:buNone/>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and the payment method before changing state.</a:t>
            </a:r>
          </a:p>
        </p:txBody>
      </p:sp>
    </p:spTree>
    <p:extLst>
      <p:ext uri="{BB962C8B-B14F-4D97-AF65-F5344CB8AC3E}">
        <p14:creationId xmlns:p14="http://schemas.microsoft.com/office/powerpoint/2010/main" val="2060661427"/>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C6B34D-FFCE-41A4-AEE1-BFE56A14BE6C}"/>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74CBEB56-1AE2-419F-B079-2B28940A46C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environment records an exchange request</a:t>
            </a:r>
          </a:p>
        </p:txBody>
      </p:sp>
      <p:sp>
        <p:nvSpPr>
          <p:cNvPr id="3" name="">
            <a:extLst xmlns:a="http://schemas.openxmlformats.org/drawingml/2006/main">
              <a:ext uri="{FF2B5EF4-FFF2-40B4-BE49-F238E27FC236}">
                <a16:creationId xmlns:a16="http://schemas.microsoft.com/office/drawing/2014/main" id="{26623FA2-8404-40B5-AE70-B601C85A99A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write changes order fields rather than completing fulfillment</a:t>
            </a:r>
          </a:p>
        </p:txBody>
      </p:sp>
      <p:graphicFrame>
        <p:nvGraphicFramePr>
          <p:cNvPr id="4" name="">
            <a:extLst xmlns:a="http://schemas.openxmlformats.org/drawingml/2006/main">
              <a:ext uri="{FF2B5EF4-FFF2-40B4-BE49-F238E27FC236}">
                <a16:creationId xmlns:a16="http://schemas.microsoft.com/office/drawing/2014/main" id="{4B20A1AE-CCFE-434D-9560-A4C4E1D9F2A6}"/>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4286250"/>
                <a:gridCol w="2190750"/>
                <a:gridCol w="4495800"/>
              </a:tblGrid>
              <a:tr h="666750">
                <a:tc>
                  <a:txBody>
                    <a:bodyPr lIns="133350" tIns="133350" rIns="133350" bIns="133350"/>
                    <a:lstStyle/>
                    <a:p>
                      <a:r>
                        <a:rPr sz="1875" b="1">
                          <a:solidFill>
                            <a:srgbClr val="FFFFFF"/>
                          </a:solidFill>
                          <a:latin typeface="Helvetica Neue"/>
                          <a:ea typeface="Helvetica Neue"/>
                          <a:cs typeface="Helvetica Neue"/>
                        </a:rPr>
                        <a:t>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Before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After</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875" b="0">
                          <a:solidFill>
                            <a:srgbClr val="102B36"/>
                          </a:solidFill>
                          <a:latin typeface="Helvetica Neue"/>
                          <a:ea typeface="Helvetica Neue"/>
                          <a:cs typeface="Helvetica Neue"/>
                        </a:rPr>
                        <a:t>status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delivered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exchange requested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exchange_items /</a:t>
                      </a:r>
                    </a:p>
                    <a:p>
                      <a:r>
                        <a:rPr sz="1875" b="0">
                          <a:solidFill>
                            <a:srgbClr val="102B36"/>
                          </a:solidFill>
                          <a:latin typeface="Helvetica Neue"/>
                          <a:ea typeface="Helvetica Neue"/>
                          <a:cs typeface="Helvetica Neue"/>
                        </a:rPr>
                        <a:t>exchange_new_items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Both original and replacement item IDs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875" b="0">
                          <a:solidFill>
                            <a:srgbClr val="102B36"/>
                          </a:solidFill>
                          <a:latin typeface="Helvetica Neue"/>
                          <a:ea typeface="Helvetica Neue"/>
                          <a:cs typeface="Helvetica Neue"/>
                        </a:rPr>
                        <a:t>exchange_payment_method_id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credit_card_9513926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exchange_price_difference</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−16.63</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D84B02C5-ECCF-4615-8024-88C18D58BB94}"/>
              </a:ext>
            </a:extLst>
          </p:cNvPr>
          <p:cNvSpPr>
            <a:spLocks xmlns:a="http://schemas.openxmlformats.org/drawingml/2006/main" noGrp="1"/>
          </p:cNvSpPr>
          <p:nvPr/>
        </p:nvSpPr>
        <p:spPr>
          <a:xfrm xmlns:a="http://schemas.openxmlformats.org/drawingml/2006/main">
            <a:off x="62865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B78"/>
                </a:solidFill>
                <a:latin typeface="Helvetica Neue"/>
                <a:ea typeface="Helvetica Neue"/>
                <a:cs typeface="Helvetica Neue"/>
              </a:defRPr>
            </a:defPPr>
            <a:lvl1pPr>
              <a:buNone/>
              <a:defRPr sz="2175" b="1">
                <a:solidFill>
                  <a:srgbClr val="007B78"/>
                </a:solidFill>
                <a:latin typeface="Helvetica Neue"/>
                <a:ea typeface="Helvetica Neue"/>
                <a:cs typeface="Helvetica Neue"/>
              </a:defRPr>
            </a:lvl1pPr>
            <a:lvl2pPr>
              <a:buNone/>
              <a:defRPr sz="2175" b="1">
                <a:solidFill>
                  <a:srgbClr val="007B78"/>
                </a:solidFill>
                <a:latin typeface="Helvetica Neue"/>
                <a:ea typeface="Helvetica Neue"/>
                <a:cs typeface="Helvetica Neue"/>
              </a:defRPr>
            </a:lvl2pPr>
            <a:lvl3pPr>
              <a:buNone/>
              <a:defRPr sz="2175" b="1">
                <a:solidFill>
                  <a:srgbClr val="007B78"/>
                </a:solidFill>
                <a:latin typeface="Helvetica Neue"/>
                <a:ea typeface="Helvetica Neue"/>
                <a:cs typeface="Helvetica Neue"/>
              </a:defRPr>
            </a:lvl3pPr>
            <a:lvl4pPr>
              <a:buNone/>
              <a:defRPr sz="2175" b="1">
                <a:solidFill>
                  <a:srgbClr val="007B78"/>
                </a:solidFill>
                <a:latin typeface="Helvetica Neue"/>
                <a:ea typeface="Helvetica Neue"/>
                <a:cs typeface="Helvetica Neue"/>
              </a:defRPr>
            </a:lvl4pPr>
            <a:lvl5pPr>
              <a:buNone/>
              <a:defRPr sz="2175" b="1">
                <a:solidFill>
                  <a:srgbClr val="007B78"/>
                </a:solidFill>
                <a:latin typeface="Helvetica Neue"/>
                <a:ea typeface="Helvetica Neue"/>
                <a:cs typeface="Helvetica Neue"/>
              </a:defRPr>
            </a:lvl5pPr>
            <a:lvl6pPr>
              <a:buNone/>
              <a:defRPr sz="2175" b="1">
                <a:solidFill>
                  <a:srgbClr val="007B78"/>
                </a:solidFill>
                <a:latin typeface="Helvetica Neue"/>
                <a:ea typeface="Helvetica Neue"/>
                <a:cs typeface="Helvetica Neue"/>
              </a:defRPr>
            </a:lvl6pPr>
            <a:lvl7pPr>
              <a:buNone/>
              <a:defRPr sz="2175" b="1">
                <a:solidFill>
                  <a:srgbClr val="007B78"/>
                </a:solidFill>
                <a:latin typeface="Helvetica Neue"/>
                <a:ea typeface="Helvetica Neue"/>
                <a:cs typeface="Helvetica Neue"/>
              </a:defRPr>
            </a:lvl7pPr>
            <a:lvl8pPr>
              <a:buNone/>
              <a:defRPr sz="2175" b="1">
                <a:solidFill>
                  <a:srgbClr val="007B78"/>
                </a:solidFill>
                <a:latin typeface="Helvetica Neue"/>
                <a:ea typeface="Helvetica Neue"/>
                <a:cs typeface="Helvetica Neue"/>
              </a:defRPr>
            </a:lvl8pPr>
            <a:lvl9pPr>
              <a:buNone/>
              <a:defRPr sz="2175" b="1">
                <a:solidFill>
                  <a:srgbClr val="007B78"/>
                </a:solidFill>
                <a:latin typeface="Helvetica Neue"/>
                <a:ea typeface="Helvetica Neue"/>
                <a:cs typeface="Helvetica Neue"/>
              </a:defRPr>
            </a:lvl9pPr>
          </a:lstStyle>
          <a:p xmlns:a="http://schemas.openxmlformats.org/drawingml/2006/main">
            <a:pPr>
              <a:buNone/>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second exchange call fails the delivered-status check.</a:t>
            </a:r>
          </a:p>
        </p:txBody>
      </p:sp>
    </p:spTree>
    <p:extLst>
      <p:ext uri="{BB962C8B-B14F-4D97-AF65-F5344CB8AC3E}">
        <p14:creationId xmlns:p14="http://schemas.microsoft.com/office/powerpoint/2010/main" val="6414342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1F62E1C7-A356-4DA3-AB01-E39FD36B95CA}"/>
              </a:ext>
            </a:extLst>
          </p:cNvPr>
          <p:cNvCxnSpPr>
            <a:stCxn xmlns:a="http://schemas.openxmlformats.org/drawingml/2006/main" id="21" idx="3"/>
            <a:endCxn xmlns:a="http://schemas.openxmlformats.org/drawingml/2006/main" id="22" idx="2"/>
          </p:cNvCxnSpPr>
          <p:nvPr/>
        </p:nvCxnSpPr>
        <p:spPr>
          <a:xfrm xmlns:a="http://schemas.openxmlformats.org/drawingml/2006/main" flipV="1">
            <a:off x="9286875" y="4410075"/>
            <a:ext cx="1500188" cy="447675"/>
          </a:xfrm>
          <a:prstGeom xmlns:a="http://schemas.openxmlformats.org/drawingml/2006/main" prst="bentConnector2">
            <a:avLst/>
          </a:prstGeom>
          <a:ln xmlns:a="http://schemas.openxmlformats.org/drawingml/2006/main" w="23813">
            <a:solidFill>
              <a:srgbClr val="007B78"/>
            </a:solidFill>
            <a:prstDash val="solid"/>
            <a:headEnd type="none" w="med" len="med"/>
            <a:tailEnd type="triangle" w="sm" len="sm"/>
          </a:ln>
        </p:spPr>
      </p:cxnSp>
      <p:cxnSp>
        <p:nvCxnSpPr>
          <p:cNvPr id="27" name="">
            <a:extLst xmlns:a="http://schemas.openxmlformats.org/drawingml/2006/main">
              <a:ext uri="{FF2B5EF4-FFF2-40B4-BE49-F238E27FC236}">
                <a16:creationId xmlns:a16="http://schemas.microsoft.com/office/drawing/2014/main" id="{6330BE52-5DBA-4AE4-99B6-206C21C02243}"/>
              </a:ext>
            </a:extLst>
          </p:cNvPr>
          <p:cNvCxnSpPr>
            <a:stCxn xmlns:a="http://schemas.openxmlformats.org/drawingml/2006/main" id="18" idx="3"/>
            <a:endCxn xmlns:a="http://schemas.openxmlformats.org/drawingml/2006/main" id="22" idx="0"/>
          </p:cNvCxnSpPr>
          <p:nvPr/>
        </p:nvCxnSpPr>
        <p:spPr>
          <a:xfrm xmlns:a="http://schemas.openxmlformats.org/drawingml/2006/main">
            <a:off x="9286875" y="3009900"/>
            <a:ext cx="1500188" cy="447675"/>
          </a:xfrm>
          <a:prstGeom xmlns:a="http://schemas.openxmlformats.org/drawingml/2006/main" prst="bentConnector2">
            <a:avLst/>
          </a:prstGeom>
          <a:ln xmlns:a="http://schemas.openxmlformats.org/drawingml/2006/main" w="23813">
            <a:solidFill>
              <a:srgbClr val="007B78"/>
            </a:solidFill>
            <a:prstDash val="solid"/>
            <a:headEnd type="none" w="med" len="med"/>
            <a:tailEnd type="triangle" w="sm" len="sm"/>
          </a:ln>
        </p:spPr>
      </p:cxnSp>
      <p:cxnSp>
        <p:nvCxnSpPr>
          <p:cNvPr id="26" name="">
            <a:extLst xmlns:a="http://schemas.openxmlformats.org/drawingml/2006/main">
              <a:ext uri="{FF2B5EF4-FFF2-40B4-BE49-F238E27FC236}">
                <a16:creationId xmlns:a16="http://schemas.microsoft.com/office/drawing/2014/main" id="{E532FBFF-46CC-445D-BAF6-813F9CB22786}"/>
              </a:ext>
            </a:extLst>
          </p:cNvPr>
          <p:cNvCxnSpPr>
            <a:stCxn xmlns:a="http://schemas.openxmlformats.org/drawingml/2006/main" id="20" idx="3"/>
            <a:endCxn xmlns:a="http://schemas.openxmlformats.org/drawingml/2006/main" id="21" idx="1"/>
          </p:cNvCxnSpPr>
          <p:nvPr/>
        </p:nvCxnSpPr>
        <p:spPr>
          <a:xfrm xmlns:a="http://schemas.openxmlformats.org/drawingml/2006/main">
            <a:off x="6286500" y="4857750"/>
            <a:ext cx="809625"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5" name="">
            <a:extLst xmlns:a="http://schemas.openxmlformats.org/drawingml/2006/main">
              <a:ext uri="{FF2B5EF4-FFF2-40B4-BE49-F238E27FC236}">
                <a16:creationId xmlns:a16="http://schemas.microsoft.com/office/drawing/2014/main" id="{DF28CDB6-CA44-418F-8474-D9DB4FD1F185}"/>
              </a:ext>
            </a:extLst>
          </p:cNvPr>
          <p:cNvCxnSpPr>
            <a:stCxn xmlns:a="http://schemas.openxmlformats.org/drawingml/2006/main" id="19" idx="3"/>
            <a:endCxn xmlns:a="http://schemas.openxmlformats.org/drawingml/2006/main" id="20" idx="1"/>
          </p:cNvCxnSpPr>
          <p:nvPr/>
        </p:nvCxnSpPr>
        <p:spPr>
          <a:xfrm xmlns:a="http://schemas.openxmlformats.org/drawingml/2006/main">
            <a:off x="2705100" y="4857750"/>
            <a:ext cx="723900"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4" name="">
            <a:extLst xmlns:a="http://schemas.openxmlformats.org/drawingml/2006/main">
              <a:ext uri="{FF2B5EF4-FFF2-40B4-BE49-F238E27FC236}">
                <a16:creationId xmlns:a16="http://schemas.microsoft.com/office/drawing/2014/main" id="{EBAE9A4C-A993-4574-8A33-EB74B3485963}"/>
              </a:ext>
            </a:extLst>
          </p:cNvPr>
          <p:cNvCxnSpPr>
            <a:stCxn xmlns:a="http://schemas.openxmlformats.org/drawingml/2006/main" id="17" idx="3"/>
            <a:endCxn xmlns:a="http://schemas.openxmlformats.org/drawingml/2006/main" id="18" idx="1"/>
          </p:cNvCxnSpPr>
          <p:nvPr/>
        </p:nvCxnSpPr>
        <p:spPr>
          <a:xfrm xmlns:a="http://schemas.openxmlformats.org/drawingml/2006/main">
            <a:off x="6286500" y="3009900"/>
            <a:ext cx="809625"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cxnSp>
        <p:nvCxnSpPr>
          <p:cNvPr id="23" name="">
            <a:extLst xmlns:a="http://schemas.openxmlformats.org/drawingml/2006/main">
              <a:ext uri="{FF2B5EF4-FFF2-40B4-BE49-F238E27FC236}">
                <a16:creationId xmlns:a16="http://schemas.microsoft.com/office/drawing/2014/main" id="{FB442851-CE99-4E8F-AA27-A823304FD757}"/>
              </a:ext>
            </a:extLst>
          </p:cNvPr>
          <p:cNvCxnSpPr>
            <a:stCxn xmlns:a="http://schemas.openxmlformats.org/drawingml/2006/main" id="16" idx="3"/>
            <a:endCxn xmlns:a="http://schemas.openxmlformats.org/drawingml/2006/main" id="17" idx="1"/>
          </p:cNvCxnSpPr>
          <p:nvPr/>
        </p:nvCxnSpPr>
        <p:spPr>
          <a:xfrm xmlns:a="http://schemas.openxmlformats.org/drawingml/2006/main">
            <a:off x="2705100" y="3009900"/>
            <a:ext cx="723900" cy="0"/>
          </a:xfrm>
          <a:prstGeom xmlns:a="http://schemas.openxmlformats.org/drawingml/2006/main" prst="straightConnector1">
            <a:avLst/>
          </a:prstGeom>
          <a:ln xmlns:a="http://schemas.openxmlformats.org/drawingml/2006/main" w="23813">
            <a:solidFill>
              <a:srgbClr val="007B78"/>
            </a:solidFill>
            <a:prstDash val="solid"/>
            <a:headEnd type="none" w="med" len="med"/>
            <a:tailEnd type="triangle" w="sm" len="sm"/>
          </a:ln>
        </p:spPr>
      </p:cxnSp>
      <p:sp>
        <p:nvSpPr>
          <p:cNvPr id="13" name="">
            <a:extLst xmlns:a="http://schemas.openxmlformats.org/drawingml/2006/main">
              <a:ext uri="{FF2B5EF4-FFF2-40B4-BE49-F238E27FC236}">
                <a16:creationId xmlns:a16="http://schemas.microsoft.com/office/drawing/2014/main" id="{9A4E1294-5DA9-4746-B457-D47FC39C7BE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10</a:t>
            </a:r>
          </a:p>
        </p:txBody>
      </p:sp>
      <p:sp>
        <p:nvSpPr>
          <p:cNvPr id="2" name="">
            <a:extLst xmlns:a="http://schemas.openxmlformats.org/drawingml/2006/main">
              <a:ext uri="{FF2B5EF4-FFF2-40B4-BE49-F238E27FC236}">
                <a16:creationId xmlns:a16="http://schemas.microsoft.com/office/drawing/2014/main" id="{80A6BBDA-18BA-4EBB-BCBF-7D2F1CAD02C4}"/>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Evaluation through replay</a:t>
            </a:r>
          </a:p>
        </p:txBody>
      </p:sp>
      <p:sp>
        <p:nvSpPr>
          <p:cNvPr id="3" name="">
            <a:extLst xmlns:a="http://schemas.openxmlformats.org/drawingml/2006/main">
              <a:ext uri="{FF2B5EF4-FFF2-40B4-BE49-F238E27FC236}">
                <a16:creationId xmlns:a16="http://schemas.microsoft.com/office/drawing/2014/main" id="{5791E204-4AF6-4C5B-8785-92FFB37FFB4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evaluator reconstructs two states from the same starting point</a:t>
            </a:r>
          </a:p>
        </p:txBody>
      </p:sp>
      <p:sp>
        <p:nvSpPr>
          <p:cNvPr id="14" name="">
            <a:extLst xmlns:a="http://schemas.openxmlformats.org/drawingml/2006/main">
              <a:ext uri="{FF2B5EF4-FFF2-40B4-BE49-F238E27FC236}">
                <a16:creationId xmlns:a16="http://schemas.microsoft.com/office/drawing/2014/main" id="{8858BAD4-F7CA-4DFB-9BE6-6CFEF7FC43EE}"/>
              </a:ext>
            </a:extLst>
          </p:cNvPr>
          <p:cNvSpPr>
            <a:spLocks xmlns:a="http://schemas.openxmlformats.org/drawingml/2006/main" noGrp="1"/>
          </p:cNvSpPr>
          <p:nvPr/>
        </p:nvSpPr>
        <p:spPr>
          <a:xfrm xmlns:a="http://schemas.openxmlformats.org/drawingml/2006/main">
            <a:off x="609600" y="203835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1">
                <a:solidFill>
                  <a:srgbClr val="007B78"/>
                </a:solidFill>
                <a:latin typeface="Helvetica Neue"/>
                <a:ea typeface="Helvetica Neue"/>
                <a:cs typeface="Helvetica Neue"/>
              </a:defRPr>
            </a:defPPr>
            <a:lvl1pPr algn="l">
              <a:defRPr sz="1650" b="1">
                <a:solidFill>
                  <a:srgbClr val="007B78"/>
                </a:solidFill>
                <a:latin typeface="Helvetica Neue"/>
                <a:ea typeface="Helvetica Neue"/>
                <a:cs typeface="Helvetica Neue"/>
              </a:defRPr>
            </a:lvl1pPr>
            <a:lvl2pPr algn="l">
              <a:defRPr sz="1650" b="1">
                <a:solidFill>
                  <a:srgbClr val="007B78"/>
                </a:solidFill>
                <a:latin typeface="Helvetica Neue"/>
                <a:ea typeface="Helvetica Neue"/>
                <a:cs typeface="Helvetica Neue"/>
              </a:defRPr>
            </a:lvl2pPr>
            <a:lvl3pPr algn="l">
              <a:defRPr sz="1650" b="1">
                <a:solidFill>
                  <a:srgbClr val="007B78"/>
                </a:solidFill>
                <a:latin typeface="Helvetica Neue"/>
                <a:ea typeface="Helvetica Neue"/>
                <a:cs typeface="Helvetica Neue"/>
              </a:defRPr>
            </a:lvl3pPr>
            <a:lvl4pPr algn="l">
              <a:defRPr sz="1650" b="1">
                <a:solidFill>
                  <a:srgbClr val="007B78"/>
                </a:solidFill>
                <a:latin typeface="Helvetica Neue"/>
                <a:ea typeface="Helvetica Neue"/>
                <a:cs typeface="Helvetica Neue"/>
              </a:defRPr>
            </a:lvl4pPr>
            <a:lvl5pPr algn="l">
              <a:defRPr sz="1650" b="1">
                <a:solidFill>
                  <a:srgbClr val="007B78"/>
                </a:solidFill>
                <a:latin typeface="Helvetica Neue"/>
                <a:ea typeface="Helvetica Neue"/>
                <a:cs typeface="Helvetica Neue"/>
              </a:defRPr>
            </a:lvl5pPr>
            <a:lvl6pPr algn="l">
              <a:defRPr sz="1650" b="1">
                <a:solidFill>
                  <a:srgbClr val="007B78"/>
                </a:solidFill>
                <a:latin typeface="Helvetica Neue"/>
                <a:ea typeface="Helvetica Neue"/>
                <a:cs typeface="Helvetica Neue"/>
              </a:defRPr>
            </a:lvl6pPr>
            <a:lvl7pPr algn="l">
              <a:defRPr sz="1650" b="1">
                <a:solidFill>
                  <a:srgbClr val="007B78"/>
                </a:solidFill>
                <a:latin typeface="Helvetica Neue"/>
                <a:ea typeface="Helvetica Neue"/>
                <a:cs typeface="Helvetica Neue"/>
              </a:defRPr>
            </a:lvl7pPr>
            <a:lvl8pPr algn="l">
              <a:defRPr sz="1650" b="1">
                <a:solidFill>
                  <a:srgbClr val="007B78"/>
                </a:solidFill>
                <a:latin typeface="Helvetica Neue"/>
                <a:ea typeface="Helvetica Neue"/>
                <a:cs typeface="Helvetica Neue"/>
              </a:defRPr>
            </a:lvl8pPr>
            <a:lvl9pPr algn="l">
              <a:defRPr sz="1650" b="1">
                <a:solidFill>
                  <a:srgbClr val="007B78"/>
                </a:solidFill>
                <a:latin typeface="Helvetica Neue"/>
                <a:ea typeface="Helvetica Neue"/>
                <a:cs typeface="Helvetica Neue"/>
              </a:defRPr>
            </a:lvl9pPr>
          </a:lstStyle>
          <a:p xmlns:a="http://schemas.openxmlformats.org/drawingml/2006/main">
            <a:pPr algn="l">
              <a:defRPr sz="1650" b="1">
                <a:solidFill>
                  <a:srgbClr val="007B78"/>
                </a:solidFill>
                <a:latin typeface="Helvetica Neue"/>
                <a:ea typeface="Helvetica Neue"/>
                <a:cs typeface="Helvetica Neue"/>
              </a:defRPr>
            </a:pPr>
            <a:r>
              <a:rPr sz="1650" b="1">
                <a:solidFill>
                  <a:srgbClr val="007B78"/>
                </a:solidFill>
                <a:latin typeface="Helvetica Neue"/>
                <a:ea typeface="Helvetica Neue"/>
                <a:cs typeface="Helvetica Neue"/>
              </a:rPr>
              <a:t>ACTUAL TRAJECTORY</a:t>
            </a:r>
          </a:p>
        </p:txBody>
      </p:sp>
      <p:sp>
        <p:nvSpPr>
          <p:cNvPr id="15" name="">
            <a:extLst xmlns:a="http://schemas.openxmlformats.org/drawingml/2006/main">
              <a:ext uri="{FF2B5EF4-FFF2-40B4-BE49-F238E27FC236}">
                <a16:creationId xmlns:a16="http://schemas.microsoft.com/office/drawing/2014/main" id="{C2F9D746-21D7-40C1-8911-6E00F6EE4023}"/>
              </a:ext>
            </a:extLst>
          </p:cNvPr>
          <p:cNvSpPr>
            <a:spLocks xmlns:a="http://schemas.openxmlformats.org/drawingml/2006/main" noGrp="1"/>
          </p:cNvSpPr>
          <p:nvPr/>
        </p:nvSpPr>
        <p:spPr>
          <a:xfrm xmlns:a="http://schemas.openxmlformats.org/drawingml/2006/main">
            <a:off x="609600" y="390525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650" b="1">
                <a:solidFill>
                  <a:srgbClr val="007B78"/>
                </a:solidFill>
                <a:latin typeface="Helvetica Neue"/>
                <a:ea typeface="Helvetica Neue"/>
                <a:cs typeface="Helvetica Neue"/>
              </a:defRPr>
            </a:defPPr>
            <a:lvl1pPr algn="l">
              <a:defRPr sz="1650" b="1">
                <a:solidFill>
                  <a:srgbClr val="007B78"/>
                </a:solidFill>
                <a:latin typeface="Helvetica Neue"/>
                <a:ea typeface="Helvetica Neue"/>
                <a:cs typeface="Helvetica Neue"/>
              </a:defRPr>
            </a:lvl1pPr>
            <a:lvl2pPr algn="l">
              <a:defRPr sz="1650" b="1">
                <a:solidFill>
                  <a:srgbClr val="007B78"/>
                </a:solidFill>
                <a:latin typeface="Helvetica Neue"/>
                <a:ea typeface="Helvetica Neue"/>
                <a:cs typeface="Helvetica Neue"/>
              </a:defRPr>
            </a:lvl2pPr>
            <a:lvl3pPr algn="l">
              <a:defRPr sz="1650" b="1">
                <a:solidFill>
                  <a:srgbClr val="007B78"/>
                </a:solidFill>
                <a:latin typeface="Helvetica Neue"/>
                <a:ea typeface="Helvetica Neue"/>
                <a:cs typeface="Helvetica Neue"/>
              </a:defRPr>
            </a:lvl3pPr>
            <a:lvl4pPr algn="l">
              <a:defRPr sz="1650" b="1">
                <a:solidFill>
                  <a:srgbClr val="007B78"/>
                </a:solidFill>
                <a:latin typeface="Helvetica Neue"/>
                <a:ea typeface="Helvetica Neue"/>
                <a:cs typeface="Helvetica Neue"/>
              </a:defRPr>
            </a:lvl4pPr>
            <a:lvl5pPr algn="l">
              <a:defRPr sz="1650" b="1">
                <a:solidFill>
                  <a:srgbClr val="007B78"/>
                </a:solidFill>
                <a:latin typeface="Helvetica Neue"/>
                <a:ea typeface="Helvetica Neue"/>
                <a:cs typeface="Helvetica Neue"/>
              </a:defRPr>
            </a:lvl5pPr>
            <a:lvl6pPr algn="l">
              <a:defRPr sz="1650" b="1">
                <a:solidFill>
                  <a:srgbClr val="007B78"/>
                </a:solidFill>
                <a:latin typeface="Helvetica Neue"/>
                <a:ea typeface="Helvetica Neue"/>
                <a:cs typeface="Helvetica Neue"/>
              </a:defRPr>
            </a:lvl6pPr>
            <a:lvl7pPr algn="l">
              <a:defRPr sz="1650" b="1">
                <a:solidFill>
                  <a:srgbClr val="007B78"/>
                </a:solidFill>
                <a:latin typeface="Helvetica Neue"/>
                <a:ea typeface="Helvetica Neue"/>
                <a:cs typeface="Helvetica Neue"/>
              </a:defRPr>
            </a:lvl7pPr>
            <a:lvl8pPr algn="l">
              <a:defRPr sz="1650" b="1">
                <a:solidFill>
                  <a:srgbClr val="007B78"/>
                </a:solidFill>
                <a:latin typeface="Helvetica Neue"/>
                <a:ea typeface="Helvetica Neue"/>
                <a:cs typeface="Helvetica Neue"/>
              </a:defRPr>
            </a:lvl8pPr>
            <a:lvl9pPr algn="l">
              <a:defRPr sz="1650" b="1">
                <a:solidFill>
                  <a:srgbClr val="007B78"/>
                </a:solidFill>
                <a:latin typeface="Helvetica Neue"/>
                <a:ea typeface="Helvetica Neue"/>
                <a:cs typeface="Helvetica Neue"/>
              </a:defRPr>
            </a:lvl9pPr>
          </a:lstStyle>
          <a:p xmlns:a="http://schemas.openxmlformats.org/drawingml/2006/main">
            <a:pPr algn="l">
              <a:defRPr sz="1650" b="1">
                <a:solidFill>
                  <a:srgbClr val="007B78"/>
                </a:solidFill>
                <a:latin typeface="Helvetica Neue"/>
                <a:ea typeface="Helvetica Neue"/>
                <a:cs typeface="Helvetica Neue"/>
              </a:defRPr>
            </a:pPr>
            <a:r>
              <a:rPr sz="1650" b="1">
                <a:solidFill>
                  <a:srgbClr val="007B78"/>
                </a:solidFill>
                <a:latin typeface="Helvetica Neue"/>
                <a:ea typeface="Helvetica Neue"/>
                <a:cs typeface="Helvetica Neue"/>
              </a:rPr>
              <a:t>REFERENCE ACTIONS</a:t>
            </a:r>
          </a:p>
        </p:txBody>
      </p:sp>
      <p:sp>
        <p:nvSpPr>
          <p:cNvPr id="16" name="">
            <a:extLst xmlns:a="http://schemas.openxmlformats.org/drawingml/2006/main">
              <a:ext uri="{FF2B5EF4-FFF2-40B4-BE49-F238E27FC236}">
                <a16:creationId xmlns:a16="http://schemas.microsoft.com/office/drawing/2014/main" id="{CE7CDCCD-FE08-489E-80EC-B1764934D261}"/>
              </a:ext>
            </a:extLst>
          </p:cNvPr>
          <p:cNvSpPr>
            <a:spLocks xmlns:a="http://schemas.openxmlformats.org/drawingml/2006/main" noGrp="1"/>
          </p:cNvSpPr>
          <p:nvPr/>
        </p:nvSpPr>
        <p:spPr>
          <a:xfrm xmlns:a="http://schemas.openxmlformats.org/drawingml/2006/main">
            <a:off x="609600" y="2533650"/>
            <a:ext cx="2095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Fresh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Initial state</a:t>
            </a:r>
          </a:p>
        </p:txBody>
      </p:sp>
      <p:sp>
        <p:nvSpPr>
          <p:cNvPr id="17" name="">
            <a:extLst xmlns:a="http://schemas.openxmlformats.org/drawingml/2006/main">
              <a:ext uri="{FF2B5EF4-FFF2-40B4-BE49-F238E27FC236}">
                <a16:creationId xmlns:a16="http://schemas.microsoft.com/office/drawing/2014/main" id="{05E80C59-E8DA-4C8E-9F53-FBCFC7067EF8}"/>
              </a:ext>
            </a:extLst>
          </p:cNvPr>
          <p:cNvSpPr>
            <a:spLocks xmlns:a="http://schemas.openxmlformats.org/drawingml/2006/main" noGrp="1"/>
          </p:cNvSpPr>
          <p:nvPr/>
        </p:nvSpPr>
        <p:spPr>
          <a:xfrm xmlns:a="http://schemas.openxmlformats.org/drawingml/2006/main">
            <a:off x="3429000" y="2533650"/>
            <a:ext cx="2857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Replay recorded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state-changing calls</a:t>
            </a:r>
          </a:p>
        </p:txBody>
      </p:sp>
      <p:sp>
        <p:nvSpPr>
          <p:cNvPr id="18" name="">
            <a:extLst xmlns:a="http://schemas.openxmlformats.org/drawingml/2006/main">
              <a:ext uri="{FF2B5EF4-FFF2-40B4-BE49-F238E27FC236}">
                <a16:creationId xmlns:a16="http://schemas.microsoft.com/office/drawing/2014/main" id="{10A139DA-0B67-4CC1-80AC-30158D7834B9}"/>
              </a:ext>
            </a:extLst>
          </p:cNvPr>
          <p:cNvSpPr>
            <a:spLocks xmlns:a="http://schemas.openxmlformats.org/drawingml/2006/main" noGrp="1"/>
          </p:cNvSpPr>
          <p:nvPr/>
        </p:nvSpPr>
        <p:spPr>
          <a:xfrm xmlns:a="http://schemas.openxmlformats.org/drawingml/2006/main">
            <a:off x="7096125" y="2533650"/>
            <a:ext cx="219075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Predicted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DB state</a:t>
            </a:r>
          </a:p>
        </p:txBody>
      </p:sp>
      <p:sp>
        <p:nvSpPr>
          <p:cNvPr id="19" name="">
            <a:extLst xmlns:a="http://schemas.openxmlformats.org/drawingml/2006/main">
              <a:ext uri="{FF2B5EF4-FFF2-40B4-BE49-F238E27FC236}">
                <a16:creationId xmlns:a16="http://schemas.microsoft.com/office/drawing/2014/main" id="{1D3C4D22-B8C5-48E7-9C5A-CB900C677D72}"/>
              </a:ext>
            </a:extLst>
          </p:cNvPr>
          <p:cNvSpPr>
            <a:spLocks xmlns:a="http://schemas.openxmlformats.org/drawingml/2006/main" noGrp="1"/>
          </p:cNvSpPr>
          <p:nvPr/>
        </p:nvSpPr>
        <p:spPr>
          <a:xfrm xmlns:a="http://schemas.openxmlformats.org/drawingml/2006/main">
            <a:off x="609600" y="4381500"/>
            <a:ext cx="2095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Fresh environment</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Initial state</a:t>
            </a:r>
          </a:p>
        </p:txBody>
      </p:sp>
      <p:sp>
        <p:nvSpPr>
          <p:cNvPr id="20" name="">
            <a:extLst xmlns:a="http://schemas.openxmlformats.org/drawingml/2006/main">
              <a:ext uri="{FF2B5EF4-FFF2-40B4-BE49-F238E27FC236}">
                <a16:creationId xmlns:a16="http://schemas.microsoft.com/office/drawing/2014/main" id="{F6BD81D1-6478-452F-8A02-6DA07B31BBC6}"/>
              </a:ext>
            </a:extLst>
          </p:cNvPr>
          <p:cNvSpPr>
            <a:spLocks xmlns:a="http://schemas.openxmlformats.org/drawingml/2006/main" noGrp="1"/>
          </p:cNvSpPr>
          <p:nvPr/>
        </p:nvSpPr>
        <p:spPr>
          <a:xfrm xmlns:a="http://schemas.openxmlformats.org/drawingml/2006/main">
            <a:off x="3429000" y="4381500"/>
            <a:ext cx="285750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Execute task</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reference actions</a:t>
            </a:r>
          </a:p>
        </p:txBody>
      </p:sp>
      <p:sp>
        <p:nvSpPr>
          <p:cNvPr id="21" name="">
            <a:extLst xmlns:a="http://schemas.openxmlformats.org/drawingml/2006/main">
              <a:ext uri="{FF2B5EF4-FFF2-40B4-BE49-F238E27FC236}">
                <a16:creationId xmlns:a16="http://schemas.microsoft.com/office/drawing/2014/main" id="{BDA7D3BD-59CE-456C-A4C3-71F4DDC0F97D}"/>
              </a:ext>
            </a:extLst>
          </p:cNvPr>
          <p:cNvSpPr>
            <a:spLocks xmlns:a="http://schemas.openxmlformats.org/drawingml/2006/main" noGrp="1"/>
          </p:cNvSpPr>
          <p:nvPr/>
        </p:nvSpPr>
        <p:spPr>
          <a:xfrm xmlns:a="http://schemas.openxmlformats.org/drawingml/2006/main">
            <a:off x="7096125" y="4381500"/>
            <a:ext cx="2190750" cy="952500"/>
          </a:xfrm>
          <a:prstGeom xmlns:a="http://schemas.openxmlformats.org/drawingml/2006/main" prst="roundRect">
            <a:avLst>
              <a:gd name="adj" fmla="val 9000"/>
            </a:avLst>
          </a:prstGeom>
          <a:solidFill xmlns:a="http://schemas.openxmlformats.org/drawingml/2006/main">
            <a:srgbClr val="E6ECE9"/>
          </a:solidFill>
          <a:ln xmlns:a="http://schemas.openxmlformats.org/drawingml/2006/main" w="16193">
            <a:solidFill>
              <a:srgbClr val="007B78"/>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102B36"/>
                </a:solidFill>
                <a:latin typeface="Helvetica Neue"/>
                <a:ea typeface="Helvetica Neue"/>
                <a:cs typeface="Helvetica Neue"/>
              </a:defRPr>
            </a:defPPr>
            <a:lvl1pPr algn="ctr">
              <a:defRPr sz="1950" b="0">
                <a:solidFill>
                  <a:srgbClr val="102B36"/>
                </a:solidFill>
                <a:latin typeface="Helvetica Neue"/>
                <a:ea typeface="Helvetica Neue"/>
                <a:cs typeface="Helvetica Neue"/>
              </a:defRPr>
            </a:lvl1pPr>
            <a:lvl2pPr algn="ctr">
              <a:defRPr sz="1950" b="0">
                <a:solidFill>
                  <a:srgbClr val="102B36"/>
                </a:solidFill>
                <a:latin typeface="Helvetica Neue"/>
                <a:ea typeface="Helvetica Neue"/>
                <a:cs typeface="Helvetica Neue"/>
              </a:defRPr>
            </a:lvl2pPr>
            <a:lvl3pPr algn="ctr">
              <a:defRPr sz="1950" b="0">
                <a:solidFill>
                  <a:srgbClr val="102B36"/>
                </a:solidFill>
                <a:latin typeface="Helvetica Neue"/>
                <a:ea typeface="Helvetica Neue"/>
                <a:cs typeface="Helvetica Neue"/>
              </a:defRPr>
            </a:lvl3pPr>
            <a:lvl4pPr algn="ctr">
              <a:defRPr sz="1950" b="0">
                <a:solidFill>
                  <a:srgbClr val="102B36"/>
                </a:solidFill>
                <a:latin typeface="Helvetica Neue"/>
                <a:ea typeface="Helvetica Neue"/>
                <a:cs typeface="Helvetica Neue"/>
              </a:defRPr>
            </a:lvl4pPr>
            <a:lvl5pPr algn="ctr">
              <a:defRPr sz="1950" b="0">
                <a:solidFill>
                  <a:srgbClr val="102B36"/>
                </a:solidFill>
                <a:latin typeface="Helvetica Neue"/>
                <a:ea typeface="Helvetica Neue"/>
                <a:cs typeface="Helvetica Neue"/>
              </a:defRPr>
            </a:lvl5pPr>
            <a:lvl6pPr algn="ctr">
              <a:defRPr sz="1950" b="0">
                <a:solidFill>
                  <a:srgbClr val="102B36"/>
                </a:solidFill>
                <a:latin typeface="Helvetica Neue"/>
                <a:ea typeface="Helvetica Neue"/>
                <a:cs typeface="Helvetica Neue"/>
              </a:defRPr>
            </a:lvl6pPr>
            <a:lvl7pPr algn="ctr">
              <a:defRPr sz="1950" b="0">
                <a:solidFill>
                  <a:srgbClr val="102B36"/>
                </a:solidFill>
                <a:latin typeface="Helvetica Neue"/>
                <a:ea typeface="Helvetica Neue"/>
                <a:cs typeface="Helvetica Neue"/>
              </a:defRPr>
            </a:lvl7pPr>
            <a:lvl8pPr algn="ctr">
              <a:defRPr sz="1950" b="0">
                <a:solidFill>
                  <a:srgbClr val="102B36"/>
                </a:solidFill>
                <a:latin typeface="Helvetica Neue"/>
                <a:ea typeface="Helvetica Neue"/>
                <a:cs typeface="Helvetica Neue"/>
              </a:defRPr>
            </a:lvl8pPr>
            <a:lvl9pPr algn="ctr">
              <a:defRPr sz="1950" b="0">
                <a:solidFill>
                  <a:srgbClr val="102B36"/>
                </a:solidFill>
                <a:latin typeface="Helvetica Neue"/>
                <a:ea typeface="Helvetica Neue"/>
                <a:cs typeface="Helvetica Neue"/>
              </a:defRPr>
            </a:lvl9pPr>
          </a:lstStyle>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Gold</a:t>
            </a:r>
          </a:p>
          <a:p xmlns:a="http://schemas.openxmlformats.org/drawingml/2006/main">
            <a:pPr algn="ctr">
              <a:defRPr sz="1950" b="0">
                <a:solidFill>
                  <a:srgbClr val="102B36"/>
                </a:solidFill>
                <a:latin typeface="Helvetica Neue"/>
                <a:ea typeface="Helvetica Neue"/>
                <a:cs typeface="Helvetica Neue"/>
              </a:defRPr>
            </a:pPr>
            <a:r>
              <a:rPr sz="1950" b="0">
                <a:solidFill>
                  <a:srgbClr val="102B36"/>
                </a:solidFill>
                <a:latin typeface="Helvetica Neue"/>
                <a:ea typeface="Helvetica Neue"/>
                <a:cs typeface="Helvetica Neue"/>
              </a:rPr>
              <a:t>DB state</a:t>
            </a:r>
          </a:p>
        </p:txBody>
      </p:sp>
      <p:sp>
        <p:nvSpPr>
          <p:cNvPr id="22" name="">
            <a:extLst xmlns:a="http://schemas.openxmlformats.org/drawingml/2006/main">
              <a:ext uri="{FF2B5EF4-FFF2-40B4-BE49-F238E27FC236}">
                <a16:creationId xmlns:a16="http://schemas.microsoft.com/office/drawing/2014/main" id="{D91426F8-D26A-4D81-903E-1B3D65611B8F}"/>
              </a:ext>
            </a:extLst>
          </p:cNvPr>
          <p:cNvSpPr>
            <a:spLocks xmlns:a="http://schemas.openxmlformats.org/drawingml/2006/main" noGrp="1"/>
          </p:cNvSpPr>
          <p:nvPr/>
        </p:nvSpPr>
        <p:spPr>
          <a:xfrm xmlns:a="http://schemas.openxmlformats.org/drawingml/2006/main">
            <a:off x="9906000" y="3457575"/>
            <a:ext cx="1762125" cy="952500"/>
          </a:xfrm>
          <a:prstGeom xmlns:a="http://schemas.openxmlformats.org/drawingml/2006/main" prst="roundRect">
            <a:avLst>
              <a:gd name="adj" fmla="val 9000"/>
            </a:avLst>
          </a:prstGeom>
          <a:solidFill xmlns:a="http://schemas.openxmlformats.org/drawingml/2006/main">
            <a:srgbClr val="102B36"/>
          </a:solidFill>
          <a:ln xmlns:a="http://schemas.openxmlformats.org/drawingml/2006/main" w="16193">
            <a:solidFill>
              <a:srgbClr val="102B36"/>
            </a:solidFill>
          </a:ln>
        </p:spPr>
        <p:txBody>
          <a:bodyPr xmlns:a="http://schemas.openxmlformats.org/drawingml/2006/main" lIns="114300" tIns="114300" rIns="114300" bIns="114300" anchor="ctr">
            <a:noAutofit/>
          </a:bodyPr>
          <a:lstStyle xmlns:a="http://schemas.openxmlformats.org/drawingml/2006/main">
            <a:defPPr algn="ctr">
              <a:defRPr sz="1950" b="0">
                <a:solidFill>
                  <a:srgbClr val="FFFFFF"/>
                </a:solidFill>
                <a:latin typeface="Helvetica Neue"/>
                <a:ea typeface="Helvetica Neue"/>
                <a:cs typeface="Helvetica Neue"/>
              </a:defRPr>
            </a:defPPr>
            <a:lvl1pPr algn="ctr">
              <a:defRPr sz="1950" b="0">
                <a:solidFill>
                  <a:srgbClr val="FFFFFF"/>
                </a:solidFill>
                <a:latin typeface="Helvetica Neue"/>
                <a:ea typeface="Helvetica Neue"/>
                <a:cs typeface="Helvetica Neue"/>
              </a:defRPr>
            </a:lvl1pPr>
            <a:lvl2pPr algn="ctr">
              <a:defRPr sz="1950" b="0">
                <a:solidFill>
                  <a:srgbClr val="FFFFFF"/>
                </a:solidFill>
                <a:latin typeface="Helvetica Neue"/>
                <a:ea typeface="Helvetica Neue"/>
                <a:cs typeface="Helvetica Neue"/>
              </a:defRPr>
            </a:lvl2pPr>
            <a:lvl3pPr algn="ctr">
              <a:defRPr sz="1950" b="0">
                <a:solidFill>
                  <a:srgbClr val="FFFFFF"/>
                </a:solidFill>
                <a:latin typeface="Helvetica Neue"/>
                <a:ea typeface="Helvetica Neue"/>
                <a:cs typeface="Helvetica Neue"/>
              </a:defRPr>
            </a:lvl3pPr>
            <a:lvl4pPr algn="ctr">
              <a:defRPr sz="1950" b="0">
                <a:solidFill>
                  <a:srgbClr val="FFFFFF"/>
                </a:solidFill>
                <a:latin typeface="Helvetica Neue"/>
                <a:ea typeface="Helvetica Neue"/>
                <a:cs typeface="Helvetica Neue"/>
              </a:defRPr>
            </a:lvl4pPr>
            <a:lvl5pPr algn="ctr">
              <a:defRPr sz="1950" b="0">
                <a:solidFill>
                  <a:srgbClr val="FFFFFF"/>
                </a:solidFill>
                <a:latin typeface="Helvetica Neue"/>
                <a:ea typeface="Helvetica Neue"/>
                <a:cs typeface="Helvetica Neue"/>
              </a:defRPr>
            </a:lvl5pPr>
            <a:lvl6pPr algn="ctr">
              <a:defRPr sz="1950" b="0">
                <a:solidFill>
                  <a:srgbClr val="FFFFFF"/>
                </a:solidFill>
                <a:latin typeface="Helvetica Neue"/>
                <a:ea typeface="Helvetica Neue"/>
                <a:cs typeface="Helvetica Neue"/>
              </a:defRPr>
            </a:lvl6pPr>
            <a:lvl7pPr algn="ctr">
              <a:defRPr sz="1950" b="0">
                <a:solidFill>
                  <a:srgbClr val="FFFFFF"/>
                </a:solidFill>
                <a:latin typeface="Helvetica Neue"/>
                <a:ea typeface="Helvetica Neue"/>
                <a:cs typeface="Helvetica Neue"/>
              </a:defRPr>
            </a:lvl7pPr>
            <a:lvl8pPr algn="ctr">
              <a:defRPr sz="1950" b="0">
                <a:solidFill>
                  <a:srgbClr val="FFFFFF"/>
                </a:solidFill>
                <a:latin typeface="Helvetica Neue"/>
                <a:ea typeface="Helvetica Neue"/>
                <a:cs typeface="Helvetica Neue"/>
              </a:defRPr>
            </a:lvl8pPr>
            <a:lvl9pPr algn="ctr">
              <a:defRPr sz="1950" b="0">
                <a:solidFill>
                  <a:srgbClr val="FFFFFF"/>
                </a:solidFill>
                <a:latin typeface="Helvetica Neue"/>
                <a:ea typeface="Helvetica Neue"/>
                <a:cs typeface="Helvetica Neue"/>
              </a:defRPr>
            </a:lvl9pPr>
          </a:lstStyle>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Hash match?</a:t>
            </a:r>
          </a:p>
          <a:p xmlns:a="http://schemas.openxmlformats.org/drawingml/2006/main">
            <a:pPr algn="ct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DB = 1 or 0</a:t>
            </a:r>
          </a:p>
        </p:txBody>
      </p:sp>
      <p:sp>
        <p:nvSpPr>
          <p:cNvPr id="29" name="">
            <a:extLst xmlns:a="http://schemas.openxmlformats.org/drawingml/2006/main">
              <a:ext uri="{FF2B5EF4-FFF2-40B4-BE49-F238E27FC236}">
                <a16:creationId xmlns:a16="http://schemas.microsoft.com/office/drawing/2014/main" id="{2BF1EDC1-B34E-4237-81D6-BCA49014F8F7}"/>
              </a:ext>
            </a:extLst>
          </p:cNvPr>
          <p:cNvSpPr>
            <a:spLocks xmlns:a="http://schemas.openxmlformats.org/drawingml/2006/main" noGrp="1"/>
          </p:cNvSpPr>
          <p:nvPr/>
        </p:nvSpPr>
        <p:spPr>
          <a:xfrm xmlns:a="http://schemas.openxmlformats.org/drawingml/2006/main">
            <a:off x="609600" y="5772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1875" b="1">
                <a:solidFill>
                  <a:srgbClr val="007B78"/>
                </a:solidFill>
                <a:latin typeface="Helvetica Neue"/>
                <a:ea typeface="Helvetica Neue"/>
                <a:cs typeface="Helvetica Neue"/>
              </a:defRPr>
            </a:defPPr>
            <a:lvl1pPr algn="l">
              <a:defRPr sz="1875" b="1">
                <a:solidFill>
                  <a:srgbClr val="007B78"/>
                </a:solidFill>
                <a:latin typeface="Helvetica Neue"/>
                <a:ea typeface="Helvetica Neue"/>
                <a:cs typeface="Helvetica Neue"/>
              </a:defRPr>
            </a:lvl1pPr>
            <a:lvl2pPr algn="l">
              <a:defRPr sz="1875" b="1">
                <a:solidFill>
                  <a:srgbClr val="007B78"/>
                </a:solidFill>
                <a:latin typeface="Helvetica Neue"/>
                <a:ea typeface="Helvetica Neue"/>
                <a:cs typeface="Helvetica Neue"/>
              </a:defRPr>
            </a:lvl2pPr>
            <a:lvl3pPr algn="l">
              <a:defRPr sz="1875" b="1">
                <a:solidFill>
                  <a:srgbClr val="007B78"/>
                </a:solidFill>
                <a:latin typeface="Helvetica Neue"/>
                <a:ea typeface="Helvetica Neue"/>
                <a:cs typeface="Helvetica Neue"/>
              </a:defRPr>
            </a:lvl3pPr>
            <a:lvl4pPr algn="l">
              <a:defRPr sz="1875" b="1">
                <a:solidFill>
                  <a:srgbClr val="007B78"/>
                </a:solidFill>
                <a:latin typeface="Helvetica Neue"/>
                <a:ea typeface="Helvetica Neue"/>
                <a:cs typeface="Helvetica Neue"/>
              </a:defRPr>
            </a:lvl4pPr>
            <a:lvl5pPr algn="l">
              <a:defRPr sz="1875" b="1">
                <a:solidFill>
                  <a:srgbClr val="007B78"/>
                </a:solidFill>
                <a:latin typeface="Helvetica Neue"/>
                <a:ea typeface="Helvetica Neue"/>
                <a:cs typeface="Helvetica Neue"/>
              </a:defRPr>
            </a:lvl5pPr>
            <a:lvl6pPr algn="l">
              <a:defRPr sz="1875" b="1">
                <a:solidFill>
                  <a:srgbClr val="007B78"/>
                </a:solidFill>
                <a:latin typeface="Helvetica Neue"/>
                <a:ea typeface="Helvetica Neue"/>
                <a:cs typeface="Helvetica Neue"/>
              </a:defRPr>
            </a:lvl6pPr>
            <a:lvl7pPr algn="l">
              <a:defRPr sz="1875" b="1">
                <a:solidFill>
                  <a:srgbClr val="007B78"/>
                </a:solidFill>
                <a:latin typeface="Helvetica Neue"/>
                <a:ea typeface="Helvetica Neue"/>
                <a:cs typeface="Helvetica Neue"/>
              </a:defRPr>
            </a:lvl7pPr>
            <a:lvl8pPr algn="l">
              <a:defRPr sz="1875" b="1">
                <a:solidFill>
                  <a:srgbClr val="007B78"/>
                </a:solidFill>
                <a:latin typeface="Helvetica Neue"/>
                <a:ea typeface="Helvetica Neue"/>
                <a:cs typeface="Helvetica Neue"/>
              </a:defRPr>
            </a:lvl8pPr>
            <a:lvl9pPr algn="l">
              <a:defRPr sz="1875" b="1">
                <a:solidFill>
                  <a:srgbClr val="007B78"/>
                </a:solidFill>
                <a:latin typeface="Helvetica Neue"/>
                <a:ea typeface="Helvetica Neue"/>
                <a:cs typeface="Helvetica Neue"/>
              </a:defRPr>
            </a:lvl9pPr>
          </a:lstStyle>
          <a:p xmlns:a="http://schemas.openxmlformats.org/drawingml/2006/main">
            <a:pPr algn="l">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Task 0: reward = DB × 1 for empty NL assertions, after normal termination.</a:t>
            </a:r>
          </a:p>
        </p:txBody>
      </p:sp>
    </p:spTree>
    <p:extLst>
      <p:ext uri="{BB962C8B-B14F-4D97-AF65-F5344CB8AC3E}">
        <p14:creationId xmlns:p14="http://schemas.microsoft.com/office/powerpoint/2010/main" val="168545849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52FA8D-D6CC-4C6A-ABEE-A979EEE5068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11</a:t>
            </a:r>
          </a:p>
        </p:txBody>
      </p:sp>
      <p:sp>
        <p:nvSpPr>
          <p:cNvPr id="2" name="">
            <a:extLst xmlns:a="http://schemas.openxmlformats.org/drawingml/2006/main">
              <a:ext uri="{FF2B5EF4-FFF2-40B4-BE49-F238E27FC236}">
                <a16:creationId xmlns:a16="http://schemas.microsoft.com/office/drawing/2014/main" id="{68C8F166-985E-4296-9021-B2770D2B4A09}"/>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correct final state can hide a process violation</a:t>
            </a:r>
          </a:p>
        </p:txBody>
      </p:sp>
      <p:sp>
        <p:nvSpPr>
          <p:cNvPr id="3" name="">
            <a:extLst xmlns:a="http://schemas.openxmlformats.org/drawingml/2006/main">
              <a:ext uri="{FF2B5EF4-FFF2-40B4-BE49-F238E27FC236}">
                <a16:creationId xmlns:a16="http://schemas.microsoft.com/office/drawing/2014/main" id="{32CC05A9-29D3-4237-9444-30319AA66AA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Hypothetical comparison: identical final states, different confirmation behavior</a:t>
            </a:r>
          </a:p>
        </p:txBody>
      </p:sp>
      <p:graphicFrame>
        <p:nvGraphicFramePr>
          <p:cNvPr id="4" name="">
            <a:extLst xmlns:a="http://schemas.openxmlformats.org/drawingml/2006/main">
              <a:ext uri="{FF2B5EF4-FFF2-40B4-BE49-F238E27FC236}">
                <a16:creationId xmlns:a16="http://schemas.microsoft.com/office/drawing/2014/main" id="{63894516-9CB6-4613-BE5C-820374BAB6F2}"/>
              </a:ext>
            </a:extLst>
          </p:cNvPr>
          <p:cNvGraphicFramePr/>
          <p:nvPr/>
        </p:nvGraphicFramePr>
        <p:xfrm>
          <a:off xmlns:a="http://schemas.openxmlformats.org/drawingml/2006/main" x="609600" y="2162175"/>
          <a:ext xmlns:a="http://schemas.openxmlformats.org/drawingml/2006/main" cx="10972800" cy="3333750"/>
        </p:xfrm>
        <a:graphic xmlns:a="http://schemas.openxmlformats.org/drawingml/2006/main">
          <a:graphicData uri="http://schemas.openxmlformats.org/drawingml/2006/table">
            <a:tbl>
              <a:tblPr/>
              <a:tblGrid>
                <a:gridCol w="6096000"/>
                <a:gridCol w="2438400"/>
                <a:gridCol w="2438400"/>
              </a:tblGrid>
              <a:tr h="666750">
                <a:tc>
                  <a:txBody>
                    <a:bodyPr lIns="133350" tIns="133350" rIns="133350" bIns="133350"/>
                    <a:lstStyle/>
                    <a:p>
                      <a:r>
                        <a:rPr sz="2025" b="1">
                          <a:solidFill>
                            <a:srgbClr val="FFFFFF"/>
                          </a:solidFill>
                          <a:latin typeface="Helvetica Neue"/>
                          <a:ea typeface="Helvetica Neue"/>
                          <a:cs typeface="Helvetica Neue"/>
                        </a:rPr>
                        <a:t>Evidence</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A</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B</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2025" b="0">
                          <a:solidFill>
                            <a:srgbClr val="102B36"/>
                          </a:solidFill>
                          <a:latin typeface="Helvetica Neue"/>
                          <a:ea typeface="Helvetica Neue"/>
                          <a:cs typeface="Helvetica Neue"/>
                        </a:rPr>
                        <a:t>Correct exchange request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Explicit customer confirmation</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Skipped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2025" b="0">
                          <a:solidFill>
                            <a:srgbClr val="102B36"/>
                          </a:solidFill>
                          <a:latin typeface="Helvetica Neue"/>
                          <a:ea typeface="Helvetica Neue"/>
                          <a:cs typeface="Helvetica Neue"/>
                        </a:rPr>
                        <a:t>Final database matches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Task 0 reward, if normally completed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21A7764F-017D-42B5-B927-66CA0AFA074F}"/>
              </a:ext>
            </a:extLst>
          </p:cNvPr>
          <p:cNvSpPr>
            <a:spLocks xmlns:a="http://schemas.openxmlformats.org/drawingml/2006/main" noGrp="1"/>
          </p:cNvSpPr>
          <p:nvPr/>
        </p:nvSpPr>
        <p:spPr>
          <a:xfrm xmlns:a="http://schemas.openxmlformats.org/drawingml/2006/main">
            <a:off x="628650" y="5791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A policy requirement affects reward only when the task checks it.</a:t>
            </a:r>
          </a:p>
        </p:txBody>
      </p:sp>
    </p:spTree>
    <p:extLst>
      <p:ext uri="{BB962C8B-B14F-4D97-AF65-F5344CB8AC3E}">
        <p14:creationId xmlns:p14="http://schemas.microsoft.com/office/powerpoint/2010/main" val="592863113"/>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67B3C-4A22-4F4E-8200-A4606B8F7FC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12</a:t>
            </a:r>
          </a:p>
        </p:txBody>
      </p:sp>
      <p:sp>
        <p:nvSpPr>
          <p:cNvPr id="2" name="">
            <a:extLst xmlns:a="http://schemas.openxmlformats.org/drawingml/2006/main">
              <a:ext uri="{FF2B5EF4-FFF2-40B4-BE49-F238E27FC236}">
                <a16:creationId xmlns:a16="http://schemas.microsoft.com/office/drawing/2014/main" id="{0A86C8C4-B5A8-4902-BCF9-6D32744ADC6F}"/>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Connecting a different agent</a:t>
            </a:r>
          </a:p>
        </p:txBody>
      </p:sp>
      <p:sp>
        <p:nvSpPr>
          <p:cNvPr id="3" name="">
            <a:extLst xmlns:a="http://schemas.openxmlformats.org/drawingml/2006/main">
              <a:ext uri="{FF2B5EF4-FFF2-40B4-BE49-F238E27FC236}">
                <a16:creationId xmlns:a16="http://schemas.microsoft.com/office/drawing/2014/main" id="{FE8D4A54-C671-445D-86CD-A20C18454E3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interface keeps the task environment independent of agent internals</a:t>
            </a:r>
          </a:p>
        </p:txBody>
      </p:sp>
      <p:graphicFrame>
        <p:nvGraphicFramePr>
          <p:cNvPr id="4" name="">
            <a:extLst xmlns:a="http://schemas.openxmlformats.org/drawingml/2006/main">
              <a:ext uri="{FF2B5EF4-FFF2-40B4-BE49-F238E27FC236}">
                <a16:creationId xmlns:a16="http://schemas.microsoft.com/office/drawing/2014/main" id="{EB0329C0-4C91-42BB-9623-0BE87C24421A}"/>
              </a:ext>
            </a:extLst>
          </p:cNvPr>
          <p:cNvGraphicFramePr/>
          <p:nvPr/>
        </p:nvGraphicFramePr>
        <p:xfrm>
          <a:off xmlns:a="http://schemas.openxmlformats.org/drawingml/2006/main" x="609600" y="2124075"/>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950" b="1">
                          <a:solidFill>
                            <a:srgbClr val="FFFFFF"/>
                          </a:solidFill>
                          <a:latin typeface="Helvetica Neue"/>
                          <a:ea typeface="Helvetica Neue"/>
                          <a:cs typeface="Helvetica Neue"/>
                        </a:rPr>
                        <a:t>Integration point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What it provides</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HalfDuplexAgent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Receives user or tool messages and returns AssistantMessage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State methods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get_init_state() and generate_next_message()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Registry factory</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Creates the chosen agent with tools and domain policy</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Gym / A2A experiment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Step-based control or an external service adapter</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33C1BCBB-B5FC-498C-95DF-C8A619030F7B}"/>
              </a:ext>
            </a:extLst>
          </p:cNvPr>
          <p:cNvSpPr>
            <a:spLocks xmlns:a="http://schemas.openxmlformats.org/drawingml/2006/main" noGrp="1"/>
          </p:cNvSpPr>
          <p:nvPr/>
        </p:nvSpPr>
        <p:spPr>
          <a:xfrm xmlns:a="http://schemas.openxmlformats.org/drawingml/2006/main">
            <a:off x="628650" y="57912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buNone/>
              <a:defRPr sz="2025" b="1">
                <a:solidFill>
                  <a:srgbClr val="007B78"/>
                </a:solidFill>
                <a:latin typeface="Helvetica Neue"/>
                <a:ea typeface="Helvetica Neue"/>
                <a:cs typeface="Helvetica Neue"/>
              </a:defRPr>
            </a:lvl1pPr>
            <a:lvl2pPr>
              <a:buNone/>
              <a:defRPr sz="2025" b="1">
                <a:solidFill>
                  <a:srgbClr val="007B78"/>
                </a:solidFill>
                <a:latin typeface="Helvetica Neue"/>
                <a:ea typeface="Helvetica Neue"/>
                <a:cs typeface="Helvetica Neue"/>
              </a:defRPr>
            </a:lvl2pPr>
            <a:lvl3pPr>
              <a:buNone/>
              <a:defRPr sz="2025" b="1">
                <a:solidFill>
                  <a:srgbClr val="007B78"/>
                </a:solidFill>
                <a:latin typeface="Helvetica Neue"/>
                <a:ea typeface="Helvetica Neue"/>
                <a:cs typeface="Helvetica Neue"/>
              </a:defRPr>
            </a:lvl3pPr>
            <a:lvl4pPr>
              <a:buNone/>
              <a:defRPr sz="2025" b="1">
                <a:solidFill>
                  <a:srgbClr val="007B78"/>
                </a:solidFill>
                <a:latin typeface="Helvetica Neue"/>
                <a:ea typeface="Helvetica Neue"/>
                <a:cs typeface="Helvetica Neue"/>
              </a:defRPr>
            </a:lvl4pPr>
            <a:lvl5pPr>
              <a:buNone/>
              <a:defRPr sz="2025" b="1">
                <a:solidFill>
                  <a:srgbClr val="007B78"/>
                </a:solidFill>
                <a:latin typeface="Helvetica Neue"/>
                <a:ea typeface="Helvetica Neue"/>
                <a:cs typeface="Helvetica Neue"/>
              </a:defRPr>
            </a:lvl5pPr>
            <a:lvl6pPr>
              <a:buNone/>
              <a:defRPr sz="2025" b="1">
                <a:solidFill>
                  <a:srgbClr val="007B78"/>
                </a:solidFill>
                <a:latin typeface="Helvetica Neue"/>
                <a:ea typeface="Helvetica Neue"/>
                <a:cs typeface="Helvetica Neue"/>
              </a:defRPr>
            </a:lvl6pPr>
            <a:lvl7pPr>
              <a:buNone/>
              <a:defRPr sz="2025" b="1">
                <a:solidFill>
                  <a:srgbClr val="007B78"/>
                </a:solidFill>
                <a:latin typeface="Helvetica Neue"/>
                <a:ea typeface="Helvetica Neue"/>
                <a:cs typeface="Helvetica Neue"/>
              </a:defRPr>
            </a:lvl7pPr>
            <a:lvl8pPr>
              <a:buNone/>
              <a:defRPr sz="2025" b="1">
                <a:solidFill>
                  <a:srgbClr val="007B78"/>
                </a:solidFill>
                <a:latin typeface="Helvetica Neue"/>
                <a:ea typeface="Helvetica Neue"/>
                <a:cs typeface="Helvetica Neue"/>
              </a:defRPr>
            </a:lvl8pPr>
            <a:lvl9pPr>
              <a:buNone/>
              <a:defRPr sz="2025" b="1">
                <a:solidFill>
                  <a:srgbClr val="007B78"/>
                </a:solidFill>
                <a:latin typeface="Helvetica Neue"/>
                <a:ea typeface="Helvetica Neue"/>
                <a:cs typeface="Helvetica Neue"/>
              </a:defRPr>
            </a:lvl9pPr>
          </a:lstStyle>
          <a:p xmlns:a="http://schemas.openxmlformats.org/drawingml/2006/main">
            <a:pPr>
              <a:buNone/>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External agents still need to follow a tool and message contract.</a:t>
            </a:r>
          </a:p>
        </p:txBody>
      </p:sp>
    </p:spTree>
    <p:extLst>
      <p:ext uri="{BB962C8B-B14F-4D97-AF65-F5344CB8AC3E}">
        <p14:creationId xmlns:p14="http://schemas.microsoft.com/office/powerpoint/2010/main" val="1839198548"/>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8E20D-07B9-4DF1-BF01-317EA21139B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A36FD48D-2FE7-4C70-8401-7A4768B2FF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Reliability across repeated trials</a:t>
            </a:r>
          </a:p>
        </p:txBody>
      </p:sp>
      <p:sp>
        <p:nvSpPr>
          <p:cNvPr id="3" name="">
            <a:extLst xmlns:a="http://schemas.openxmlformats.org/drawingml/2006/main">
              <a:ext uri="{FF2B5EF4-FFF2-40B4-BE49-F238E27FC236}">
                <a16:creationId xmlns:a16="http://schemas.microsoft.com/office/drawing/2014/main" id="{D5CCE7FA-679E-4B86-B7CB-9050AF4CF37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Illustrative example: one task succeeds in 3 of 4 trials</a:t>
            </a:r>
          </a:p>
        </p:txBody>
      </p:sp>
      <p:graphicFrame>
        <p:nvGraphicFramePr>
          <p:cNvPr id="4" name="">
            <a:extLst xmlns:a="http://schemas.openxmlformats.org/drawingml/2006/main">
              <a:ext uri="{FF2B5EF4-FFF2-40B4-BE49-F238E27FC236}">
                <a16:creationId xmlns:a16="http://schemas.microsoft.com/office/drawing/2014/main" id="{43CE90A9-93D4-4CDC-A1F2-357AE2B24482}"/>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6000750"/>
                <a:gridCol w="4972050"/>
              </a:tblGrid>
              <a:tr h="571500">
                <a:tc>
                  <a:txBody>
                    <a:bodyPr lIns="133350" tIns="133350" rIns="133350" bIns="133350"/>
                    <a:lstStyle/>
                    <a:p>
                      <a:r>
                        <a:rPr sz="1950" b="1">
                          <a:solidFill>
                            <a:srgbClr val="FFFFFF"/>
                          </a:solidFill>
                          <a:latin typeface="Helvetica Neue"/>
                          <a:ea typeface="Helvetica Neue"/>
                          <a:cs typeface="Helvetica Neue"/>
                        </a:rPr>
                        <a:t>Metric</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Estimate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571500">
                <a:tc>
                  <a:txBody>
                    <a:bodyPr lIns="133350" tIns="133350" rIns="133350" bIns="133350"/>
                    <a:lstStyle/>
                    <a:p>
                      <a:r>
                        <a:rPr sz="1950" b="0">
                          <a:solidFill>
                            <a:srgbClr val="102B36"/>
                          </a:solidFill>
                          <a:latin typeface="Helvetica Neue"/>
                          <a:ea typeface="Helvetica Neue"/>
                          <a:cs typeface="Helvetica Neue"/>
                        </a:rPr>
                        <a:t>pass^1: one sampled trial succeeds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3 / 4 = 0.75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pass^2: both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3 / 6 = 0.50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571500">
                <a:tc>
                  <a:txBody>
                    <a:bodyPr lIns="133350" tIns="133350" rIns="133350" bIns="133350"/>
                    <a:lstStyle/>
                    <a:p>
                      <a:r>
                        <a:rPr sz="1950" b="0">
                          <a:solidFill>
                            <a:srgbClr val="102B36"/>
                          </a:solidFill>
                          <a:latin typeface="Helvetica Neue"/>
                          <a:ea typeface="Helvetica Neue"/>
                          <a:cs typeface="Helvetica Neue"/>
                        </a:rPr>
                        <a:t>pass^3: all three sampled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1 / 4 = 0.25</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pass^4: all four trials succeed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0 / 1 = 0.00</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72921CD1-7219-4890-A5F2-2226CC644285}"/>
              </a:ext>
            </a:extLst>
          </p:cNvPr>
          <p:cNvSpPr>
            <a:spLocks xmlns:a="http://schemas.openxmlformats.org/drawingml/2006/main" noGrp="1"/>
          </p:cNvSpPr>
          <p:nvPr/>
        </p:nvSpPr>
        <p:spPr>
          <a:xfrm xmlns:a="http://schemas.openxmlformats.org/drawingml/2006/main">
            <a:off x="628650" y="53054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buNone/>
              <a:defRPr sz="2250" b="1">
                <a:solidFill>
                  <a:srgbClr val="007B78"/>
                </a:solidFill>
                <a:latin typeface="Helvetica Neue"/>
                <a:ea typeface="Helvetica Neue"/>
                <a:cs typeface="Helvetica Neue"/>
              </a:defRPr>
            </a:lvl1pPr>
            <a:lvl2pPr>
              <a:buNone/>
              <a:defRPr sz="2250" b="1">
                <a:solidFill>
                  <a:srgbClr val="007B78"/>
                </a:solidFill>
                <a:latin typeface="Helvetica Neue"/>
                <a:ea typeface="Helvetica Neue"/>
                <a:cs typeface="Helvetica Neue"/>
              </a:defRPr>
            </a:lvl2pPr>
            <a:lvl3pPr>
              <a:buNone/>
              <a:defRPr sz="2250" b="1">
                <a:solidFill>
                  <a:srgbClr val="007B78"/>
                </a:solidFill>
                <a:latin typeface="Helvetica Neue"/>
                <a:ea typeface="Helvetica Neue"/>
                <a:cs typeface="Helvetica Neue"/>
              </a:defRPr>
            </a:lvl3pPr>
            <a:lvl4pPr>
              <a:buNone/>
              <a:defRPr sz="2250" b="1">
                <a:solidFill>
                  <a:srgbClr val="007B78"/>
                </a:solidFill>
                <a:latin typeface="Helvetica Neue"/>
                <a:ea typeface="Helvetica Neue"/>
                <a:cs typeface="Helvetica Neue"/>
              </a:defRPr>
            </a:lvl4pPr>
            <a:lvl5pPr>
              <a:buNone/>
              <a:defRPr sz="2250" b="1">
                <a:solidFill>
                  <a:srgbClr val="007B78"/>
                </a:solidFill>
                <a:latin typeface="Helvetica Neue"/>
                <a:ea typeface="Helvetica Neue"/>
                <a:cs typeface="Helvetica Neue"/>
              </a:defRPr>
            </a:lvl5pPr>
            <a:lvl6pPr>
              <a:buNone/>
              <a:defRPr sz="2250" b="1">
                <a:solidFill>
                  <a:srgbClr val="007B78"/>
                </a:solidFill>
                <a:latin typeface="Helvetica Neue"/>
                <a:ea typeface="Helvetica Neue"/>
                <a:cs typeface="Helvetica Neue"/>
              </a:defRPr>
            </a:lvl6pPr>
            <a:lvl7pPr>
              <a:buNone/>
              <a:defRPr sz="2250" b="1">
                <a:solidFill>
                  <a:srgbClr val="007B78"/>
                </a:solidFill>
                <a:latin typeface="Helvetica Neue"/>
                <a:ea typeface="Helvetica Neue"/>
                <a:cs typeface="Helvetica Neue"/>
              </a:defRPr>
            </a:lvl7pPr>
            <a:lvl8pPr>
              <a:buNone/>
              <a:defRPr sz="2250" b="1">
                <a:solidFill>
                  <a:srgbClr val="007B78"/>
                </a:solidFill>
                <a:latin typeface="Helvetica Neue"/>
                <a:ea typeface="Helvetica Neue"/>
                <a:cs typeface="Helvetica Neue"/>
              </a:defRPr>
            </a:lvl8pPr>
            <a:lvl9pPr>
              <a:buNone/>
              <a:defRPr sz="2250" b="1">
                <a:solidFill>
                  <a:srgbClr val="007B78"/>
                </a:solidFill>
                <a:latin typeface="Helvetica Neue"/>
                <a:ea typeface="Helvetica Neue"/>
                <a:cs typeface="Helvetica Neue"/>
              </a:defRPr>
            </a:lvl9pPr>
          </a:lstStyle>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pass^k = C(c, k) / C(n, k)</a:t>
            </a:r>
          </a:p>
          <a:p xmlns:a="http://schemas.openxmlformats.org/drawingml/2006/main">
            <a:pPr>
              <a:buNone/>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Compute per task, then average.</a:t>
            </a:r>
          </a:p>
        </p:txBody>
      </p:sp>
      <p:sp>
        <p:nvSpPr>
          <p:cNvPr id="6" name="">
            <a:extLst xmlns:a="http://schemas.openxmlformats.org/drawingml/2006/main">
              <a:ext uri="{FF2B5EF4-FFF2-40B4-BE49-F238E27FC236}">
                <a16:creationId xmlns:a16="http://schemas.microsoft.com/office/drawing/2014/main" id="{CD3E804E-262E-4F17-8DCC-301A9040DACD}"/>
              </a:ext>
            </a:extLst>
          </p:cNvPr>
          <p:cNvSpPr>
            <a:spLocks xmlns:a="http://schemas.openxmlformats.org/drawingml/2006/main" noGrp="1"/>
          </p:cNvSpPr>
          <p:nvPr/>
        </p:nvSpPr>
        <p:spPr>
          <a:xfrm xmlns:a="http://schemas.openxmlformats.org/drawingml/2006/main">
            <a:off x="6762750" y="530542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0636A"/>
                </a:solidFill>
                <a:latin typeface="Helvetica Neue"/>
                <a:ea typeface="Helvetica Neue"/>
                <a:cs typeface="Helvetica Neue"/>
              </a:defRPr>
            </a:defPPr>
            <a:lvl1pPr>
              <a:buNone/>
              <a:defRPr sz="1950" b="0">
                <a:solidFill>
                  <a:srgbClr val="50636A"/>
                </a:solidFill>
                <a:latin typeface="Helvetica Neue"/>
                <a:ea typeface="Helvetica Neue"/>
                <a:cs typeface="Helvetica Neue"/>
              </a:defRPr>
            </a:lvl1pPr>
            <a:lvl2pPr>
              <a:buNone/>
              <a:defRPr sz="1950" b="0">
                <a:solidFill>
                  <a:srgbClr val="50636A"/>
                </a:solidFill>
                <a:latin typeface="Helvetica Neue"/>
                <a:ea typeface="Helvetica Neue"/>
                <a:cs typeface="Helvetica Neue"/>
              </a:defRPr>
            </a:lvl2pPr>
            <a:lvl3pPr>
              <a:buNone/>
              <a:defRPr sz="1950" b="0">
                <a:solidFill>
                  <a:srgbClr val="50636A"/>
                </a:solidFill>
                <a:latin typeface="Helvetica Neue"/>
                <a:ea typeface="Helvetica Neue"/>
                <a:cs typeface="Helvetica Neue"/>
              </a:defRPr>
            </a:lvl3pPr>
            <a:lvl4pPr>
              <a:buNone/>
              <a:defRPr sz="1950" b="0">
                <a:solidFill>
                  <a:srgbClr val="50636A"/>
                </a:solidFill>
                <a:latin typeface="Helvetica Neue"/>
                <a:ea typeface="Helvetica Neue"/>
                <a:cs typeface="Helvetica Neue"/>
              </a:defRPr>
            </a:lvl4pPr>
            <a:lvl5pPr>
              <a:buNone/>
              <a:defRPr sz="1950" b="0">
                <a:solidFill>
                  <a:srgbClr val="50636A"/>
                </a:solidFill>
                <a:latin typeface="Helvetica Neue"/>
                <a:ea typeface="Helvetica Neue"/>
                <a:cs typeface="Helvetica Neue"/>
              </a:defRPr>
            </a:lvl5pPr>
            <a:lvl6pPr>
              <a:buNone/>
              <a:defRPr sz="1950" b="0">
                <a:solidFill>
                  <a:srgbClr val="50636A"/>
                </a:solidFill>
                <a:latin typeface="Helvetica Neue"/>
                <a:ea typeface="Helvetica Neue"/>
                <a:cs typeface="Helvetica Neue"/>
              </a:defRPr>
            </a:lvl6pPr>
            <a:lvl7pPr>
              <a:buNone/>
              <a:defRPr sz="1950" b="0">
                <a:solidFill>
                  <a:srgbClr val="50636A"/>
                </a:solidFill>
                <a:latin typeface="Helvetica Neue"/>
                <a:ea typeface="Helvetica Neue"/>
                <a:cs typeface="Helvetica Neue"/>
              </a:defRPr>
            </a:lvl7pPr>
            <a:lvl8pPr>
              <a:buNone/>
              <a:defRPr sz="1950" b="0">
                <a:solidFill>
                  <a:srgbClr val="50636A"/>
                </a:solidFill>
                <a:latin typeface="Helvetica Neue"/>
                <a:ea typeface="Helvetica Neue"/>
                <a:cs typeface="Helvetica Neue"/>
              </a:defRPr>
            </a:lvl8pPr>
            <a:lvl9pPr>
              <a:buNone/>
              <a:defRPr sz="1950" b="0">
                <a:solidFill>
                  <a:srgbClr val="50636A"/>
                </a:solidFill>
                <a:latin typeface="Helvetica Neue"/>
                <a:ea typeface="Helvetica Neue"/>
                <a:cs typeface="Helvetica Neue"/>
              </a:defRPr>
            </a:lvl9pPr>
          </a:lstStyle>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pass@k asks whether at least</a:t>
            </a:r>
          </a:p>
          <a:p xmlns:a="http://schemas.openxmlformats.org/drawingml/2006/main">
            <a:pPr>
              <a:buNone/>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one of k attempts succeeds.</a:t>
            </a:r>
          </a:p>
        </p:txBody>
      </p:sp>
    </p:spTree>
    <p:extLst>
      <p:ext uri="{BB962C8B-B14F-4D97-AF65-F5344CB8AC3E}">
        <p14:creationId xmlns:p14="http://schemas.microsoft.com/office/powerpoint/2010/main" val="130904832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E36C1-E23B-4710-B38C-EA705BB3759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14</a:t>
            </a:r>
          </a:p>
        </p:txBody>
      </p:sp>
      <p:sp>
        <p:nvSpPr>
          <p:cNvPr id="2" name="">
            <a:extLst xmlns:a="http://schemas.openxmlformats.org/drawingml/2006/main">
              <a:ext uri="{FF2B5EF4-FFF2-40B4-BE49-F238E27FC236}">
                <a16:creationId xmlns:a16="http://schemas.microsoft.com/office/drawing/2014/main" id="{7BF36CE5-23F7-462D-95D9-0F8989676B0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Capabilities and boundaries</a:t>
            </a:r>
          </a:p>
        </p:txBody>
      </p:sp>
      <p:sp>
        <p:nvSpPr>
          <p:cNvPr id="3" name="">
            <a:extLst xmlns:a="http://schemas.openxmlformats.org/drawingml/2006/main">
              <a:ext uri="{FF2B5EF4-FFF2-40B4-BE49-F238E27FC236}">
                <a16:creationId xmlns:a16="http://schemas.microsoft.com/office/drawing/2014/main" id="{DC73F0C7-16F1-49BF-A5E3-FD8FFF77072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framework is extensible, while each domain defines a narrower test</a:t>
            </a:r>
          </a:p>
        </p:txBody>
      </p:sp>
      <p:sp>
        <p:nvSpPr>
          <p:cNvPr id="4" name="">
            <a:extLst xmlns:a="http://schemas.openxmlformats.org/drawingml/2006/main">
              <a:ext uri="{FF2B5EF4-FFF2-40B4-BE49-F238E27FC236}">
                <a16:creationId xmlns:a16="http://schemas.microsoft.com/office/drawing/2014/main" id="{01EB4222-4041-410F-8AAB-046ADF4D6EBD}"/>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53D90C9A-20E3-4579-92B7-F14304150713}"/>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reusable evaluation loop</a:t>
            </a:r>
          </a:p>
        </p:txBody>
      </p:sp>
      <p:sp>
        <p:nvSpPr>
          <p:cNvPr id="6" name="">
            <a:extLst xmlns:a="http://schemas.openxmlformats.org/drawingml/2006/main">
              <a:ext uri="{FF2B5EF4-FFF2-40B4-BE49-F238E27FC236}">
                <a16:creationId xmlns:a16="http://schemas.microsoft.com/office/drawing/2014/main" id="{8CB394DA-5155-4BE4-8306-1894E2AB4EA7}"/>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Tasks, users, agents and tools have separate interfaces.</a:t>
            </a:r>
          </a:p>
        </p:txBody>
      </p:sp>
      <p:sp>
        <p:nvSpPr>
          <p:cNvPr id="7" name="">
            <a:extLst xmlns:a="http://schemas.openxmlformats.org/drawingml/2006/main">
              <a:ext uri="{FF2B5EF4-FFF2-40B4-BE49-F238E27FC236}">
                <a16:creationId xmlns:a16="http://schemas.microsoft.com/office/drawing/2014/main" id="{52B52729-1F2B-4FD5-A052-03EB12A5572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F5037FB-08B7-4908-844A-69A136514212}"/>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Task-specific grading</a:t>
            </a:r>
          </a:p>
        </p:txBody>
      </p:sp>
      <p:sp>
        <p:nvSpPr>
          <p:cNvPr id="9" name="">
            <a:extLst xmlns:a="http://schemas.openxmlformats.org/drawingml/2006/main">
              <a:ext uri="{FF2B5EF4-FFF2-40B4-BE49-F238E27FC236}">
                <a16:creationId xmlns:a16="http://schemas.microsoft.com/office/drawing/2014/main" id="{BC8D4CFB-FB8A-4EF2-A76F-4B06807DD465}"/>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DB, action and language checks cover only the criteria a task enables.</a:t>
            </a:r>
          </a:p>
        </p:txBody>
      </p:sp>
      <p:sp>
        <p:nvSpPr>
          <p:cNvPr id="10" name="">
            <a:extLst xmlns:a="http://schemas.openxmlformats.org/drawingml/2006/main">
              <a:ext uri="{FF2B5EF4-FFF2-40B4-BE49-F238E27FC236}">
                <a16:creationId xmlns:a16="http://schemas.microsoft.com/office/drawing/2014/main" id="{D87731D9-D0F8-41C3-A433-43E59DBD138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buNone/>
              <a:defRPr sz="2550" b="1">
                <a:solidFill>
                  <a:srgbClr val="007B78"/>
                </a:solidFill>
                <a:latin typeface="Helvetica Neue"/>
                <a:ea typeface="Helvetica Neue"/>
                <a:cs typeface="Helvetica Neue"/>
              </a:defRPr>
            </a:lvl1pPr>
            <a:lvl2pPr>
              <a:buNone/>
              <a:defRPr sz="2550" b="1">
                <a:solidFill>
                  <a:srgbClr val="007B78"/>
                </a:solidFill>
                <a:latin typeface="Helvetica Neue"/>
                <a:ea typeface="Helvetica Neue"/>
                <a:cs typeface="Helvetica Neue"/>
              </a:defRPr>
            </a:lvl2pPr>
            <a:lvl3pPr>
              <a:buNone/>
              <a:defRPr sz="2550" b="1">
                <a:solidFill>
                  <a:srgbClr val="007B78"/>
                </a:solidFill>
                <a:latin typeface="Helvetica Neue"/>
                <a:ea typeface="Helvetica Neue"/>
                <a:cs typeface="Helvetica Neue"/>
              </a:defRPr>
            </a:lvl3pPr>
            <a:lvl4pPr>
              <a:buNone/>
              <a:defRPr sz="2550" b="1">
                <a:solidFill>
                  <a:srgbClr val="007B78"/>
                </a:solidFill>
                <a:latin typeface="Helvetica Neue"/>
                <a:ea typeface="Helvetica Neue"/>
                <a:cs typeface="Helvetica Neue"/>
              </a:defRPr>
            </a:lvl4pPr>
            <a:lvl5pPr>
              <a:buNone/>
              <a:defRPr sz="2550" b="1">
                <a:solidFill>
                  <a:srgbClr val="007B78"/>
                </a:solidFill>
                <a:latin typeface="Helvetica Neue"/>
                <a:ea typeface="Helvetica Neue"/>
                <a:cs typeface="Helvetica Neue"/>
              </a:defRPr>
            </a:lvl5pPr>
            <a:lvl6pPr>
              <a:buNone/>
              <a:defRPr sz="2550" b="1">
                <a:solidFill>
                  <a:srgbClr val="007B78"/>
                </a:solidFill>
                <a:latin typeface="Helvetica Neue"/>
                <a:ea typeface="Helvetica Neue"/>
                <a:cs typeface="Helvetica Neue"/>
              </a:defRPr>
            </a:lvl6pPr>
            <a:lvl7pPr>
              <a:buNone/>
              <a:defRPr sz="2550" b="1">
                <a:solidFill>
                  <a:srgbClr val="007B78"/>
                </a:solidFill>
                <a:latin typeface="Helvetica Neue"/>
                <a:ea typeface="Helvetica Neue"/>
                <a:cs typeface="Helvetica Neue"/>
              </a:defRPr>
            </a:lvl7pPr>
            <a:lvl8pPr>
              <a:buNone/>
              <a:defRPr sz="2550" b="1">
                <a:solidFill>
                  <a:srgbClr val="007B78"/>
                </a:solidFill>
                <a:latin typeface="Helvetica Neue"/>
                <a:ea typeface="Helvetica Neue"/>
                <a:cs typeface="Helvetica Neue"/>
              </a:defRPr>
            </a:lvl8pPr>
            <a:lvl9pPr>
              <a:buNone/>
              <a:defRPr sz="2550" b="1">
                <a:solidFill>
                  <a:srgbClr val="007B78"/>
                </a:solidFill>
                <a:latin typeface="Helvetica Neue"/>
                <a:ea typeface="Helvetica Neue"/>
                <a:cs typeface="Helvetica Neue"/>
              </a:defRPr>
            </a:lvl9pPr>
          </a:lstStyle>
          <a:p xmlns:a="http://schemas.openxmlformats.org/drawingml/2006/main">
            <a:pPr>
              <a:buNone/>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380F268C-42FC-4564-B0A5-04A6A1CB4C07}"/>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buNone/>
              <a:defRPr sz="2250" b="1">
                <a:solidFill>
                  <a:srgbClr val="102B36"/>
                </a:solidFill>
                <a:latin typeface="Helvetica Neue"/>
                <a:ea typeface="Helvetica Neue"/>
                <a:cs typeface="Helvetica Neue"/>
              </a:defRPr>
            </a:lvl1pPr>
            <a:lvl2pPr>
              <a:buNone/>
              <a:defRPr sz="2250" b="1">
                <a:solidFill>
                  <a:srgbClr val="102B36"/>
                </a:solidFill>
                <a:latin typeface="Helvetica Neue"/>
                <a:ea typeface="Helvetica Neue"/>
                <a:cs typeface="Helvetica Neue"/>
              </a:defRPr>
            </a:lvl2pPr>
            <a:lvl3pPr>
              <a:buNone/>
              <a:defRPr sz="2250" b="1">
                <a:solidFill>
                  <a:srgbClr val="102B36"/>
                </a:solidFill>
                <a:latin typeface="Helvetica Neue"/>
                <a:ea typeface="Helvetica Neue"/>
                <a:cs typeface="Helvetica Neue"/>
              </a:defRPr>
            </a:lvl3pPr>
            <a:lvl4pPr>
              <a:buNone/>
              <a:defRPr sz="2250" b="1">
                <a:solidFill>
                  <a:srgbClr val="102B36"/>
                </a:solidFill>
                <a:latin typeface="Helvetica Neue"/>
                <a:ea typeface="Helvetica Neue"/>
                <a:cs typeface="Helvetica Neue"/>
              </a:defRPr>
            </a:lvl4pPr>
            <a:lvl5pPr>
              <a:buNone/>
              <a:defRPr sz="2250" b="1">
                <a:solidFill>
                  <a:srgbClr val="102B36"/>
                </a:solidFill>
                <a:latin typeface="Helvetica Neue"/>
                <a:ea typeface="Helvetica Neue"/>
                <a:cs typeface="Helvetica Neue"/>
              </a:defRPr>
            </a:lvl5pPr>
            <a:lvl6pPr>
              <a:buNone/>
              <a:defRPr sz="2250" b="1">
                <a:solidFill>
                  <a:srgbClr val="102B36"/>
                </a:solidFill>
                <a:latin typeface="Helvetica Neue"/>
                <a:ea typeface="Helvetica Neue"/>
                <a:cs typeface="Helvetica Neue"/>
              </a:defRPr>
            </a:lvl6pPr>
            <a:lvl7pPr>
              <a:buNone/>
              <a:defRPr sz="2250" b="1">
                <a:solidFill>
                  <a:srgbClr val="102B36"/>
                </a:solidFill>
                <a:latin typeface="Helvetica Neue"/>
                <a:ea typeface="Helvetica Neue"/>
                <a:cs typeface="Helvetica Neue"/>
              </a:defRPr>
            </a:lvl7pPr>
            <a:lvl8pPr>
              <a:buNone/>
              <a:defRPr sz="2250" b="1">
                <a:solidFill>
                  <a:srgbClr val="102B36"/>
                </a:solidFill>
                <a:latin typeface="Helvetica Neue"/>
                <a:ea typeface="Helvetica Neue"/>
                <a:cs typeface="Helvetica Neue"/>
              </a:defRPr>
            </a:lvl8pPr>
            <a:lvl9pPr>
              <a:buNone/>
              <a:defRPr sz="2250" b="1">
                <a:solidFill>
                  <a:srgbClr val="102B36"/>
                </a:solidFill>
                <a:latin typeface="Helvetica Neue"/>
                <a:ea typeface="Helvetica Neue"/>
                <a:cs typeface="Helvetica Neue"/>
              </a:defRPr>
            </a:lvl9pPr>
          </a:lstStyle>
          <a:p xmlns:a="http://schemas.openxmlformats.org/drawingml/2006/main">
            <a:pPr>
              <a:buNone/>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A bounded retail simulation</a:t>
            </a:r>
          </a:p>
        </p:txBody>
      </p:sp>
      <p:sp>
        <p:nvSpPr>
          <p:cNvPr id="12" name="">
            <a:extLst xmlns:a="http://schemas.openxmlformats.org/drawingml/2006/main">
              <a:ext uri="{FF2B5EF4-FFF2-40B4-BE49-F238E27FC236}">
                <a16:creationId xmlns:a16="http://schemas.microsoft.com/office/drawing/2014/main" id="{39BED520-CD97-444C-9B9B-0B75E5E54803}"/>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shipped retail domain lacks coupon rules and delivery-date windows.</a:t>
            </a:r>
          </a:p>
        </p:txBody>
      </p:sp>
    </p:spTree>
    <p:extLst>
      <p:ext uri="{BB962C8B-B14F-4D97-AF65-F5344CB8AC3E}">
        <p14:creationId xmlns:p14="http://schemas.microsoft.com/office/powerpoint/2010/main" val="495904635"/>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F94B72-D715-4C0F-9999-8B4B8091ADA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buNone/>
              <a:defRPr sz="1200" b="0">
                <a:solidFill>
                  <a:srgbClr val="50636A"/>
                </a:solidFill>
                <a:latin typeface="Helvetica Neue"/>
                <a:ea typeface="Helvetica Neue"/>
                <a:cs typeface="Helvetica Neue"/>
              </a:defRPr>
            </a:lvl1pPr>
            <a:lvl2pPr>
              <a:buNone/>
              <a:defRPr sz="1200" b="0">
                <a:solidFill>
                  <a:srgbClr val="50636A"/>
                </a:solidFill>
                <a:latin typeface="Helvetica Neue"/>
                <a:ea typeface="Helvetica Neue"/>
                <a:cs typeface="Helvetica Neue"/>
              </a:defRPr>
            </a:lvl2pPr>
            <a:lvl3pPr>
              <a:buNone/>
              <a:defRPr sz="1200" b="0">
                <a:solidFill>
                  <a:srgbClr val="50636A"/>
                </a:solidFill>
                <a:latin typeface="Helvetica Neue"/>
                <a:ea typeface="Helvetica Neue"/>
                <a:cs typeface="Helvetica Neue"/>
              </a:defRPr>
            </a:lvl3pPr>
            <a:lvl4pPr>
              <a:buNone/>
              <a:defRPr sz="1200" b="0">
                <a:solidFill>
                  <a:srgbClr val="50636A"/>
                </a:solidFill>
                <a:latin typeface="Helvetica Neue"/>
                <a:ea typeface="Helvetica Neue"/>
                <a:cs typeface="Helvetica Neue"/>
              </a:defRPr>
            </a:lvl4pPr>
            <a:lvl5pPr>
              <a:buNone/>
              <a:defRPr sz="1200" b="0">
                <a:solidFill>
                  <a:srgbClr val="50636A"/>
                </a:solidFill>
                <a:latin typeface="Helvetica Neue"/>
                <a:ea typeface="Helvetica Neue"/>
                <a:cs typeface="Helvetica Neue"/>
              </a:defRPr>
            </a:lvl5pPr>
            <a:lvl6pPr>
              <a:buNone/>
              <a:defRPr sz="1200" b="0">
                <a:solidFill>
                  <a:srgbClr val="50636A"/>
                </a:solidFill>
                <a:latin typeface="Helvetica Neue"/>
                <a:ea typeface="Helvetica Neue"/>
                <a:cs typeface="Helvetica Neue"/>
              </a:defRPr>
            </a:lvl6pPr>
            <a:lvl7pPr>
              <a:buNone/>
              <a:defRPr sz="1200" b="0">
                <a:solidFill>
                  <a:srgbClr val="50636A"/>
                </a:solidFill>
                <a:latin typeface="Helvetica Neue"/>
                <a:ea typeface="Helvetica Neue"/>
                <a:cs typeface="Helvetica Neue"/>
              </a:defRPr>
            </a:lvl7pPr>
            <a:lvl8pPr>
              <a:buNone/>
              <a:defRPr sz="1200" b="0">
                <a:solidFill>
                  <a:srgbClr val="50636A"/>
                </a:solidFill>
                <a:latin typeface="Helvetica Neue"/>
                <a:ea typeface="Helvetica Neue"/>
                <a:cs typeface="Helvetica Neue"/>
              </a:defRPr>
            </a:lvl8pPr>
            <a:lvl9pPr>
              <a:buNone/>
              <a:defRPr sz="1200" b="0">
                <a:solidFill>
                  <a:srgbClr val="50636A"/>
                </a:solidFill>
                <a:latin typeface="Helvetica Neue"/>
                <a:ea typeface="Helvetica Neue"/>
                <a:cs typeface="Helvetica Neue"/>
              </a:defRPr>
            </a:lvl9pPr>
          </a:lstStyle>
          <a:p xmlns:a="http://schemas.openxmlformats.org/drawingml/2006/main">
            <a:pPr>
              <a:buNone/>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15</a:t>
            </a:r>
          </a:p>
        </p:txBody>
      </p:sp>
      <p:sp>
        <p:nvSpPr>
          <p:cNvPr id="2" name="">
            <a:extLst xmlns:a="http://schemas.openxmlformats.org/drawingml/2006/main">
              <a:ext uri="{FF2B5EF4-FFF2-40B4-BE49-F238E27FC236}">
                <a16:creationId xmlns:a16="http://schemas.microsoft.com/office/drawing/2014/main" id="{866E9119-7AE7-410E-8F30-874A0084A3D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buNone/>
              <a:defRPr sz="3300" b="1">
                <a:solidFill>
                  <a:srgbClr val="102B36"/>
                </a:solidFill>
                <a:latin typeface="Helvetica Neue"/>
                <a:ea typeface="Helvetica Neue"/>
                <a:cs typeface="Helvetica Neue"/>
              </a:defRPr>
            </a:lvl1pPr>
            <a:lvl2pPr>
              <a:buNone/>
              <a:defRPr sz="3300" b="1">
                <a:solidFill>
                  <a:srgbClr val="102B36"/>
                </a:solidFill>
                <a:latin typeface="Helvetica Neue"/>
                <a:ea typeface="Helvetica Neue"/>
                <a:cs typeface="Helvetica Neue"/>
              </a:defRPr>
            </a:lvl2pPr>
            <a:lvl3pPr>
              <a:buNone/>
              <a:defRPr sz="3300" b="1">
                <a:solidFill>
                  <a:srgbClr val="102B36"/>
                </a:solidFill>
                <a:latin typeface="Helvetica Neue"/>
                <a:ea typeface="Helvetica Neue"/>
                <a:cs typeface="Helvetica Neue"/>
              </a:defRPr>
            </a:lvl3pPr>
            <a:lvl4pPr>
              <a:buNone/>
              <a:defRPr sz="3300" b="1">
                <a:solidFill>
                  <a:srgbClr val="102B36"/>
                </a:solidFill>
                <a:latin typeface="Helvetica Neue"/>
                <a:ea typeface="Helvetica Neue"/>
                <a:cs typeface="Helvetica Neue"/>
              </a:defRPr>
            </a:lvl4pPr>
            <a:lvl5pPr>
              <a:buNone/>
              <a:defRPr sz="3300" b="1">
                <a:solidFill>
                  <a:srgbClr val="102B36"/>
                </a:solidFill>
                <a:latin typeface="Helvetica Neue"/>
                <a:ea typeface="Helvetica Neue"/>
                <a:cs typeface="Helvetica Neue"/>
              </a:defRPr>
            </a:lvl5pPr>
            <a:lvl6pPr>
              <a:buNone/>
              <a:defRPr sz="3300" b="1">
                <a:solidFill>
                  <a:srgbClr val="102B36"/>
                </a:solidFill>
                <a:latin typeface="Helvetica Neue"/>
                <a:ea typeface="Helvetica Neue"/>
                <a:cs typeface="Helvetica Neue"/>
              </a:defRPr>
            </a:lvl6pPr>
            <a:lvl7pPr>
              <a:buNone/>
              <a:defRPr sz="3300" b="1">
                <a:solidFill>
                  <a:srgbClr val="102B36"/>
                </a:solidFill>
                <a:latin typeface="Helvetica Neue"/>
                <a:ea typeface="Helvetica Neue"/>
                <a:cs typeface="Helvetica Neue"/>
              </a:defRPr>
            </a:lvl7pPr>
            <a:lvl8pPr>
              <a:buNone/>
              <a:defRPr sz="3300" b="1">
                <a:solidFill>
                  <a:srgbClr val="102B36"/>
                </a:solidFill>
                <a:latin typeface="Helvetica Neue"/>
                <a:ea typeface="Helvetica Neue"/>
                <a:cs typeface="Helvetica Neue"/>
              </a:defRPr>
            </a:lvl8pPr>
            <a:lvl9pPr>
              <a:buNone/>
              <a:defRPr sz="3300" b="1">
                <a:solidFill>
                  <a:srgbClr val="102B36"/>
                </a:solidFill>
                <a:latin typeface="Helvetica Neue"/>
                <a:ea typeface="Helvetica Neue"/>
                <a:cs typeface="Helvetica Neue"/>
              </a:defRPr>
            </a:lvl9pPr>
          </a:lstStyle>
          <a:p xmlns:a="http://schemas.openxmlformats.org/drawingml/2006/main">
            <a:pPr>
              <a:buNone/>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Source map and version scope</a:t>
            </a:r>
          </a:p>
        </p:txBody>
      </p:sp>
      <p:sp>
        <p:nvSpPr>
          <p:cNvPr id="3" name="">
            <a:extLst xmlns:a="http://schemas.openxmlformats.org/drawingml/2006/main">
              <a:ext uri="{FF2B5EF4-FFF2-40B4-BE49-F238E27FC236}">
                <a16:creationId xmlns:a16="http://schemas.microsoft.com/office/drawing/2014/main" id="{28FA43AB-9AD6-41A9-9E38-160CFD5C5547}"/>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Source review at commit 122e2432b82d740e8f313f46f0a071729c404f39</a:t>
            </a:r>
          </a:p>
        </p:txBody>
      </p:sp>
      <p:sp>
        <p:nvSpPr>
          <p:cNvPr id="4" name="">
            <a:extLst xmlns:a="http://schemas.openxmlformats.org/drawingml/2006/main">
              <a:ext uri="{FF2B5EF4-FFF2-40B4-BE49-F238E27FC236}">
                <a16:creationId xmlns:a16="http://schemas.microsoft.com/office/drawing/2014/main" id="{77C52D54-C1E3-4923-B210-8700F071F332}"/>
              </a:ext>
            </a:extLst>
          </p:cNvPr>
          <p:cNvSpPr>
            <a:spLocks xmlns:a="http://schemas.openxmlformats.org/drawingml/2006/main" noGrp="1"/>
          </p:cNvSpPr>
          <p:nvPr/>
        </p:nvSpPr>
        <p:spPr>
          <a:xfrm xmlns:a="http://schemas.openxmlformats.org/drawingml/2006/main">
            <a:off x="628650" y="220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B78"/>
                </a:solidFill>
                <a:latin typeface="Helvetica Neue"/>
                <a:ea typeface="Helvetica Neue"/>
                <a:cs typeface="Helvetica Neue"/>
              </a:defRPr>
            </a:defPPr>
            <a:lvl1pPr>
              <a:buNone/>
              <a:defRPr sz="2325" b="1">
                <a:solidFill>
                  <a:srgbClr val="007B78"/>
                </a:solidFill>
                <a:latin typeface="Helvetica Neue"/>
                <a:ea typeface="Helvetica Neue"/>
                <a:cs typeface="Helvetica Neue"/>
              </a:defRPr>
            </a:lvl1pPr>
            <a:lvl2pPr>
              <a:buNone/>
              <a:defRPr sz="2325" b="1">
                <a:solidFill>
                  <a:srgbClr val="007B78"/>
                </a:solidFill>
                <a:latin typeface="Helvetica Neue"/>
                <a:ea typeface="Helvetica Neue"/>
                <a:cs typeface="Helvetica Neue"/>
              </a:defRPr>
            </a:lvl2pPr>
            <a:lvl3pPr>
              <a:buNone/>
              <a:defRPr sz="2325" b="1">
                <a:solidFill>
                  <a:srgbClr val="007B78"/>
                </a:solidFill>
                <a:latin typeface="Helvetica Neue"/>
                <a:ea typeface="Helvetica Neue"/>
                <a:cs typeface="Helvetica Neue"/>
              </a:defRPr>
            </a:lvl3pPr>
            <a:lvl4pPr>
              <a:buNone/>
              <a:defRPr sz="2325" b="1">
                <a:solidFill>
                  <a:srgbClr val="007B78"/>
                </a:solidFill>
                <a:latin typeface="Helvetica Neue"/>
                <a:ea typeface="Helvetica Neue"/>
                <a:cs typeface="Helvetica Neue"/>
              </a:defRPr>
            </a:lvl4pPr>
            <a:lvl5pPr>
              <a:buNone/>
              <a:defRPr sz="2325" b="1">
                <a:solidFill>
                  <a:srgbClr val="007B78"/>
                </a:solidFill>
                <a:latin typeface="Helvetica Neue"/>
                <a:ea typeface="Helvetica Neue"/>
                <a:cs typeface="Helvetica Neue"/>
              </a:defRPr>
            </a:lvl5pPr>
            <a:lvl6pPr>
              <a:buNone/>
              <a:defRPr sz="2325" b="1">
                <a:solidFill>
                  <a:srgbClr val="007B78"/>
                </a:solidFill>
                <a:latin typeface="Helvetica Neue"/>
                <a:ea typeface="Helvetica Neue"/>
                <a:cs typeface="Helvetica Neue"/>
              </a:defRPr>
            </a:lvl6pPr>
            <a:lvl7pPr>
              <a:buNone/>
              <a:defRPr sz="2325" b="1">
                <a:solidFill>
                  <a:srgbClr val="007B78"/>
                </a:solidFill>
                <a:latin typeface="Helvetica Neue"/>
                <a:ea typeface="Helvetica Neue"/>
                <a:cs typeface="Helvetica Neue"/>
              </a:defRPr>
            </a:lvl7pPr>
            <a:lvl8pPr>
              <a:buNone/>
              <a:defRPr sz="2325" b="1">
                <a:solidFill>
                  <a:srgbClr val="007B78"/>
                </a:solidFill>
                <a:latin typeface="Helvetica Neue"/>
                <a:ea typeface="Helvetica Neue"/>
                <a:cs typeface="Helvetica Neue"/>
              </a:defRPr>
            </a:lvl8pPr>
            <a:lvl9pPr>
              <a:buNone/>
              <a:defRPr sz="2325" b="1">
                <a:solidFill>
                  <a:srgbClr val="007B78"/>
                </a:solidFill>
                <a:latin typeface="Helvetica Neue"/>
                <a:ea typeface="Helvetica Neue"/>
                <a:cs typeface="Helvetica Neue"/>
              </a:defRPr>
            </a:lvl9pPr>
          </a:lstStyle>
          <a:p xmlns:a="http://schemas.openxmlformats.org/drawingml/2006/main">
            <a:pPr>
              <a:buNone/>
              <a:defRPr sz="2325" b="1">
                <a:solidFill>
                  <a:srgbClr val="007B78"/>
                </a:solidFill>
                <a:latin typeface="Helvetica Neue"/>
                <a:ea typeface="Helvetica Neue"/>
                <a:cs typeface="Helvetica Neue"/>
              </a:defRPr>
            </a:pPr>
            <a:r>
              <a:rPr sz="2325" b="1">
                <a:solidFill>
                  <a:srgbClr val="007B78"/>
                </a:solidFill>
                <a:latin typeface="Helvetica Neue"/>
                <a:ea typeface="Helvetica Neue"/>
                <a:cs typeface="Helvetica Neue"/>
              </a:rPr>
              <a:t>tau2-bench</a:t>
            </a:r>
          </a:p>
        </p:txBody>
      </p:sp>
      <p:sp>
        <p:nvSpPr>
          <p:cNvPr id="5" name="">
            <a:extLst xmlns:a="http://schemas.openxmlformats.org/drawingml/2006/main">
              <a:ext uri="{FF2B5EF4-FFF2-40B4-BE49-F238E27FC236}">
                <a16:creationId xmlns:a16="http://schemas.microsoft.com/office/drawing/2014/main" id="{F8BA1BC1-8859-4DF3-B491-3659C9B4A121}"/>
              </a:ext>
            </a:extLst>
          </p:cNvPr>
          <p:cNvSpPr>
            <a:spLocks xmlns:a="http://schemas.openxmlformats.org/drawingml/2006/main" noGrp="1"/>
          </p:cNvSpPr>
          <p:nvPr/>
        </p:nvSpPr>
        <p:spPr>
          <a:xfrm xmlns:a="http://schemas.openxmlformats.org/drawingml/2006/main">
            <a:off x="628650" y="27813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02B36"/>
                </a:solidFill>
                <a:latin typeface="Helvetica Neue"/>
                <a:ea typeface="Helvetica Neue"/>
                <a:cs typeface="Helvetica Neue"/>
              </a:defRPr>
            </a:defPPr>
            <a:lvl1pPr>
              <a:buNone/>
              <a:defRPr sz="2100" b="0">
                <a:solidFill>
                  <a:srgbClr val="102B36"/>
                </a:solidFill>
                <a:latin typeface="Helvetica Neue"/>
                <a:ea typeface="Helvetica Neue"/>
                <a:cs typeface="Helvetica Neue"/>
              </a:defRPr>
            </a:lvl1pPr>
            <a:lvl2pPr>
              <a:buNone/>
              <a:defRPr sz="2100" b="0">
                <a:solidFill>
                  <a:srgbClr val="102B36"/>
                </a:solidFill>
                <a:latin typeface="Helvetica Neue"/>
                <a:ea typeface="Helvetica Neue"/>
                <a:cs typeface="Helvetica Neue"/>
              </a:defRPr>
            </a:lvl2pPr>
            <a:lvl3pPr>
              <a:buNone/>
              <a:defRPr sz="2100" b="0">
                <a:solidFill>
                  <a:srgbClr val="102B36"/>
                </a:solidFill>
                <a:latin typeface="Helvetica Neue"/>
                <a:ea typeface="Helvetica Neue"/>
                <a:cs typeface="Helvetica Neue"/>
              </a:defRPr>
            </a:lvl3pPr>
            <a:lvl4pPr>
              <a:buNone/>
              <a:defRPr sz="2100" b="0">
                <a:solidFill>
                  <a:srgbClr val="102B36"/>
                </a:solidFill>
                <a:latin typeface="Helvetica Neue"/>
                <a:ea typeface="Helvetica Neue"/>
                <a:cs typeface="Helvetica Neue"/>
              </a:defRPr>
            </a:lvl4pPr>
            <a:lvl5pPr>
              <a:buNone/>
              <a:defRPr sz="2100" b="0">
                <a:solidFill>
                  <a:srgbClr val="102B36"/>
                </a:solidFill>
                <a:latin typeface="Helvetica Neue"/>
                <a:ea typeface="Helvetica Neue"/>
                <a:cs typeface="Helvetica Neue"/>
              </a:defRPr>
            </a:lvl5pPr>
            <a:lvl6pPr>
              <a:buNone/>
              <a:defRPr sz="2100" b="0">
                <a:solidFill>
                  <a:srgbClr val="102B36"/>
                </a:solidFill>
                <a:latin typeface="Helvetica Neue"/>
                <a:ea typeface="Helvetica Neue"/>
                <a:cs typeface="Helvetica Neue"/>
              </a:defRPr>
            </a:lvl6pPr>
            <a:lvl7pPr>
              <a:buNone/>
              <a:defRPr sz="2100" b="0">
                <a:solidFill>
                  <a:srgbClr val="102B36"/>
                </a:solidFill>
                <a:latin typeface="Helvetica Neue"/>
                <a:ea typeface="Helvetica Neue"/>
                <a:cs typeface="Helvetica Neue"/>
              </a:defRPr>
            </a:lvl7pPr>
            <a:lvl8pPr>
              <a:buNone/>
              <a:defRPr sz="2100" b="0">
                <a:solidFill>
                  <a:srgbClr val="102B36"/>
                </a:solidFill>
                <a:latin typeface="Helvetica Neue"/>
                <a:ea typeface="Helvetica Neue"/>
                <a:cs typeface="Helvetica Neue"/>
              </a:defRPr>
            </a:lvl8pPr>
            <a:lvl9pPr>
              <a:buNone/>
              <a:defRPr sz="2100" b="0">
                <a:solidFill>
                  <a:srgbClr val="102B36"/>
                </a:solidFill>
                <a:latin typeface="Helvetica Neue"/>
                <a:ea typeface="Helvetica Neue"/>
                <a:cs typeface="Helvetica Neue"/>
              </a:defRPr>
            </a:lvl9pPr>
          </a:lstStyle>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task 0 and database</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Agent interface and orchestrator</a:t>
            </a:r>
          </a:p>
          <a:p xmlns:a="http://schemas.openxmlformats.org/drawingml/2006/main">
            <a:pPr>
              <a:buNone/>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tools, replay and evaluators</a:t>
            </a:r>
          </a:p>
        </p:txBody>
      </p:sp>
      <p:sp>
        <p:nvSpPr>
          <p:cNvPr id="6" name="">
            <a:extLst xmlns:a="http://schemas.openxmlformats.org/drawingml/2006/main">
              <a:ext uri="{FF2B5EF4-FFF2-40B4-BE49-F238E27FC236}">
                <a16:creationId xmlns:a16="http://schemas.microsoft.com/office/drawing/2014/main" id="{CEB3BE78-D26A-4A41-BF82-D99B902E1455}"/>
              </a:ext>
            </a:extLst>
          </p:cNvPr>
          <p:cNvSpPr>
            <a:spLocks xmlns:a="http://schemas.openxmlformats.org/drawingml/2006/main" noGrp="1"/>
          </p:cNvSpPr>
          <p:nvPr/>
        </p:nvSpPr>
        <p:spPr>
          <a:xfrm xmlns:a="http://schemas.openxmlformats.org/drawingml/2006/main">
            <a:off x="628650" y="43243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07B78"/>
                </a:solidFill>
                <a:latin typeface="Helvetica Neue"/>
                <a:ea typeface="Helvetica Neue"/>
                <a:cs typeface="Helvetica Neue"/>
              </a:defRPr>
            </a:defPPr>
            <a:lvl1pPr>
              <a:buNone/>
              <a:defRPr sz="1950" b="0">
                <a:solidFill>
                  <a:srgbClr val="007B78"/>
                </a:solidFill>
                <a:latin typeface="Helvetica Neue"/>
                <a:ea typeface="Helvetica Neue"/>
                <a:cs typeface="Helvetica Neue"/>
              </a:defRPr>
            </a:lvl1pPr>
            <a:lvl2pPr>
              <a:buNone/>
              <a:defRPr sz="1950" b="0">
                <a:solidFill>
                  <a:srgbClr val="007B78"/>
                </a:solidFill>
                <a:latin typeface="Helvetica Neue"/>
                <a:ea typeface="Helvetica Neue"/>
                <a:cs typeface="Helvetica Neue"/>
              </a:defRPr>
            </a:lvl2pPr>
            <a:lvl3pPr>
              <a:buNone/>
              <a:defRPr sz="1950" b="0">
                <a:solidFill>
                  <a:srgbClr val="007B78"/>
                </a:solidFill>
                <a:latin typeface="Helvetica Neue"/>
                <a:ea typeface="Helvetica Neue"/>
                <a:cs typeface="Helvetica Neue"/>
              </a:defRPr>
            </a:lvl3pPr>
            <a:lvl4pPr>
              <a:buNone/>
              <a:defRPr sz="1950" b="0">
                <a:solidFill>
                  <a:srgbClr val="007B78"/>
                </a:solidFill>
                <a:latin typeface="Helvetica Neue"/>
                <a:ea typeface="Helvetica Neue"/>
                <a:cs typeface="Helvetica Neue"/>
              </a:defRPr>
            </a:lvl4pPr>
            <a:lvl5pPr>
              <a:buNone/>
              <a:defRPr sz="1950" b="0">
                <a:solidFill>
                  <a:srgbClr val="007B78"/>
                </a:solidFill>
                <a:latin typeface="Helvetica Neue"/>
                <a:ea typeface="Helvetica Neue"/>
                <a:cs typeface="Helvetica Neue"/>
              </a:defRPr>
            </a:lvl5pPr>
            <a:lvl6pPr>
              <a:buNone/>
              <a:defRPr sz="1950" b="0">
                <a:solidFill>
                  <a:srgbClr val="007B78"/>
                </a:solidFill>
                <a:latin typeface="Helvetica Neue"/>
                <a:ea typeface="Helvetica Neue"/>
                <a:cs typeface="Helvetica Neue"/>
              </a:defRPr>
            </a:lvl6pPr>
            <a:lvl7pPr>
              <a:buNone/>
              <a:defRPr sz="1950" b="0">
                <a:solidFill>
                  <a:srgbClr val="007B78"/>
                </a:solidFill>
                <a:latin typeface="Helvetica Neue"/>
                <a:ea typeface="Helvetica Neue"/>
                <a:cs typeface="Helvetica Neue"/>
              </a:defRPr>
            </a:lvl7pPr>
            <a:lvl8pPr>
              <a:buNone/>
              <a:defRPr sz="1950" b="0">
                <a:solidFill>
                  <a:srgbClr val="007B78"/>
                </a:solidFill>
                <a:latin typeface="Helvetica Neue"/>
                <a:ea typeface="Helvetica Neue"/>
                <a:cs typeface="Helvetica Neue"/>
              </a:defRPr>
            </a:lvl8pPr>
            <a:lvl9pPr>
              <a:buNone/>
              <a:defRPr sz="1950" b="0">
                <a:solidFill>
                  <a:srgbClr val="007B78"/>
                </a:solidFill>
                <a:latin typeface="Helvetica Neue"/>
                <a:ea typeface="Helvetica Neue"/>
                <a:cs typeface="Helvetica Neue"/>
              </a:defRPr>
            </a:lvl9pPr>
          </a:lstStyle>
          <a:p xmlns:a="http://schemas.openxmlformats.org/drawingml/2006/main">
            <a:pPr>
              <a:buNone/>
              <a:defRPr sz="1950" b="0">
                <a:solidFill>
                  <a:srgbClr val="007B78"/>
                </a:solidFill>
                <a:latin typeface="Helvetica Neue"/>
                <a:ea typeface="Helvetica Neue"/>
                <a:cs typeface="Helvetica Neue"/>
              </a:defRPr>
            </a:pPr>
            <a:r>
              <a:rPr sz="1950" b="0">
                <a:solidFill>
                  <a:srgbClr val="007B78"/>
                </a:solidFill>
                <a:latin typeface="Helvetica Neue"/>
                <a:ea typeface="Helvetica Neue"/>
                <a:cs typeface="Helvetica Neue"/>
                <a:hlinkClick xmlns:r="http://schemas.openxmlformats.org/officeDocument/2006/relationships" r:id="R3c0dfbb729fb435e"/>
              </a:rPr>
              <a:t>github.com/sierra-research/tau2-bench</a:t>
            </a:r>
          </a:p>
        </p:txBody>
      </p:sp>
      <p:sp>
        <p:nvSpPr>
          <p:cNvPr id="7" name="">
            <a:extLst xmlns:a="http://schemas.openxmlformats.org/drawingml/2006/main">
              <a:ext uri="{FF2B5EF4-FFF2-40B4-BE49-F238E27FC236}">
                <a16:creationId xmlns:a16="http://schemas.microsoft.com/office/drawing/2014/main" id="{47CC8DEA-7A36-4C04-8229-2F5CA44196E4}"/>
              </a:ext>
            </a:extLst>
          </p:cNvPr>
          <p:cNvSpPr>
            <a:spLocks xmlns:a="http://schemas.openxmlformats.org/drawingml/2006/main" noGrp="1"/>
          </p:cNvSpPr>
          <p:nvPr/>
        </p:nvSpPr>
        <p:spPr>
          <a:xfrm xmlns:a="http://schemas.openxmlformats.org/drawingml/2006/main">
            <a:off x="628650" y="52673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buNone/>
              <a:defRPr sz="1875" b="0">
                <a:solidFill>
                  <a:srgbClr val="50636A"/>
                </a:solidFill>
                <a:latin typeface="Helvetica Neue"/>
                <a:ea typeface="Helvetica Neue"/>
                <a:cs typeface="Helvetica Neue"/>
              </a:defRPr>
            </a:lvl1pPr>
            <a:lvl2pPr>
              <a:buNone/>
              <a:defRPr sz="1875" b="0">
                <a:solidFill>
                  <a:srgbClr val="50636A"/>
                </a:solidFill>
                <a:latin typeface="Helvetica Neue"/>
                <a:ea typeface="Helvetica Neue"/>
                <a:cs typeface="Helvetica Neue"/>
              </a:defRPr>
            </a:lvl2pPr>
            <a:lvl3pPr>
              <a:buNone/>
              <a:defRPr sz="1875" b="0">
                <a:solidFill>
                  <a:srgbClr val="50636A"/>
                </a:solidFill>
                <a:latin typeface="Helvetica Neue"/>
                <a:ea typeface="Helvetica Neue"/>
                <a:cs typeface="Helvetica Neue"/>
              </a:defRPr>
            </a:lvl3pPr>
            <a:lvl4pPr>
              <a:buNone/>
              <a:defRPr sz="1875" b="0">
                <a:solidFill>
                  <a:srgbClr val="50636A"/>
                </a:solidFill>
                <a:latin typeface="Helvetica Neue"/>
                <a:ea typeface="Helvetica Neue"/>
                <a:cs typeface="Helvetica Neue"/>
              </a:defRPr>
            </a:lvl4pPr>
            <a:lvl5pPr>
              <a:buNone/>
              <a:defRPr sz="1875" b="0">
                <a:solidFill>
                  <a:srgbClr val="50636A"/>
                </a:solidFill>
                <a:latin typeface="Helvetica Neue"/>
                <a:ea typeface="Helvetica Neue"/>
                <a:cs typeface="Helvetica Neue"/>
              </a:defRPr>
            </a:lvl5pPr>
            <a:lvl6pPr>
              <a:buNone/>
              <a:defRPr sz="1875" b="0">
                <a:solidFill>
                  <a:srgbClr val="50636A"/>
                </a:solidFill>
                <a:latin typeface="Helvetica Neue"/>
                <a:ea typeface="Helvetica Neue"/>
                <a:cs typeface="Helvetica Neue"/>
              </a:defRPr>
            </a:lvl6pPr>
            <a:lvl7pPr>
              <a:buNone/>
              <a:defRPr sz="1875" b="0">
                <a:solidFill>
                  <a:srgbClr val="50636A"/>
                </a:solidFill>
                <a:latin typeface="Helvetica Neue"/>
                <a:ea typeface="Helvetica Neue"/>
                <a:cs typeface="Helvetica Neue"/>
              </a:defRPr>
            </a:lvl7pPr>
            <a:lvl8pPr>
              <a:buNone/>
              <a:defRPr sz="1875" b="0">
                <a:solidFill>
                  <a:srgbClr val="50636A"/>
                </a:solidFill>
                <a:latin typeface="Helvetica Neue"/>
                <a:ea typeface="Helvetica Neue"/>
                <a:cs typeface="Helvetica Neue"/>
              </a:defRPr>
            </a:lvl8pPr>
            <a:lvl9pPr>
              <a:buNone/>
              <a:defRPr sz="1875" b="0">
                <a:solidFill>
                  <a:srgbClr val="50636A"/>
                </a:solidFill>
                <a:latin typeface="Helvetica Neue"/>
                <a:ea typeface="Helvetica Neue"/>
                <a:cs typeface="Helvetica Neue"/>
              </a:defRPr>
            </a:lvl9pPr>
          </a:lstStyle>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Walkthrough: base retail task 0 at the pinned commit above.</a:t>
            </a:r>
          </a:p>
          <a:p xmlns:a="http://schemas.openxmlformats.org/drawingml/2006/main">
            <a:pPr>
              <a:buNone/>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Released benchmarks can use different task sets. Compare matched versions and settings.</a:t>
            </a:r>
          </a:p>
        </p:txBody>
      </p:sp>
    </p:spTree>
    <p:extLst>
      <p:ext uri="{BB962C8B-B14F-4D97-AF65-F5344CB8AC3E}">
        <p14:creationId xmlns:p14="http://schemas.microsoft.com/office/powerpoint/2010/main" val="12799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2026-10-29T02:27:57.3800000Z</dcterms:created>
  <dcterms:modified xsi:type="dcterms:W3CDTF">2026-10-29T02:27:57.3800000Z</dcterms:modified>
</coreProperties>
</file>